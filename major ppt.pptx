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Default Extension="svg" ContentType="image/svg+xml"/>
  <Override PartName="/docMetadata/LabelInfo.xml" ContentType="application/vnd.ms-office.classificationlabels+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authors.xml" ContentType="application/vnd.ms-powerpoint.author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6"/>
  </p:notesMasterIdLst>
  <p:sldIdLst>
    <p:sldId id="294" r:id="rId5"/>
    <p:sldId id="279" r:id="rId6"/>
    <p:sldId id="295" r:id="rId7"/>
    <p:sldId id="280" r:id="rId8"/>
    <p:sldId id="284" r:id="rId9"/>
    <p:sldId id="296" r:id="rId10"/>
    <p:sldId id="297" r:id="rId11"/>
    <p:sldId id="298" r:id="rId12"/>
    <p:sldId id="299" r:id="rId13"/>
    <p:sldId id="300" r:id="rId14"/>
    <p:sldId id="301" r:id="rId15"/>
    <p:sldId id="302" r:id="rId16"/>
    <p:sldId id="303" r:id="rId17"/>
    <p:sldId id="304" r:id="rId18"/>
    <p:sldId id="305" r:id="rId19"/>
    <p:sldId id="307" r:id="rId20"/>
    <p:sldId id="308" r:id="rId21"/>
    <p:sldId id="309" r:id="rId22"/>
    <p:sldId id="310" r:id="rId23"/>
    <p:sldId id="306" r:id="rId24"/>
    <p:sldId id="293" r:id="rId2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44" autoAdjust="0"/>
    <p:restoredTop sz="94609" autoAdjust="0"/>
  </p:normalViewPr>
  <p:slideViewPr>
    <p:cSldViewPr snapToGrid="0" snapToObjects="1">
      <p:cViewPr varScale="1">
        <p:scale>
          <a:sx n="73" d="100"/>
          <a:sy n="73" d="100"/>
        </p:scale>
        <p:origin x="-618" y="-102"/>
      </p:cViewPr>
      <p:guideLst>
        <p:guide orient="horz" pos="2616"/>
        <p:guide orient="horz" pos="3264"/>
        <p:guide orient="horz" pos="2136"/>
        <p:guide orient="horz" pos="4008"/>
        <p:guide orient="horz" pos="1152"/>
        <p:guide orient="horz" pos="2352"/>
        <p:guide orient="horz" pos="1512"/>
        <p:guide orient="horz" pos="2448"/>
        <p:guide/>
        <p:guide pos="456"/>
        <p:guide pos="6912"/>
        <p:guide pos="7680"/>
        <p:guide pos="6696"/>
        <p:guide pos="1008"/>
        <p:guide pos="1584"/>
        <p:guide pos="2136"/>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descr="preencoded.png">
            <a:extLst>
              <a:ext uri="{FF2B5EF4-FFF2-40B4-BE49-F238E27FC236}">
                <a16:creationId xmlns:a16="http://schemas.microsoft.com/office/drawing/2014/main" xmlns="" id="{BA5D5A72-CB6F-F8DE-E2C9-90459C8C3DC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xmlns="" id="{E66FD7FF-2869-7902-36B2-2B229AB9AB19}"/>
              </a:ext>
            </a:extLst>
          </p:cNvPr>
          <p:cNvSpPr/>
          <p:nvPr userDrawn="1"/>
        </p:nvSpPr>
        <p:spPr>
          <a:xfrm>
            <a:off x="1600201" y="1153228"/>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xmlns="" id="{B1457C88-4472-81CF-02AF-4421E0A3084B}"/>
              </a:ext>
            </a:extLst>
          </p:cNvPr>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p:nvPr>
        </p:nvSpPr>
        <p:spPr>
          <a:xfrm>
            <a:off x="3403092" y="1984248"/>
            <a:ext cx="5385816" cy="1225296"/>
          </a:xfrm>
        </p:spPr>
        <p:txBody>
          <a:bodyPr tIns="0" anchor="t">
            <a:noAutofit/>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4349496" y="3483864"/>
            <a:ext cx="3493008" cy="878908"/>
          </a:xfrm>
        </p:spPr>
        <p:txBody>
          <a:bodyPr lIns="0" tIns="0" rIns="0" bIns="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xmlns="" val="2631799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xmlns="" id="{75923D9E-9381-3D11-B31A-1BF5C97F35B0}"/>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xmlns=""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xmlns=""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xmlns="" id="{0F297964-0B81-31DC-6D6D-1414832238B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xmlns=""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xmlns=""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descr="preencoded.png">
            <a:extLst>
              <a:ext uri="{FF2B5EF4-FFF2-40B4-BE49-F238E27FC236}">
                <a16:creationId xmlns:a16="http://schemas.microsoft.com/office/drawing/2014/main" xmlns="" id="{EFFAEAD9-58A9-096B-C6D0-58F7AD08EB20}"/>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xmlns="" id="{9A1CFBBA-B680-A6A7-3C4B-5FEAC4253283}"/>
              </a:ext>
            </a:extLst>
          </p:cNvPr>
          <p:cNvSpPr>
            <a:spLocks noGrp="1"/>
          </p:cNvSpPr>
          <p:nvPr>
            <p:ph type="title"/>
          </p:nvPr>
        </p:nvSpPr>
        <p:spPr>
          <a:xfrm>
            <a:off x="1499616" y="1901952"/>
            <a:ext cx="5693664" cy="768096"/>
          </a:xfrm>
        </p:spPr>
        <p:txBody>
          <a:bodyPr>
            <a:noAutofit/>
          </a:bodyPr>
          <a:lstStyle>
            <a:lvl1pPr algn="l">
              <a:lnSpc>
                <a:spcPct val="100000"/>
              </a:lnSpc>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xmlns="" id="{72386C43-DD10-E892-08AD-D6F4AE9617DD}"/>
              </a:ext>
            </a:extLst>
          </p:cNvPr>
          <p:cNvSpPr>
            <a:spLocks noGrp="1"/>
          </p:cNvSpPr>
          <p:nvPr>
            <p:ph idx="1"/>
          </p:nvPr>
        </p:nvSpPr>
        <p:spPr>
          <a:xfrm>
            <a:off x="1499616" y="2770632"/>
            <a:ext cx="5693664" cy="3122168"/>
          </a:xfrm>
        </p:spPr>
        <p:txBody>
          <a:bodyPr>
            <a:no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xmlns=""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xmlns="" id="{C35EFB42-020B-1DF4-3D42-26092CE45F08}"/>
              </a:ext>
            </a:extLst>
          </p:cNvPr>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Freeform: Shape 19">
            <a:extLst>
              <a:ext uri="{FF2B5EF4-FFF2-40B4-BE49-F238E27FC236}">
                <a16:creationId xmlns:a16="http://schemas.microsoft.com/office/drawing/2014/main" xmlns="" id="{AB4DD322-D1E0-74CB-BBFF-057426E58EBC}"/>
              </a:ext>
            </a:extLst>
          </p:cNvPr>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Shape 13">
            <a:extLst>
              <a:ext uri="{FF2B5EF4-FFF2-40B4-BE49-F238E27FC236}">
                <a16:creationId xmlns:a16="http://schemas.microsoft.com/office/drawing/2014/main" xmlns="" id="{C11D3FCE-EC92-8558-A3E5-04DB12477A3B}"/>
              </a:ext>
            </a:extLst>
          </p:cNvPr>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p:cNvSpPr>
            <a:spLocks noGrp="1"/>
          </p:cNvSpPr>
          <p:nvPr userDrawn="1">
            <p:ph type="title"/>
          </p:nvPr>
        </p:nvSpPr>
        <p:spPr>
          <a:xfrm>
            <a:off x="4224528" y="2276856"/>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userDrawn="1">
            <p:ph idx="1"/>
          </p:nvPr>
        </p:nvSpPr>
        <p:spPr>
          <a:xfrm>
            <a:off x="4224528" y="3222752"/>
            <a:ext cx="6766560"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userDrawn="1">
            <p:ph type="ftr" sz="quarter" idx="11"/>
          </p:nvPr>
        </p:nvSpPr>
        <p:spPr>
          <a:xfrm>
            <a:off x="4224528" y="457200"/>
            <a:ext cx="3200400" cy="274320"/>
          </a:xfrm>
        </p:spPr>
        <p:txBody>
          <a:bodyPr>
            <a:noAutofit/>
          </a:bodyPr>
          <a:lstStyle/>
          <a:p>
            <a:r>
              <a:rPr lang="en-US"/>
              <a:t>Presentation title</a:t>
            </a:r>
            <a:endParaRPr lang="en-US" dirty="0"/>
          </a:p>
        </p:txBody>
      </p:sp>
      <p:sp>
        <p:nvSpPr>
          <p:cNvPr id="6" name="Slide Number Placeholder 5"/>
          <p:cNvSpPr>
            <a:spLocks noGrp="1"/>
          </p:cNvSpPr>
          <p:nvPr userDrawn="1">
            <p:ph type="sldNum" sz="quarter" idx="12"/>
          </p:nvPr>
        </p:nvSpPr>
        <p:spPr/>
        <p:txBody>
          <a:bodyPr>
            <a:noAutofit/>
          </a:bodyPr>
          <a:lstStyle/>
          <a:p>
            <a:fld id="{48F63A3B-78C7-47BE-AE5E-E10140E04643}" type="slidenum">
              <a:rPr lang="en-US" dirty="0"/>
              <a:pPr/>
              <a:t>‹#›</a:t>
            </a:fld>
            <a:endParaRPr lang="en-US" dirty="0"/>
          </a:p>
        </p:txBody>
      </p:sp>
      <p:sp>
        <p:nvSpPr>
          <p:cNvPr id="17" name="Freeform: Shape 16">
            <a:extLst>
              <a:ext uri="{FF2B5EF4-FFF2-40B4-BE49-F238E27FC236}">
                <a16:creationId xmlns:a16="http://schemas.microsoft.com/office/drawing/2014/main" xmlns="" id="{217CBC9E-B934-828F-2AE5-211CEF5B1D25}"/>
              </a:ext>
            </a:extLst>
          </p:cNvPr>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xmlns="" val="77218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xmlns="" id="{3D352B04-96E6-839B-9D92-EE98385C4D49}"/>
              </a:ext>
            </a:extLst>
          </p:cNvPr>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6" name="Freeform: Shape 45">
            <a:extLst>
              <a:ext uri="{FF2B5EF4-FFF2-40B4-BE49-F238E27FC236}">
                <a16:creationId xmlns:a16="http://schemas.microsoft.com/office/drawing/2014/main" xmlns="" id="{723D98FB-5EB7-A8DF-8470-B23A80D669E4}"/>
              </a:ext>
            </a:extLst>
          </p:cNvPr>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3" name="Freeform: Shape 42">
            <a:extLst>
              <a:ext uri="{FF2B5EF4-FFF2-40B4-BE49-F238E27FC236}">
                <a16:creationId xmlns:a16="http://schemas.microsoft.com/office/drawing/2014/main" xmlns="" id="{4550F3CE-BAE9-3916-42CA-F4D906FA5173}"/>
              </a:ext>
            </a:extLst>
          </p:cNvPr>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9" name="Freeform: Shape 48">
            <a:extLst>
              <a:ext uri="{FF2B5EF4-FFF2-40B4-BE49-F238E27FC236}">
                <a16:creationId xmlns:a16="http://schemas.microsoft.com/office/drawing/2014/main" xmlns="" id="{D83F65A0-0C52-48AD-DC5D-B5D3BF3CC188}"/>
              </a:ext>
            </a:extLst>
          </p:cNvPr>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0" name="Freeform: Shape 39">
            <a:extLst>
              <a:ext uri="{FF2B5EF4-FFF2-40B4-BE49-F238E27FC236}">
                <a16:creationId xmlns:a16="http://schemas.microsoft.com/office/drawing/2014/main" xmlns="" id="{F8FA7F58-C470-6376-9DB1-DE7034C491E8}"/>
              </a:ext>
            </a:extLst>
          </p:cNvPr>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7" name="Freeform: Shape 36">
            <a:extLst>
              <a:ext uri="{FF2B5EF4-FFF2-40B4-BE49-F238E27FC236}">
                <a16:creationId xmlns:a16="http://schemas.microsoft.com/office/drawing/2014/main" xmlns="" id="{B27C9E57-563E-7980-7B3C-45FAD9C386F4}"/>
              </a:ext>
            </a:extLst>
          </p:cNvPr>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p:nvPr>
        </p:nvSpPr>
        <p:spPr>
          <a:xfrm>
            <a:off x="2895600" y="3776472"/>
            <a:ext cx="6400800" cy="768096"/>
          </a:xfrm>
        </p:spPr>
        <p:txBody>
          <a:bodyPr anchor="t">
            <a:noAutofit/>
          </a:bodyPr>
          <a:lstStyle>
            <a:lvl1pPr>
              <a:lnSpc>
                <a:spcPct val="100000"/>
              </a:lnSpc>
              <a:defRPr sz="4400"/>
            </a:lvl1pPr>
          </a:lstStyle>
          <a:p>
            <a:r>
              <a:rPr lang="en-US"/>
              <a:t>Click to edit Master title style</a:t>
            </a:r>
            <a:endParaRPr lang="en-US" dirty="0"/>
          </a:p>
        </p:txBody>
      </p:sp>
      <p:sp>
        <p:nvSpPr>
          <p:cNvPr id="3" name="Text Placeholder 2"/>
          <p:cNvSpPr>
            <a:spLocks noGrp="1"/>
          </p:cNvSpPr>
          <p:nvPr>
            <p:ph type="body" idx="1"/>
          </p:nvPr>
        </p:nvSpPr>
        <p:spPr>
          <a:xfrm>
            <a:off x="2895600" y="4718304"/>
            <a:ext cx="6400800" cy="512064"/>
          </a:xfrm>
        </p:spPr>
        <p:txBody>
          <a:bodyPr lIns="0" tIns="0" rIns="0" bIns="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xmlns=""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xmlns="" id="{2459EA3C-8B88-5F1F-531E-7DA7DE55710B}"/>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39496" y="2103120"/>
            <a:ext cx="11119104" cy="44348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20804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xmlns="" id="{B0C0F070-237F-C60F-3458-4D4D9BA0A222}"/>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755904" y="2825496"/>
            <a:ext cx="10680192" cy="28346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7457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4389120" y="2395728"/>
            <a:ext cx="7013448" cy="1627632"/>
          </a:xfrm>
        </p:spPr>
        <p:txBody>
          <a:bodyPr lIns="0" tIns="0" rIns="0" bIns="0">
            <a:noAutofit/>
          </a:bodyPr>
          <a:lstStyle>
            <a:lvl1pPr algn="l">
              <a:lnSpc>
                <a:spcPct val="100000"/>
              </a:lnSpc>
              <a:defRPr sz="3300" b="1">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7" name="Text Placeholder 54">
            <a:extLst>
              <a:ext uri="{FF2B5EF4-FFF2-40B4-BE49-F238E27FC236}">
                <a16:creationId xmlns:a16="http://schemas.microsoft.com/office/drawing/2014/main" xmlns="" id="{A493C80D-2813-9E70-8901-D4B9EA4DD7EA}"/>
              </a:ext>
            </a:extLst>
          </p:cNvPr>
          <p:cNvSpPr>
            <a:spLocks noGrp="1"/>
          </p:cNvSpPr>
          <p:nvPr>
            <p:ph type="body" sz="quarter" idx="15" hasCustomPrompt="1"/>
          </p:nvPr>
        </p:nvSpPr>
        <p:spPr>
          <a:xfrm>
            <a:off x="3611880" y="1984248"/>
            <a:ext cx="768096" cy="1627632"/>
          </a:xfrm>
        </p:spPr>
        <p:txBody>
          <a:bodyPr lIns="91440" tIns="45720" rIns="91440" bIns="54864">
            <a:noAutofit/>
          </a:bodyPr>
          <a:lstStyle>
            <a:lvl1pPr marL="0" indent="0">
              <a:buNone/>
              <a:defRPr sz="10000" b="1"/>
            </a:lvl1pPr>
          </a:lstStyle>
          <a:p>
            <a:pPr lvl="0"/>
            <a:r>
              <a:rPr lang="en-US" dirty="0"/>
              <a:t>“</a:t>
            </a:r>
          </a:p>
        </p:txBody>
      </p:sp>
      <p:sp>
        <p:nvSpPr>
          <p:cNvPr id="55" name="Text Placeholder 54">
            <a:extLst>
              <a:ext uri="{FF2B5EF4-FFF2-40B4-BE49-F238E27FC236}">
                <a16:creationId xmlns:a16="http://schemas.microsoft.com/office/drawing/2014/main" xmlns="" id="{A2733C45-7C53-2BC5-3F62-D069650A79C9}"/>
              </a:ext>
            </a:extLst>
          </p:cNvPr>
          <p:cNvSpPr>
            <a:spLocks noGrp="1"/>
          </p:cNvSpPr>
          <p:nvPr>
            <p:ph type="body" sz="quarter" idx="13"/>
          </p:nvPr>
        </p:nvSpPr>
        <p:spPr>
          <a:xfrm>
            <a:off x="4389120" y="4308475"/>
            <a:ext cx="3932238" cy="588963"/>
          </a:xfrm>
        </p:spPr>
        <p:txBody>
          <a:bodyPr lIns="0" tIns="0" rIns="0" bIns="0">
            <a:noAutofit/>
          </a:bodyPr>
          <a:lstStyle>
            <a:lvl1pPr marL="0" indent="0">
              <a:buNone/>
              <a:defRPr sz="2400"/>
            </a:lvl1pPr>
          </a:lstStyle>
          <a:p>
            <a:pPr lvl="0"/>
            <a:r>
              <a:rPr lang="en-US"/>
              <a:t>Click to edit Master text styles</a:t>
            </a:r>
          </a:p>
        </p:txBody>
      </p:sp>
      <p:sp>
        <p:nvSpPr>
          <p:cNvPr id="56" name="Text Placeholder 54">
            <a:extLst>
              <a:ext uri="{FF2B5EF4-FFF2-40B4-BE49-F238E27FC236}">
                <a16:creationId xmlns:a16="http://schemas.microsoft.com/office/drawing/2014/main" xmlns="" id="{B1D62231-87CB-21EC-CF8C-46276AD1F951}"/>
              </a:ext>
            </a:extLst>
          </p:cNvPr>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p>
        </p:txBody>
      </p:sp>
      <p:sp>
        <p:nvSpPr>
          <p:cNvPr id="32" name="Image 1" descr="preencoded.png">
            <a:extLst>
              <a:ext uri="{FF2B5EF4-FFF2-40B4-BE49-F238E27FC236}">
                <a16:creationId xmlns:a16="http://schemas.microsoft.com/office/drawing/2014/main" xmlns="" id="{2A3EC91E-4089-D366-06D3-3E66F93DFAF3}"/>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xmlns="" id="{70F595E1-C910-3710-90E9-AF5FFCE0586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33" name="Image 4" descr="preencoded.png">
            <a:extLst>
              <a:ext uri="{FF2B5EF4-FFF2-40B4-BE49-F238E27FC236}">
                <a16:creationId xmlns:a16="http://schemas.microsoft.com/office/drawing/2014/main" xmlns="" id="{EC46DC71-C12A-96C8-3FE2-AA95AB58B349}"/>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xmlns="" id="{AA39EF58-54F1-4AC9-1D83-2E7DEEAAEA6A}"/>
              </a:ext>
            </a:extLst>
          </p:cNvPr>
          <p:cNvSpPr>
            <a:spLocks/>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xmlns="" id="{0C320934-59CC-4123-C7C1-FEEE89F3045F}"/>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55285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FCC43996-DAC9-130F-CB05-4A8A90381D37}"/>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a:extLst>
              <a:ext uri="{FF2B5EF4-FFF2-40B4-BE49-F238E27FC236}">
                <a16:creationId xmlns:a16="http://schemas.microsoft.com/office/drawing/2014/main" xmlns="" id="{EA04E8AF-9DFE-7077-DB36-941F6490BAD8}"/>
              </a:ext>
            </a:extLst>
          </p:cNvPr>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xmlns=""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xmlns=""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xmlns="" id="{6AAAFB85-16C0-836A-1D0D-E65277CC341D}"/>
              </a:ext>
            </a:extLst>
          </p:cNvPr>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xmlns="" id="{FB04BFFD-8D76-D31F-232F-38A7065ACAF3}"/>
              </a:ext>
            </a:extLst>
          </p:cNvPr>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xmlns="" id="{75A2E03A-AFB4-3868-FAB5-A24228FA8A04}"/>
              </a:ext>
            </a:extLst>
          </p:cNvPr>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Title</a:t>
            </a:r>
          </a:p>
        </p:txBody>
      </p:sp>
      <p:sp>
        <p:nvSpPr>
          <p:cNvPr id="23" name="Picture Placeholder 16">
            <a:extLst>
              <a:ext uri="{FF2B5EF4-FFF2-40B4-BE49-F238E27FC236}">
                <a16:creationId xmlns:a16="http://schemas.microsoft.com/office/drawing/2014/main" xmlns="" id="{FBADCD1B-D9E0-EA12-0DD5-22E5C60E5D6B}"/>
              </a:ext>
            </a:extLst>
          </p:cNvPr>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xmlns="" id="{AD33972D-9092-4B3C-A699-07849068AF1D}"/>
              </a:ext>
            </a:extLst>
          </p:cNvPr>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xmlns="" id="{B54F15B1-EAC3-0113-6737-C64480876C5F}"/>
              </a:ext>
            </a:extLst>
          </p:cNvPr>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Title</a:t>
            </a:r>
          </a:p>
        </p:txBody>
      </p:sp>
      <p:sp>
        <p:nvSpPr>
          <p:cNvPr id="26" name="Picture Placeholder 16">
            <a:extLst>
              <a:ext uri="{FF2B5EF4-FFF2-40B4-BE49-F238E27FC236}">
                <a16:creationId xmlns:a16="http://schemas.microsoft.com/office/drawing/2014/main" xmlns="" id="{FCEED0A5-9A71-D54A-91FC-264BD71DDED3}"/>
              </a:ext>
            </a:extLst>
          </p:cNvPr>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xmlns="" id="{F44A0C74-A714-A8C2-69D2-74CAD68037A5}"/>
              </a:ext>
            </a:extLst>
          </p:cNvPr>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xmlns="" id="{552F4682-3F02-2A70-A285-FB2D1822A4D6}"/>
              </a:ext>
            </a:extLst>
          </p:cNvPr>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Title</a:t>
            </a:r>
          </a:p>
        </p:txBody>
      </p:sp>
      <p:sp>
        <p:nvSpPr>
          <p:cNvPr id="29" name="Picture Placeholder 16">
            <a:extLst>
              <a:ext uri="{FF2B5EF4-FFF2-40B4-BE49-F238E27FC236}">
                <a16:creationId xmlns:a16="http://schemas.microsoft.com/office/drawing/2014/main" xmlns="" id="{4F0F5D16-7316-B120-F378-E3D492FEEB9C}"/>
              </a:ext>
            </a:extLst>
          </p:cNvPr>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xmlns="" id="{47AC9724-9FC2-62FA-0DE7-3F9FE9B67A34}"/>
              </a:ext>
            </a:extLst>
          </p:cNvPr>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xmlns="" id="{114EE337-FC29-F325-E528-A3F809B28B5B}"/>
              </a:ext>
            </a:extLst>
          </p:cNvPr>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Title</a:t>
            </a:r>
          </a:p>
        </p:txBody>
      </p:sp>
    </p:spTree>
    <p:extLst>
      <p:ext uri="{BB962C8B-B14F-4D97-AF65-F5344CB8AC3E}">
        <p14:creationId xmlns:p14="http://schemas.microsoft.com/office/powerpoint/2010/main" xmlns="" val="258665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A04E8AF-9DFE-7077-DB36-941F6490BAD8}"/>
              </a:ext>
            </a:extLst>
          </p:cNvPr>
          <p:cNvSpPr>
            <a:spLocks noGrp="1"/>
          </p:cNvSpPr>
          <p:nvPr>
            <p:ph type="title"/>
          </p:nvPr>
        </p:nvSpPr>
        <p:spPr>
          <a:xfrm>
            <a:off x="758952" y="539496"/>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xmlns=""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xmlns=""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xmlns="" id="{6AAAFB85-16C0-836A-1D0D-E65277CC341D}"/>
              </a:ext>
            </a:extLst>
          </p:cNvPr>
          <p:cNvSpPr>
            <a:spLocks noGrp="1"/>
          </p:cNvSpPr>
          <p:nvPr>
            <p:ph type="pic" sz="quarter" idx="13"/>
          </p:nvPr>
        </p:nvSpPr>
        <p:spPr>
          <a:xfrm>
            <a:off x="1271016"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xmlns="" id="{FB04BFFD-8D76-D31F-232F-38A7065ACAF3}"/>
              </a:ext>
            </a:extLst>
          </p:cNvPr>
          <p:cNvSpPr>
            <a:spLocks noGrp="1"/>
          </p:cNvSpPr>
          <p:nvPr>
            <p:ph type="body" sz="quarter" idx="14" hasCustomPrompt="1"/>
          </p:nvPr>
        </p:nvSpPr>
        <p:spPr>
          <a:xfrm>
            <a:off x="1271016"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xmlns="" id="{75A2E03A-AFB4-3868-FAB5-A24228FA8A04}"/>
              </a:ext>
            </a:extLst>
          </p:cNvPr>
          <p:cNvSpPr>
            <a:spLocks noGrp="1"/>
          </p:cNvSpPr>
          <p:nvPr>
            <p:ph type="body" sz="quarter" idx="15" hasCustomPrompt="1"/>
          </p:nvPr>
        </p:nvSpPr>
        <p:spPr>
          <a:xfrm>
            <a:off x="1271016" y="3616960"/>
            <a:ext cx="2029968" cy="182880"/>
          </a:xfrm>
        </p:spPr>
        <p:txBody>
          <a:bodyPr anchor="ctr">
            <a:noAutofit/>
          </a:bodyPr>
          <a:lstStyle>
            <a:lvl1pPr marL="0" indent="0" algn="ctr">
              <a:buNone/>
              <a:defRPr sz="1200" spc="20" baseline="0"/>
            </a:lvl1pPr>
          </a:lstStyle>
          <a:p>
            <a:pPr lvl="0"/>
            <a:r>
              <a:rPr lang="en-US" dirty="0"/>
              <a:t>Title</a:t>
            </a:r>
          </a:p>
        </p:txBody>
      </p:sp>
      <p:sp>
        <p:nvSpPr>
          <p:cNvPr id="10" name="Picture Placeholder 16">
            <a:extLst>
              <a:ext uri="{FF2B5EF4-FFF2-40B4-BE49-F238E27FC236}">
                <a16:creationId xmlns:a16="http://schemas.microsoft.com/office/drawing/2014/main" xmlns="" id="{BB749B9A-080F-37C0-08E6-909A5DA554D4}"/>
              </a:ext>
            </a:extLst>
          </p:cNvPr>
          <p:cNvSpPr>
            <a:spLocks noGrp="1"/>
          </p:cNvSpPr>
          <p:nvPr>
            <p:ph type="pic" sz="quarter" idx="25"/>
          </p:nvPr>
        </p:nvSpPr>
        <p:spPr>
          <a:xfrm>
            <a:off x="1271016"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4" name="Text Placeholder 18">
            <a:extLst>
              <a:ext uri="{FF2B5EF4-FFF2-40B4-BE49-F238E27FC236}">
                <a16:creationId xmlns:a16="http://schemas.microsoft.com/office/drawing/2014/main" xmlns="" id="{C4C7516E-0853-87BE-108B-697DD8E0DA75}"/>
              </a:ext>
            </a:extLst>
          </p:cNvPr>
          <p:cNvSpPr>
            <a:spLocks noGrp="1"/>
          </p:cNvSpPr>
          <p:nvPr>
            <p:ph type="body" sz="quarter" idx="29" hasCustomPrompt="1"/>
          </p:nvPr>
        </p:nvSpPr>
        <p:spPr>
          <a:xfrm>
            <a:off x="1271016"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5" name="Text Placeholder 20">
            <a:extLst>
              <a:ext uri="{FF2B5EF4-FFF2-40B4-BE49-F238E27FC236}">
                <a16:creationId xmlns:a16="http://schemas.microsoft.com/office/drawing/2014/main" xmlns="" id="{FB1A74E1-7CEB-F501-F998-7361A20F7349}"/>
              </a:ext>
            </a:extLst>
          </p:cNvPr>
          <p:cNvSpPr>
            <a:spLocks noGrp="1"/>
          </p:cNvSpPr>
          <p:nvPr>
            <p:ph type="body" sz="quarter" idx="30" hasCustomPrompt="1"/>
          </p:nvPr>
        </p:nvSpPr>
        <p:spPr>
          <a:xfrm>
            <a:off x="1271016" y="6215888"/>
            <a:ext cx="2029968" cy="182880"/>
          </a:xfrm>
        </p:spPr>
        <p:txBody>
          <a:bodyPr anchor="ctr">
            <a:noAutofit/>
          </a:bodyPr>
          <a:lstStyle>
            <a:lvl1pPr marL="0" indent="0" algn="ctr">
              <a:buNone/>
              <a:defRPr sz="1200" spc="20" baseline="0"/>
            </a:lvl1pPr>
          </a:lstStyle>
          <a:p>
            <a:pPr lvl="0"/>
            <a:r>
              <a:rPr lang="en-US" dirty="0"/>
              <a:t>Title</a:t>
            </a:r>
          </a:p>
        </p:txBody>
      </p:sp>
      <p:sp>
        <p:nvSpPr>
          <p:cNvPr id="23" name="Picture Placeholder 16">
            <a:extLst>
              <a:ext uri="{FF2B5EF4-FFF2-40B4-BE49-F238E27FC236}">
                <a16:creationId xmlns:a16="http://schemas.microsoft.com/office/drawing/2014/main" xmlns="" id="{FBADCD1B-D9E0-EA12-0DD5-22E5C60E5D6B}"/>
              </a:ext>
            </a:extLst>
          </p:cNvPr>
          <p:cNvSpPr>
            <a:spLocks noGrp="1"/>
          </p:cNvSpPr>
          <p:nvPr>
            <p:ph type="pic" sz="quarter" idx="17"/>
          </p:nvPr>
        </p:nvSpPr>
        <p:spPr>
          <a:xfrm>
            <a:off x="3828288"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xmlns="" id="{AD33972D-9092-4B3C-A699-07849068AF1D}"/>
              </a:ext>
            </a:extLst>
          </p:cNvPr>
          <p:cNvSpPr>
            <a:spLocks noGrp="1"/>
          </p:cNvSpPr>
          <p:nvPr>
            <p:ph type="body" sz="quarter" idx="16" hasCustomPrompt="1"/>
          </p:nvPr>
        </p:nvSpPr>
        <p:spPr>
          <a:xfrm>
            <a:off x="3828288"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xmlns="" id="{B54F15B1-EAC3-0113-6737-C64480876C5F}"/>
              </a:ext>
            </a:extLst>
          </p:cNvPr>
          <p:cNvSpPr>
            <a:spLocks noGrp="1"/>
          </p:cNvSpPr>
          <p:nvPr>
            <p:ph type="body" sz="quarter" idx="18" hasCustomPrompt="1"/>
          </p:nvPr>
        </p:nvSpPr>
        <p:spPr>
          <a:xfrm>
            <a:off x="3828288" y="3616960"/>
            <a:ext cx="2029968" cy="182880"/>
          </a:xfrm>
        </p:spPr>
        <p:txBody>
          <a:bodyPr anchor="ctr">
            <a:noAutofit/>
          </a:bodyPr>
          <a:lstStyle>
            <a:lvl1pPr marL="0" indent="0" algn="ctr">
              <a:buNone/>
              <a:defRPr sz="1200" spc="20" baseline="0"/>
            </a:lvl1pPr>
          </a:lstStyle>
          <a:p>
            <a:pPr lvl="0"/>
            <a:r>
              <a:rPr lang="en-US" dirty="0"/>
              <a:t>Title</a:t>
            </a:r>
          </a:p>
        </p:txBody>
      </p:sp>
      <p:sp>
        <p:nvSpPr>
          <p:cNvPr id="11" name="Picture Placeholder 16">
            <a:extLst>
              <a:ext uri="{FF2B5EF4-FFF2-40B4-BE49-F238E27FC236}">
                <a16:creationId xmlns:a16="http://schemas.microsoft.com/office/drawing/2014/main" xmlns="" id="{B5D5100A-3D51-45DB-3A84-9E7FB85261E3}"/>
              </a:ext>
            </a:extLst>
          </p:cNvPr>
          <p:cNvSpPr>
            <a:spLocks noGrp="1"/>
          </p:cNvSpPr>
          <p:nvPr>
            <p:ph type="pic" sz="quarter" idx="26"/>
          </p:nvPr>
        </p:nvSpPr>
        <p:spPr>
          <a:xfrm>
            <a:off x="3828288"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6" name="Text Placeholder 18">
            <a:extLst>
              <a:ext uri="{FF2B5EF4-FFF2-40B4-BE49-F238E27FC236}">
                <a16:creationId xmlns:a16="http://schemas.microsoft.com/office/drawing/2014/main" xmlns="" id="{B775B771-678A-D917-7FE0-5DA7A23CCE25}"/>
              </a:ext>
            </a:extLst>
          </p:cNvPr>
          <p:cNvSpPr>
            <a:spLocks noGrp="1"/>
          </p:cNvSpPr>
          <p:nvPr>
            <p:ph type="body" sz="quarter" idx="31" hasCustomPrompt="1"/>
          </p:nvPr>
        </p:nvSpPr>
        <p:spPr>
          <a:xfrm>
            <a:off x="3828288"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8" name="Text Placeholder 20">
            <a:extLst>
              <a:ext uri="{FF2B5EF4-FFF2-40B4-BE49-F238E27FC236}">
                <a16:creationId xmlns:a16="http://schemas.microsoft.com/office/drawing/2014/main" xmlns="" id="{AA2B9540-B92A-AD9C-C01A-B08A98BF8455}"/>
              </a:ext>
            </a:extLst>
          </p:cNvPr>
          <p:cNvSpPr>
            <a:spLocks noGrp="1"/>
          </p:cNvSpPr>
          <p:nvPr>
            <p:ph type="body" sz="quarter" idx="32" hasCustomPrompt="1"/>
          </p:nvPr>
        </p:nvSpPr>
        <p:spPr>
          <a:xfrm>
            <a:off x="3828288" y="6215888"/>
            <a:ext cx="2029968" cy="182880"/>
          </a:xfrm>
        </p:spPr>
        <p:txBody>
          <a:bodyPr anchor="ctr">
            <a:noAutofit/>
          </a:bodyPr>
          <a:lstStyle>
            <a:lvl1pPr marL="0" indent="0" algn="ctr">
              <a:buNone/>
              <a:defRPr sz="1200" spc="20" baseline="0"/>
            </a:lvl1pPr>
          </a:lstStyle>
          <a:p>
            <a:pPr lvl="0"/>
            <a:r>
              <a:rPr lang="en-US" dirty="0"/>
              <a:t>Title</a:t>
            </a:r>
          </a:p>
        </p:txBody>
      </p:sp>
      <p:sp>
        <p:nvSpPr>
          <p:cNvPr id="26" name="Picture Placeholder 16">
            <a:extLst>
              <a:ext uri="{FF2B5EF4-FFF2-40B4-BE49-F238E27FC236}">
                <a16:creationId xmlns:a16="http://schemas.microsoft.com/office/drawing/2014/main" xmlns="" id="{FCEED0A5-9A71-D54A-91FC-264BD71DDED3}"/>
              </a:ext>
            </a:extLst>
          </p:cNvPr>
          <p:cNvSpPr>
            <a:spLocks noGrp="1"/>
          </p:cNvSpPr>
          <p:nvPr>
            <p:ph type="pic" sz="quarter" idx="20"/>
          </p:nvPr>
        </p:nvSpPr>
        <p:spPr>
          <a:xfrm>
            <a:off x="6385560"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xmlns="" id="{F44A0C74-A714-A8C2-69D2-74CAD68037A5}"/>
              </a:ext>
            </a:extLst>
          </p:cNvPr>
          <p:cNvSpPr>
            <a:spLocks noGrp="1"/>
          </p:cNvSpPr>
          <p:nvPr>
            <p:ph type="body" sz="quarter" idx="19" hasCustomPrompt="1"/>
          </p:nvPr>
        </p:nvSpPr>
        <p:spPr>
          <a:xfrm>
            <a:off x="6385560"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xmlns="" id="{552F4682-3F02-2A70-A285-FB2D1822A4D6}"/>
              </a:ext>
            </a:extLst>
          </p:cNvPr>
          <p:cNvSpPr>
            <a:spLocks noGrp="1"/>
          </p:cNvSpPr>
          <p:nvPr>
            <p:ph type="body" sz="quarter" idx="21" hasCustomPrompt="1"/>
          </p:nvPr>
        </p:nvSpPr>
        <p:spPr>
          <a:xfrm>
            <a:off x="6385560" y="3616960"/>
            <a:ext cx="2029968" cy="182880"/>
          </a:xfrm>
        </p:spPr>
        <p:txBody>
          <a:bodyPr anchor="ctr">
            <a:noAutofit/>
          </a:bodyPr>
          <a:lstStyle>
            <a:lvl1pPr marL="0" indent="0" algn="ctr">
              <a:buNone/>
              <a:defRPr sz="1200" spc="20" baseline="0"/>
            </a:lvl1pPr>
          </a:lstStyle>
          <a:p>
            <a:pPr lvl="0"/>
            <a:r>
              <a:rPr lang="en-US" dirty="0"/>
              <a:t>Title</a:t>
            </a:r>
          </a:p>
        </p:txBody>
      </p:sp>
      <p:sp>
        <p:nvSpPr>
          <p:cNvPr id="12" name="Picture Placeholder 16">
            <a:extLst>
              <a:ext uri="{FF2B5EF4-FFF2-40B4-BE49-F238E27FC236}">
                <a16:creationId xmlns:a16="http://schemas.microsoft.com/office/drawing/2014/main" xmlns="" id="{3D2AAC25-9404-1F6F-200C-5660F4995858}"/>
              </a:ext>
            </a:extLst>
          </p:cNvPr>
          <p:cNvSpPr>
            <a:spLocks noGrp="1"/>
          </p:cNvSpPr>
          <p:nvPr>
            <p:ph type="pic" sz="quarter" idx="27"/>
          </p:nvPr>
        </p:nvSpPr>
        <p:spPr>
          <a:xfrm>
            <a:off x="6385560"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0" name="Text Placeholder 18">
            <a:extLst>
              <a:ext uri="{FF2B5EF4-FFF2-40B4-BE49-F238E27FC236}">
                <a16:creationId xmlns:a16="http://schemas.microsoft.com/office/drawing/2014/main" xmlns="" id="{AE4677E1-AC1B-AB9C-5E0C-794903DD1CEB}"/>
              </a:ext>
            </a:extLst>
          </p:cNvPr>
          <p:cNvSpPr>
            <a:spLocks noGrp="1"/>
          </p:cNvSpPr>
          <p:nvPr>
            <p:ph type="body" sz="quarter" idx="33" hasCustomPrompt="1"/>
          </p:nvPr>
        </p:nvSpPr>
        <p:spPr>
          <a:xfrm>
            <a:off x="6385560"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1" name="Text Placeholder 20">
            <a:extLst>
              <a:ext uri="{FF2B5EF4-FFF2-40B4-BE49-F238E27FC236}">
                <a16:creationId xmlns:a16="http://schemas.microsoft.com/office/drawing/2014/main" xmlns="" id="{826BBF6C-7198-3C15-CDCB-E72B08709C1F}"/>
              </a:ext>
            </a:extLst>
          </p:cNvPr>
          <p:cNvSpPr>
            <a:spLocks noGrp="1"/>
          </p:cNvSpPr>
          <p:nvPr>
            <p:ph type="body" sz="quarter" idx="34" hasCustomPrompt="1"/>
          </p:nvPr>
        </p:nvSpPr>
        <p:spPr>
          <a:xfrm>
            <a:off x="6385560" y="6215888"/>
            <a:ext cx="2029968" cy="182880"/>
          </a:xfrm>
        </p:spPr>
        <p:txBody>
          <a:bodyPr anchor="ctr">
            <a:noAutofit/>
          </a:bodyPr>
          <a:lstStyle>
            <a:lvl1pPr marL="0" indent="0" algn="ctr">
              <a:buNone/>
              <a:defRPr sz="1200" spc="20" baseline="0"/>
            </a:lvl1pPr>
          </a:lstStyle>
          <a:p>
            <a:pPr lvl="0"/>
            <a:r>
              <a:rPr lang="en-US" dirty="0"/>
              <a:t>Title</a:t>
            </a:r>
          </a:p>
        </p:txBody>
      </p:sp>
      <p:sp>
        <p:nvSpPr>
          <p:cNvPr id="29" name="Picture Placeholder 16">
            <a:extLst>
              <a:ext uri="{FF2B5EF4-FFF2-40B4-BE49-F238E27FC236}">
                <a16:creationId xmlns:a16="http://schemas.microsoft.com/office/drawing/2014/main" xmlns="" id="{4F0F5D16-7316-B120-F378-E3D492FEEB9C}"/>
              </a:ext>
            </a:extLst>
          </p:cNvPr>
          <p:cNvSpPr>
            <a:spLocks noGrp="1"/>
          </p:cNvSpPr>
          <p:nvPr>
            <p:ph type="pic" sz="quarter" idx="23"/>
          </p:nvPr>
        </p:nvSpPr>
        <p:spPr>
          <a:xfrm>
            <a:off x="8942832"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xmlns="" id="{47AC9724-9FC2-62FA-0DE7-3F9FE9B67A34}"/>
              </a:ext>
            </a:extLst>
          </p:cNvPr>
          <p:cNvSpPr>
            <a:spLocks noGrp="1"/>
          </p:cNvSpPr>
          <p:nvPr>
            <p:ph type="body" sz="quarter" idx="22" hasCustomPrompt="1"/>
          </p:nvPr>
        </p:nvSpPr>
        <p:spPr>
          <a:xfrm>
            <a:off x="8942832"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xmlns="" id="{114EE337-FC29-F325-E528-A3F809B28B5B}"/>
              </a:ext>
            </a:extLst>
          </p:cNvPr>
          <p:cNvSpPr>
            <a:spLocks noGrp="1"/>
          </p:cNvSpPr>
          <p:nvPr>
            <p:ph type="body" sz="quarter" idx="24" hasCustomPrompt="1"/>
          </p:nvPr>
        </p:nvSpPr>
        <p:spPr>
          <a:xfrm>
            <a:off x="8942832" y="3616960"/>
            <a:ext cx="2029968" cy="182880"/>
          </a:xfrm>
        </p:spPr>
        <p:txBody>
          <a:bodyPr anchor="ctr">
            <a:noAutofit/>
          </a:bodyPr>
          <a:lstStyle>
            <a:lvl1pPr marL="0" indent="0" algn="ctr">
              <a:buNone/>
              <a:defRPr sz="1200" spc="20" baseline="0"/>
            </a:lvl1pPr>
          </a:lstStyle>
          <a:p>
            <a:pPr lvl="0"/>
            <a:r>
              <a:rPr lang="en-US" dirty="0"/>
              <a:t>Title</a:t>
            </a:r>
          </a:p>
        </p:txBody>
      </p:sp>
      <p:sp>
        <p:nvSpPr>
          <p:cNvPr id="13" name="Picture Placeholder 16">
            <a:extLst>
              <a:ext uri="{FF2B5EF4-FFF2-40B4-BE49-F238E27FC236}">
                <a16:creationId xmlns:a16="http://schemas.microsoft.com/office/drawing/2014/main" xmlns="" id="{90CBAA5D-3D9B-0CB5-E527-996433638BE3}"/>
              </a:ext>
            </a:extLst>
          </p:cNvPr>
          <p:cNvSpPr>
            <a:spLocks noGrp="1"/>
          </p:cNvSpPr>
          <p:nvPr>
            <p:ph type="pic" sz="quarter" idx="28"/>
          </p:nvPr>
        </p:nvSpPr>
        <p:spPr>
          <a:xfrm>
            <a:off x="8942832"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32" name="Text Placeholder 18">
            <a:extLst>
              <a:ext uri="{FF2B5EF4-FFF2-40B4-BE49-F238E27FC236}">
                <a16:creationId xmlns:a16="http://schemas.microsoft.com/office/drawing/2014/main" xmlns="" id="{5B47333C-2F5E-FA7D-5DD1-191E0F421B61}"/>
              </a:ext>
            </a:extLst>
          </p:cNvPr>
          <p:cNvSpPr>
            <a:spLocks noGrp="1"/>
          </p:cNvSpPr>
          <p:nvPr>
            <p:ph type="body" sz="quarter" idx="35" hasCustomPrompt="1"/>
          </p:nvPr>
        </p:nvSpPr>
        <p:spPr>
          <a:xfrm>
            <a:off x="8942832"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3" name="Text Placeholder 20">
            <a:extLst>
              <a:ext uri="{FF2B5EF4-FFF2-40B4-BE49-F238E27FC236}">
                <a16:creationId xmlns:a16="http://schemas.microsoft.com/office/drawing/2014/main" xmlns="" id="{D0AA2AE2-5A11-76D4-4D9C-B6B24D1419D0}"/>
              </a:ext>
            </a:extLst>
          </p:cNvPr>
          <p:cNvSpPr>
            <a:spLocks noGrp="1"/>
          </p:cNvSpPr>
          <p:nvPr>
            <p:ph type="body" sz="quarter" idx="36" hasCustomPrompt="1"/>
          </p:nvPr>
        </p:nvSpPr>
        <p:spPr>
          <a:xfrm>
            <a:off x="8942832" y="6215888"/>
            <a:ext cx="2029968" cy="182880"/>
          </a:xfrm>
        </p:spPr>
        <p:txBody>
          <a:bodyPr anchor="ctr">
            <a:noAutofit/>
          </a:bodyPr>
          <a:lstStyle>
            <a:lvl1pPr marL="0" indent="0" algn="ctr">
              <a:buNone/>
              <a:defRPr sz="1200" spc="20" baseline="0"/>
            </a:lvl1pPr>
          </a:lstStyle>
          <a:p>
            <a:pPr lvl="0"/>
            <a:r>
              <a:rPr lang="en-US" dirty="0"/>
              <a:t>Title</a:t>
            </a:r>
          </a:p>
        </p:txBody>
      </p:sp>
    </p:spTree>
    <p:extLst>
      <p:ext uri="{BB962C8B-B14F-4D97-AF65-F5344CB8AC3E}">
        <p14:creationId xmlns:p14="http://schemas.microsoft.com/office/powerpoint/2010/main" xmlns="" val="190070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xmlns="" id="{B950ED98-B5D1-206C-403F-FA954F9D2CFF}"/>
              </a:ext>
            </a:extLst>
          </p:cNvPr>
          <p:cNvSpPr/>
          <p:nvPr userDrawn="1"/>
        </p:nvSpPr>
        <p:spPr>
          <a:xfrm>
            <a:off x="685338"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xmlns="" id="{0E8643CE-01D9-3E5E-15F6-20689F775F15}"/>
              </a:ext>
            </a:extLst>
          </p:cNvPr>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xmlns="" id="{5AF82DDD-EDEC-7D87-F43A-113C5E4A4FE7}"/>
              </a:ext>
            </a:extLst>
          </p:cNvPr>
          <p:cNvSpPr/>
          <p:nvPr userDrawn="1"/>
        </p:nvSpPr>
        <p:spPr>
          <a:xfrm>
            <a:off x="5116484"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xmlns="" id="{E47E492E-967F-54B7-55B1-08A5E1C3615B}"/>
              </a:ext>
            </a:extLst>
          </p:cNvPr>
          <p:cNvSpPr/>
          <p:nvPr userDrawn="1"/>
        </p:nvSpPr>
        <p:spPr>
          <a:xfrm>
            <a:off x="9547629"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xmlns="" id="{DC0053FE-E44A-CA97-F782-67FC633E722E}"/>
              </a:ext>
            </a:extLst>
          </p:cNvPr>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7445A0A-815D-3414-088B-C041E6742DBE}"/>
              </a:ext>
            </a:extLst>
          </p:cNvPr>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xmlns=""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xmlns=""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xmlns="" id="{C025625F-8274-840F-6DD8-D36687CB8F7E}"/>
              </a:ext>
            </a:extLst>
          </p:cNvPr>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xmlns="" id="{2F18FBB7-2D21-7954-1324-C7D3BFE5C85D}"/>
              </a:ext>
            </a:extLst>
          </p:cNvPr>
          <p:cNvSpPr>
            <a:spLocks noGrp="1"/>
          </p:cNvSpPr>
          <p:nvPr>
            <p:ph type="pic" sz="quarter" idx="23"/>
          </p:nvPr>
        </p:nvSpPr>
        <p:spPr>
          <a:xfrm>
            <a:off x="1339134"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xmlns="" id="{2EF54C35-5F8E-4E0A-AB4D-97E38121910A}"/>
              </a:ext>
            </a:extLst>
          </p:cNvPr>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7" name="Text Placeholder 4">
            <a:extLst>
              <a:ext uri="{FF2B5EF4-FFF2-40B4-BE49-F238E27FC236}">
                <a16:creationId xmlns:a16="http://schemas.microsoft.com/office/drawing/2014/main" xmlns="" id="{79F9AD31-B0C5-3563-C73A-8B6297FCFD1C}"/>
              </a:ext>
            </a:extLst>
          </p:cNvPr>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8" name="Picture Placeholder 62">
            <a:extLst>
              <a:ext uri="{FF2B5EF4-FFF2-40B4-BE49-F238E27FC236}">
                <a16:creationId xmlns:a16="http://schemas.microsoft.com/office/drawing/2014/main" xmlns="" id="{05E8E8EF-4954-870B-04E5-82BC660A6738}"/>
              </a:ext>
            </a:extLst>
          </p:cNvPr>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a:extLst>
              <a:ext uri="{FF2B5EF4-FFF2-40B4-BE49-F238E27FC236}">
                <a16:creationId xmlns:a16="http://schemas.microsoft.com/office/drawing/2014/main" xmlns="" id="{75981CD1-EA26-D1CF-F19E-B58C16BA8A69}"/>
              </a:ext>
            </a:extLst>
          </p:cNvPr>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8" name="Text Placeholder 4">
            <a:extLst>
              <a:ext uri="{FF2B5EF4-FFF2-40B4-BE49-F238E27FC236}">
                <a16:creationId xmlns:a16="http://schemas.microsoft.com/office/drawing/2014/main" xmlns="" id="{3A09BBD1-5CBC-B0EF-71C0-054FCB989BC6}"/>
              </a:ext>
            </a:extLst>
          </p:cNvPr>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7" name="Picture Placeholder 62">
            <a:extLst>
              <a:ext uri="{FF2B5EF4-FFF2-40B4-BE49-F238E27FC236}">
                <a16:creationId xmlns:a16="http://schemas.microsoft.com/office/drawing/2014/main" xmlns="" id="{4AD0C8C9-DB5A-6DC8-2729-A21F1A5CF174}"/>
              </a:ext>
            </a:extLst>
          </p:cNvPr>
          <p:cNvSpPr>
            <a:spLocks noGrp="1"/>
          </p:cNvSpPr>
          <p:nvPr>
            <p:ph type="pic" sz="quarter" idx="26"/>
          </p:nvPr>
        </p:nvSpPr>
        <p:spPr>
          <a:xfrm>
            <a:off x="5770280"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a:extLst>
              <a:ext uri="{FF2B5EF4-FFF2-40B4-BE49-F238E27FC236}">
                <a16:creationId xmlns:a16="http://schemas.microsoft.com/office/drawing/2014/main" xmlns="" id="{F02DE2DC-F65C-32A5-5821-89FB2F53C325}"/>
              </a:ext>
            </a:extLst>
          </p:cNvPr>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xmlns="" id="{084A0326-A0B8-1723-B8BA-B015344F2DCE}"/>
              </a:ext>
            </a:extLst>
          </p:cNvPr>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xmlns="" id="{139354A0-F5DF-3AC5-5E8B-A41146C26F3C}"/>
              </a:ext>
            </a:extLst>
          </p:cNvPr>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xmlns="" id="{E9730E82-F317-686A-8777-D81705BCC706}"/>
              </a:ext>
            </a:extLst>
          </p:cNvPr>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xmlns="" id="{0E3B57F3-1903-446F-D989-D6CA342D0861}"/>
              </a:ext>
            </a:extLst>
          </p:cNvPr>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xmlns="" id="{D5BF3A8A-72F1-392E-855B-5B36E244A7FD}"/>
              </a:ext>
            </a:extLst>
          </p:cNvPr>
          <p:cNvSpPr>
            <a:spLocks noGrp="1"/>
          </p:cNvSpPr>
          <p:nvPr>
            <p:ph type="pic" sz="quarter" idx="24"/>
          </p:nvPr>
        </p:nvSpPr>
        <p:spPr>
          <a:xfrm>
            <a:off x="10201425"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xmlns="" id="{2AED5DDC-3165-FA12-0310-E3545223E292}"/>
              </a:ext>
            </a:extLst>
          </p:cNvPr>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Tree>
    <p:extLst>
      <p:ext uri="{BB962C8B-B14F-4D97-AF65-F5344CB8AC3E}">
        <p14:creationId xmlns:p14="http://schemas.microsoft.com/office/powerpoint/2010/main" xmlns="" val="872516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xmlns="" id="{E2DECB02-D9CE-E57A-0604-BFF41EC38AFA}"/>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6" name="Freeform: Shape 25">
            <a:extLst>
              <a:ext uri="{FF2B5EF4-FFF2-40B4-BE49-F238E27FC236}">
                <a16:creationId xmlns:a16="http://schemas.microsoft.com/office/drawing/2014/main" xmlns="" id="{68E760EA-7D83-1DF2-A8EE-4F218084E74F}"/>
              </a:ext>
            </a:extLst>
          </p:cNvPr>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xmlns="" id="{FF3F3353-78A1-F584-81A6-9513382DF18F}"/>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xmlns="" id="{A65C6DDD-D2BB-0153-0F53-9F7C17BDFD2B}"/>
              </a:ext>
            </a:extLst>
          </p:cNvPr>
          <p:cNvSpPr>
            <a:spLocks noGrp="1"/>
          </p:cNvSpPr>
          <p:nvPr>
            <p:ph type="title"/>
          </p:nvPr>
        </p:nvSpPr>
        <p:spPr/>
        <p:txBody>
          <a:bodyPr/>
          <a:lstStyle>
            <a:lvl1pPr>
              <a:lnSpc>
                <a:spcPct val="100000"/>
              </a:lnSpc>
              <a:defRPr>
                <a:solidFill>
                  <a:schemeClr val="accent6"/>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xmlns="" id="{471A846E-CBB1-9805-456D-0C0B890912B7}"/>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30" name="Image 2" descr="preencoded.png">
            <a:extLst>
              <a:ext uri="{FF2B5EF4-FFF2-40B4-BE49-F238E27FC236}">
                <a16:creationId xmlns:a16="http://schemas.microsoft.com/office/drawing/2014/main" xmlns="" id="{790E862E-398F-571C-EC2C-3D17164DE059}"/>
              </a:ext>
            </a:extLst>
          </p:cNvPr>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a:extLst>
              <a:ext uri="{FF2B5EF4-FFF2-40B4-BE49-F238E27FC236}">
                <a16:creationId xmlns:a16="http://schemas.microsoft.com/office/drawing/2014/main" xmlns="" id="{AB1DF8DE-0EED-2627-4B5E-266C0BC276BE}"/>
              </a:ext>
            </a:extLst>
          </p:cNvPr>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2" name="Text Placeholder 4">
            <a:extLst>
              <a:ext uri="{FF2B5EF4-FFF2-40B4-BE49-F238E27FC236}">
                <a16:creationId xmlns:a16="http://schemas.microsoft.com/office/drawing/2014/main" xmlns="" id="{5AE99EEE-38C4-CB2D-EEA0-8A2EB6F129E4}"/>
              </a:ext>
            </a:extLst>
          </p:cNvPr>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3" name="Text Placeholder 4">
            <a:extLst>
              <a:ext uri="{FF2B5EF4-FFF2-40B4-BE49-F238E27FC236}">
                <a16:creationId xmlns:a16="http://schemas.microsoft.com/office/drawing/2014/main" xmlns="" id="{AA90F0AE-69F4-EBD3-AED1-81E98D34811D}"/>
              </a:ext>
            </a:extLst>
          </p:cNvPr>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4" name="Text Placeholder 4">
            <a:extLst>
              <a:ext uri="{FF2B5EF4-FFF2-40B4-BE49-F238E27FC236}">
                <a16:creationId xmlns:a16="http://schemas.microsoft.com/office/drawing/2014/main" xmlns="" id="{F9E49243-B04A-D7AF-B4C7-8E1AE776F811}"/>
              </a:ext>
            </a:extLst>
          </p:cNvPr>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5" name="Text Placeholder 4">
            <a:extLst>
              <a:ext uri="{FF2B5EF4-FFF2-40B4-BE49-F238E27FC236}">
                <a16:creationId xmlns:a16="http://schemas.microsoft.com/office/drawing/2014/main" xmlns="" id="{4780DCD4-46DE-8C31-9F39-FC6E45FC1EBE}"/>
              </a:ext>
            </a:extLst>
          </p:cNvPr>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6" name="Text Placeholder 51">
            <a:extLst>
              <a:ext uri="{FF2B5EF4-FFF2-40B4-BE49-F238E27FC236}">
                <a16:creationId xmlns:a16="http://schemas.microsoft.com/office/drawing/2014/main" xmlns="" id="{9FBDF935-4925-03EC-CBC9-1EBA90DF849B}"/>
              </a:ext>
            </a:extLst>
          </p:cNvPr>
          <p:cNvSpPr>
            <a:spLocks noGrp="1"/>
          </p:cNvSpPr>
          <p:nvPr>
            <p:ph type="body" sz="quarter" idx="18"/>
          </p:nvPr>
        </p:nvSpPr>
        <p:spPr>
          <a:xfrm>
            <a:off x="685338"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7" name="Text Placeholder 51">
            <a:extLst>
              <a:ext uri="{FF2B5EF4-FFF2-40B4-BE49-F238E27FC236}">
                <a16:creationId xmlns:a16="http://schemas.microsoft.com/office/drawing/2014/main" xmlns="" id="{9BB76AA7-442D-54A7-D075-C67F47438963}"/>
              </a:ext>
            </a:extLst>
          </p:cNvPr>
          <p:cNvSpPr>
            <a:spLocks noGrp="1"/>
          </p:cNvSpPr>
          <p:nvPr>
            <p:ph type="body" sz="quarter" idx="19"/>
          </p:nvPr>
        </p:nvSpPr>
        <p:spPr>
          <a:xfrm>
            <a:off x="2900911"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8" name="Text Placeholder 51">
            <a:extLst>
              <a:ext uri="{FF2B5EF4-FFF2-40B4-BE49-F238E27FC236}">
                <a16:creationId xmlns:a16="http://schemas.microsoft.com/office/drawing/2014/main" xmlns="" id="{9E419856-1586-F2D8-A1B4-F67FEE9839DF}"/>
              </a:ext>
            </a:extLst>
          </p:cNvPr>
          <p:cNvSpPr>
            <a:spLocks noGrp="1"/>
          </p:cNvSpPr>
          <p:nvPr>
            <p:ph type="body" sz="quarter" idx="20"/>
          </p:nvPr>
        </p:nvSpPr>
        <p:spPr>
          <a:xfrm>
            <a:off x="5116484"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9" name="Text Placeholder 51">
            <a:extLst>
              <a:ext uri="{FF2B5EF4-FFF2-40B4-BE49-F238E27FC236}">
                <a16:creationId xmlns:a16="http://schemas.microsoft.com/office/drawing/2014/main" xmlns="" id="{AED74DD2-EAE3-76BF-56B9-C04FCED1F2DB}"/>
              </a:ext>
            </a:extLst>
          </p:cNvPr>
          <p:cNvSpPr>
            <a:spLocks noGrp="1"/>
          </p:cNvSpPr>
          <p:nvPr>
            <p:ph type="body" sz="quarter" idx="21"/>
          </p:nvPr>
        </p:nvSpPr>
        <p:spPr>
          <a:xfrm>
            <a:off x="7332057"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40" name="Text Placeholder 51">
            <a:extLst>
              <a:ext uri="{FF2B5EF4-FFF2-40B4-BE49-F238E27FC236}">
                <a16:creationId xmlns:a16="http://schemas.microsoft.com/office/drawing/2014/main" xmlns="" id="{0A39AD48-2F98-C0C9-DE08-CED7EBF816B2}"/>
              </a:ext>
            </a:extLst>
          </p:cNvPr>
          <p:cNvSpPr>
            <a:spLocks noGrp="1"/>
          </p:cNvSpPr>
          <p:nvPr>
            <p:ph type="body" sz="quarter" idx="22"/>
          </p:nvPr>
        </p:nvSpPr>
        <p:spPr>
          <a:xfrm>
            <a:off x="9547629"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cxnSp>
        <p:nvCxnSpPr>
          <p:cNvPr id="42" name="Straight Connector 41">
            <a:extLst>
              <a:ext uri="{FF2B5EF4-FFF2-40B4-BE49-F238E27FC236}">
                <a16:creationId xmlns:a16="http://schemas.microsoft.com/office/drawing/2014/main" xmlns="" id="{E6BE61D7-B0A3-902B-4F58-727982880EF5}"/>
              </a:ext>
            </a:extLst>
          </p:cNvPr>
          <p:cNvCxnSpPr>
            <a:cxnSpLocks/>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85033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xmlns="" id="{C26B5661-F583-FA44-8353-161B862E69B1}"/>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1" name="Image 0" descr="preencoded.png">
            <a:extLst>
              <a:ext uri="{FF2B5EF4-FFF2-40B4-BE49-F238E27FC236}">
                <a16:creationId xmlns:a16="http://schemas.microsoft.com/office/drawing/2014/main" xmlns="" id="{CD2D664E-6702-6607-A37E-2E996144917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descr="preencoded.png">
            <a:extLst>
              <a:ext uri="{FF2B5EF4-FFF2-40B4-BE49-F238E27FC236}">
                <a16:creationId xmlns:a16="http://schemas.microsoft.com/office/drawing/2014/main" xmlns="" id="{951C5737-DF7E-D671-AC74-9E488335BCA2}"/>
              </a:ext>
            </a:extLst>
          </p:cNvPr>
          <p:cNvPicPr>
            <a:picLocks noChangeAspect="1"/>
          </p:cNvPicPr>
          <p:nvPr userDrawn="1"/>
        </p:nvPicPr>
        <p:blipFill>
          <a:blip r:embed="rId2" cstate="screen">
            <a:extLst>
              <a:ext uri="{28A0092B-C50C-407E-A947-70E740481C1C}">
                <a14:useLocalDpi xmlns:a14="http://schemas.microsoft.com/office/drawing/2010/main" xmlns=""/>
              </a:ext>
              <a:ext uri="{96DAC541-7B7A-43D3-8B79-37D633B846F1}">
                <asvg:svgBlip xmlns:asvg="http://schemas.microsoft.com/office/drawing/2016/SVG/main" xmlns=""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xmlns="" id="{F232A1E1-DD38-15EA-6CA1-A84950EC43F0}"/>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descr="preencoded.png">
            <a:extLst>
              <a:ext uri="{FF2B5EF4-FFF2-40B4-BE49-F238E27FC236}">
                <a16:creationId xmlns:a16="http://schemas.microsoft.com/office/drawing/2014/main" xmlns="" id="{B9036D42-A06F-E6EE-BB91-8BAF045198BE}"/>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descr="preencoded.png">
            <a:extLst>
              <a:ext uri="{FF2B5EF4-FFF2-40B4-BE49-F238E27FC236}">
                <a16:creationId xmlns:a16="http://schemas.microsoft.com/office/drawing/2014/main" xmlns="" id="{86E0540C-3355-A50D-AC61-047B54B70C64}"/>
              </a:ext>
            </a:extLst>
          </p:cNvPr>
          <p:cNvPicPr>
            <a:picLocks noChangeAspect="1"/>
          </p:cNvPicPr>
          <p:nvPr userDrawn="1"/>
        </p:nvPicPr>
        <p:blipFill>
          <a:blip r:embed="rId4" cstate="screen">
            <a:extLst>
              <a:ext uri="{28A0092B-C50C-407E-A947-70E740481C1C}">
                <a14:useLocalDpi xmlns:a14="http://schemas.microsoft.com/office/drawing/2010/main" xmlns=""/>
              </a:ext>
              <a:ext uri="{96DAC541-7B7A-43D3-8B79-37D633B846F1}">
                <asvg:svgBlip xmlns:asvg="http://schemas.microsoft.com/office/drawing/2016/SVG/main" xmlns="" r:embed="rId5"/>
              </a:ext>
            </a:extLst>
          </a:blip>
          <a:src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3871031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445A0A-815D-3414-088B-C041E6742DBE}"/>
              </a:ext>
            </a:extLst>
          </p:cNvPr>
          <p:cNvSpPr>
            <a:spLocks noGrp="1"/>
          </p:cNvSpPr>
          <p:nvPr>
            <p:ph type="title"/>
          </p:nvPr>
        </p:nvSpPr>
        <p:spPr>
          <a:xfrm>
            <a:off x="758952" y="1234440"/>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xmlns=""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xmlns=""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xmlns="" id="{C025625F-8274-840F-6DD8-D36687CB8F7E}"/>
              </a:ext>
            </a:extLst>
          </p:cNvPr>
          <p:cNvSpPr>
            <a:spLocks noGrp="1"/>
          </p:cNvSpPr>
          <p:nvPr>
            <p:ph type="body" idx="1"/>
          </p:nvPr>
        </p:nvSpPr>
        <p:spPr>
          <a:xfrm>
            <a:off x="713232" y="2743200"/>
            <a:ext cx="3328416" cy="3557016"/>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xmlns="" id="{2F18FBB7-2D21-7954-1324-C7D3BFE5C85D}"/>
              </a:ext>
            </a:extLst>
          </p:cNvPr>
          <p:cNvSpPr>
            <a:spLocks noGrp="1" noChangeAspect="1"/>
          </p:cNvSpPr>
          <p:nvPr>
            <p:ph type="pic" sz="quarter" idx="23"/>
          </p:nvPr>
        </p:nvSpPr>
        <p:spPr>
          <a:xfrm>
            <a:off x="1911096" y="2258568"/>
            <a:ext cx="932688" cy="9326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xmlns="" id="{2EF54C35-5F8E-4E0A-AB4D-97E38121910A}"/>
              </a:ext>
            </a:extLst>
          </p:cNvPr>
          <p:cNvSpPr>
            <a:spLocks noGrp="1"/>
          </p:cNvSpPr>
          <p:nvPr>
            <p:ph type="body" sz="quarter" idx="18"/>
          </p:nvPr>
        </p:nvSpPr>
        <p:spPr>
          <a:xfrm>
            <a:off x="992124"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xmlns="" id="{084A0326-A0B8-1723-B8BA-B015344F2DCE}"/>
              </a:ext>
            </a:extLst>
          </p:cNvPr>
          <p:cNvSpPr>
            <a:spLocks noGrp="1"/>
          </p:cNvSpPr>
          <p:nvPr>
            <p:ph type="body" sz="quarter" idx="15"/>
          </p:nvPr>
        </p:nvSpPr>
        <p:spPr>
          <a:xfrm>
            <a:off x="4443984" y="2743200"/>
            <a:ext cx="3328416" cy="3557016"/>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xmlns="" id="{139354A0-F5DF-3AC5-5E8B-A41146C26F3C}"/>
              </a:ext>
            </a:extLst>
          </p:cNvPr>
          <p:cNvSpPr>
            <a:spLocks noGrp="1" noChangeAspect="1"/>
          </p:cNvSpPr>
          <p:nvPr>
            <p:ph type="pic" sz="quarter" idx="25"/>
          </p:nvPr>
        </p:nvSpPr>
        <p:spPr>
          <a:xfrm>
            <a:off x="5641848" y="2258568"/>
            <a:ext cx="932688" cy="9326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xmlns="" id="{E9730E82-F317-686A-8777-D81705BCC706}"/>
              </a:ext>
            </a:extLst>
          </p:cNvPr>
          <p:cNvSpPr>
            <a:spLocks noGrp="1"/>
          </p:cNvSpPr>
          <p:nvPr>
            <p:ph type="body" sz="quarter" idx="21"/>
          </p:nvPr>
        </p:nvSpPr>
        <p:spPr>
          <a:xfrm>
            <a:off x="4722876"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xmlns="" id="{0E3B57F3-1903-446F-D989-D6CA342D0861}"/>
              </a:ext>
            </a:extLst>
          </p:cNvPr>
          <p:cNvSpPr>
            <a:spLocks noGrp="1"/>
          </p:cNvSpPr>
          <p:nvPr>
            <p:ph type="body" sz="quarter" idx="17"/>
          </p:nvPr>
        </p:nvSpPr>
        <p:spPr>
          <a:xfrm>
            <a:off x="8092440" y="2743200"/>
            <a:ext cx="3328416" cy="3557016"/>
          </a:xfr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xmlns="" id="{D5BF3A8A-72F1-392E-855B-5B36E244A7FD}"/>
              </a:ext>
            </a:extLst>
          </p:cNvPr>
          <p:cNvSpPr>
            <a:spLocks noGrp="1" noChangeAspect="1"/>
          </p:cNvSpPr>
          <p:nvPr>
            <p:ph type="pic" sz="quarter" idx="24"/>
          </p:nvPr>
        </p:nvSpPr>
        <p:spPr>
          <a:xfrm>
            <a:off x="9290304" y="2258568"/>
            <a:ext cx="932688" cy="932688"/>
          </a:xfrm>
          <a:prstGeom prst="ellipse">
            <a:avLst/>
          </a:prstGeom>
          <a:solidFill>
            <a:schemeClr val="accent4"/>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xmlns="" id="{2AED5DDC-3165-FA12-0310-E3545223E292}"/>
              </a:ext>
            </a:extLst>
          </p:cNvPr>
          <p:cNvSpPr>
            <a:spLocks noGrp="1"/>
          </p:cNvSpPr>
          <p:nvPr>
            <p:ph type="body" sz="quarter" idx="22"/>
          </p:nvPr>
        </p:nvSpPr>
        <p:spPr>
          <a:xfrm>
            <a:off x="8371332"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Tree>
    <p:extLst>
      <p:ext uri="{BB962C8B-B14F-4D97-AF65-F5344CB8AC3E}">
        <p14:creationId xmlns:p14="http://schemas.microsoft.com/office/powerpoint/2010/main" xmlns="" val="1268954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descr="preencoded.png">
            <a:extLst>
              <a:ext uri="{FF2B5EF4-FFF2-40B4-BE49-F238E27FC236}">
                <a16:creationId xmlns:a16="http://schemas.microsoft.com/office/drawing/2014/main" xmlns="" id="{ABC388A2-FFC7-1A87-02FB-C97B50161FD3}"/>
              </a:ext>
            </a:extLst>
          </p:cNvPr>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descr="preencoded.png">
            <a:extLst>
              <a:ext uri="{FF2B5EF4-FFF2-40B4-BE49-F238E27FC236}">
                <a16:creationId xmlns:a16="http://schemas.microsoft.com/office/drawing/2014/main" xmlns="" id="{D64C4994-B525-F4C0-B74F-D5E8296DFC43}"/>
              </a:ext>
            </a:extLst>
          </p:cNvPr>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descr="preencoded.png">
            <a:extLst>
              <a:ext uri="{FF2B5EF4-FFF2-40B4-BE49-F238E27FC236}">
                <a16:creationId xmlns:a16="http://schemas.microsoft.com/office/drawing/2014/main" xmlns="" id="{9019DA73-2516-F3D2-ECDB-620C90483DB3}"/>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descr="preencoded.png">
            <a:extLst>
              <a:ext uri="{FF2B5EF4-FFF2-40B4-BE49-F238E27FC236}">
                <a16:creationId xmlns:a16="http://schemas.microsoft.com/office/drawing/2014/main" xmlns="" id="{FEA70E9F-C506-413C-11EF-5915A2296643}"/>
              </a:ext>
            </a:extLst>
          </p:cNvPr>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descr="preencoded.png">
            <a:extLst>
              <a:ext uri="{FF2B5EF4-FFF2-40B4-BE49-F238E27FC236}">
                <a16:creationId xmlns:a16="http://schemas.microsoft.com/office/drawing/2014/main" xmlns="" id="{A8B7F1F1-806C-8D65-7340-220A0C4653C8}"/>
              </a:ext>
            </a:extLst>
          </p:cNvPr>
          <p:cNvPicPr>
            <a:picLocks noChangeAspect="1"/>
          </p:cNvPicPr>
          <p:nvPr userDrawn="1"/>
        </p:nvPicPr>
        <p:blipFill>
          <a:blip r:embed="rId2" cstate="screen">
            <a:extLst>
              <a:ext uri="{28A0092B-C50C-407E-A947-70E740481C1C}">
                <a14:useLocalDpi xmlns:a14="http://schemas.microsoft.com/office/drawing/2010/main" xmlns=""/>
              </a:ext>
              <a:ext uri="{96DAC541-7B7A-43D3-8B79-37D633B846F1}">
                <asvg:svgBlip xmlns:asvg="http://schemas.microsoft.com/office/drawing/2016/SVG/main" xmlns="" r:embed="rId3"/>
              </a:ext>
            </a:extLst>
          </a:blip>
          <a:srcRect/>
          <a:stretch/>
        </p:blipFill>
        <p:spPr>
          <a:xfrm>
            <a:off x="9991886" y="3441269"/>
            <a:ext cx="2200114" cy="2200114"/>
          </a:xfrm>
          <a:prstGeom prst="rect">
            <a:avLst/>
          </a:prstGeom>
        </p:spPr>
      </p:pic>
      <p:sp>
        <p:nvSpPr>
          <p:cNvPr id="54" name="Image 2" descr="preencoded.png">
            <a:extLst>
              <a:ext uri="{FF2B5EF4-FFF2-40B4-BE49-F238E27FC236}">
                <a16:creationId xmlns:a16="http://schemas.microsoft.com/office/drawing/2014/main" xmlns="" id="{F19C81EC-0322-58A2-C455-6E2C84D1E6E8}"/>
              </a:ext>
            </a:extLst>
          </p:cNvPr>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p:nvPr>
        </p:nvSpPr>
        <p:spPr>
          <a:xfrm>
            <a:off x="1508760" y="1883664"/>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p:ph idx="1"/>
          </p:nvPr>
        </p:nvSpPr>
        <p:spPr>
          <a:xfrm>
            <a:off x="1508760" y="2837688"/>
            <a:ext cx="5879592"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pPr/>
              <a:t>‹#›</a:t>
            </a:fld>
            <a:endParaRPr lang="en-US" dirty="0"/>
          </a:p>
        </p:txBody>
      </p:sp>
      <p:sp>
        <p:nvSpPr>
          <p:cNvPr id="4" name="Footer Placeholder 3">
            <a:extLst>
              <a:ext uri="{FF2B5EF4-FFF2-40B4-BE49-F238E27FC236}">
                <a16:creationId xmlns:a16="http://schemas.microsoft.com/office/drawing/2014/main" xmlns="" id="{E1F9FD95-086F-282B-820C-8CDAD4A6EEB6}"/>
              </a:ext>
            </a:extLst>
          </p:cNvPr>
          <p:cNvSpPr>
            <a:spLocks noGrp="1"/>
          </p:cNvSpPr>
          <p:nvPr>
            <p:ph type="ftr" sz="quarter" idx="13"/>
          </p:nvPr>
        </p:nvSpPr>
        <p:spPr/>
        <p:txBody>
          <a:bodyPr/>
          <a:lstStyle/>
          <a:p>
            <a:r>
              <a:rPr lang="en-US"/>
              <a:t>Presentation title</a:t>
            </a:r>
            <a:endParaRPr lang="en-US" dirty="0"/>
          </a:p>
        </p:txBody>
      </p:sp>
    </p:spTree>
    <p:extLst>
      <p:ext uri="{BB962C8B-B14F-4D97-AF65-F5344CB8AC3E}">
        <p14:creationId xmlns:p14="http://schemas.microsoft.com/office/powerpoint/2010/main" xmlns="" val="4248485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xmlns="" id="{AEF1F750-031C-BDB7-BD7B-9CBE17406FDB}"/>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descr="preencoded.png">
            <a:extLst>
              <a:ext uri="{FF2B5EF4-FFF2-40B4-BE49-F238E27FC236}">
                <a16:creationId xmlns:a16="http://schemas.microsoft.com/office/drawing/2014/main" xmlns="" id="{FEB515B5-2D9F-58E1-6E3C-CCBF105D891E}"/>
              </a:ext>
            </a:extLst>
          </p:cNvPr>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descr="preencoded.png">
            <a:extLst>
              <a:ext uri="{FF2B5EF4-FFF2-40B4-BE49-F238E27FC236}">
                <a16:creationId xmlns:a16="http://schemas.microsoft.com/office/drawing/2014/main" xmlns="" id="{5CCFEDF9-5B69-87BA-8A33-35033DA4013F}"/>
              </a:ext>
            </a:extLst>
          </p:cNvPr>
          <p:cNvPicPr>
            <a:picLocks noChangeAspect="1"/>
          </p:cNvPicPr>
          <p:nvPr userDrawn="1"/>
        </p:nvPicPr>
        <p:blipFill>
          <a:blip r:embed="rId2" cstate="screen">
            <a:extLst>
              <a:ext uri="{28A0092B-C50C-407E-A947-70E740481C1C}">
                <a14:useLocalDpi xmlns:a14="http://schemas.microsoft.com/office/drawing/2010/main" xmlns=""/>
              </a:ext>
              <a:ext uri="{96DAC541-7B7A-43D3-8B79-37D633B846F1}">
                <asvg:svgBlip xmlns:asvg="http://schemas.microsoft.com/office/drawing/2016/SVG/main" xmlns="" r:embed="rId3"/>
              </a:ext>
            </a:extLst>
          </a:blip>
          <a:srcRect/>
          <a:stretch/>
        </p:blipFill>
        <p:spPr>
          <a:xfrm>
            <a:off x="8737234" y="-25041"/>
            <a:ext cx="3432191" cy="3432191"/>
          </a:xfrm>
          <a:prstGeom prst="rect">
            <a:avLst/>
          </a:prstGeom>
        </p:spPr>
      </p:pic>
      <p:sp>
        <p:nvSpPr>
          <p:cNvPr id="2" name="Title 1"/>
          <p:cNvSpPr>
            <a:spLocks noGrp="1"/>
          </p:cNvSpPr>
          <p:nvPr>
            <p:ph type="ctrTitle"/>
          </p:nvPr>
        </p:nvSpPr>
        <p:spPr>
          <a:xfrm>
            <a:off x="1527048" y="1975104"/>
            <a:ext cx="4169664" cy="667512"/>
          </a:xfrm>
        </p:spPr>
        <p:txBody>
          <a:bodyPr tIns="0" anchor="ctr">
            <a:noAutofit/>
          </a:bodyPr>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1545336" y="2846832"/>
            <a:ext cx="4169664" cy="2176272"/>
          </a:xfrm>
        </p:spPr>
        <p:txBody>
          <a:bodyPr lIns="91440" tIns="0" rIns="91440" bIns="0">
            <a:no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xmlns="" val="2372898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descr="preencoded.png">
            <a:extLst>
              <a:ext uri="{FF2B5EF4-FFF2-40B4-BE49-F238E27FC236}">
                <a16:creationId xmlns:a16="http://schemas.microsoft.com/office/drawing/2014/main" xmlns="" id="{8D5D10FF-3DE5-39CA-FA9A-29A09DC47BF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descr="preencoded.png">
            <a:extLst>
              <a:ext uri="{FF2B5EF4-FFF2-40B4-BE49-F238E27FC236}">
                <a16:creationId xmlns:a16="http://schemas.microsoft.com/office/drawing/2014/main" xmlns="" id="{BFA89E6A-8342-AE30-45E0-BC1DFE3276CC}"/>
              </a:ext>
            </a:extLst>
          </p:cNvPr>
          <p:cNvPicPr>
            <a:picLocks noChangeAspect="1"/>
          </p:cNvPicPr>
          <p:nvPr userDrawn="1"/>
        </p:nvPicPr>
        <p:blipFill>
          <a:blip r:embed="rId2" cstate="screen">
            <a:extLst>
              <a:ext uri="{28A0092B-C50C-407E-A947-70E740481C1C}">
                <a14:useLocalDpi xmlns:a14="http://schemas.microsoft.com/office/drawing/2010/main" xmlns=""/>
              </a:ext>
              <a:ext uri="{96DAC541-7B7A-43D3-8B79-37D633B846F1}">
                <asvg:svgBlip xmlns:asvg="http://schemas.microsoft.com/office/drawing/2016/SVG/main" xmlns="" r:embed="rId3"/>
              </a:ext>
            </a:extLst>
          </a:blip>
          <a:srcRect/>
          <a:stretch/>
        </p:blipFill>
        <p:spPr>
          <a:xfrm>
            <a:off x="1703311" y="-2784"/>
            <a:ext cx="1734410" cy="5167313"/>
          </a:xfrm>
          <a:prstGeom prst="rect">
            <a:avLst/>
          </a:prstGeom>
        </p:spPr>
      </p:pic>
      <p:sp>
        <p:nvSpPr>
          <p:cNvPr id="13" name="Freeform: Shape 12">
            <a:extLst>
              <a:ext uri="{FF2B5EF4-FFF2-40B4-BE49-F238E27FC236}">
                <a16:creationId xmlns:a16="http://schemas.microsoft.com/office/drawing/2014/main" xmlns="" id="{A08309FA-889A-E2F2-1EDA-F872245F5FDF}"/>
              </a:ext>
            </a:extLst>
          </p:cNvPr>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descr="preencoded.png">
            <a:extLst>
              <a:ext uri="{FF2B5EF4-FFF2-40B4-BE49-F238E27FC236}">
                <a16:creationId xmlns:a16="http://schemas.microsoft.com/office/drawing/2014/main" xmlns="" id="{D9D7EB49-4BC9-040F-C4CC-5771C5FB312B}"/>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descr="preencoded.png">
            <a:extLst>
              <a:ext uri="{FF2B5EF4-FFF2-40B4-BE49-F238E27FC236}">
                <a16:creationId xmlns:a16="http://schemas.microsoft.com/office/drawing/2014/main" xmlns="" id="{3CE04498-C285-EFB8-340C-1A064078152B}"/>
              </a:ext>
            </a:extLst>
          </p:cNvPr>
          <p:cNvPicPr>
            <a:picLocks noChangeAspect="1"/>
          </p:cNvPicPr>
          <p:nvPr userDrawn="1"/>
        </p:nvPicPr>
        <p:blipFill>
          <a:blip r:embed="rId4" cstate="screen">
            <a:extLst>
              <a:ext uri="{28A0092B-C50C-407E-A947-70E740481C1C}">
                <a14:useLocalDpi xmlns:a14="http://schemas.microsoft.com/office/drawing/2010/main" xmlns=""/>
              </a:ext>
              <a:ext uri="{96DAC541-7B7A-43D3-8B79-37D633B846F1}">
                <asvg:svgBlip xmlns:asvg="http://schemas.microsoft.com/office/drawing/2016/SVG/main" xmlns="" r:embed="rId5"/>
              </a:ext>
            </a:extLst>
          </a:blip>
          <a:srcRect/>
          <a:stretch/>
        </p:blipFill>
        <p:spPr>
          <a:xfrm>
            <a:off x="1718457" y="3440504"/>
            <a:ext cx="1719263" cy="1724025"/>
          </a:xfrm>
          <a:prstGeom prst="rect">
            <a:avLst/>
          </a:prstGeom>
        </p:spPr>
      </p:pic>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
        <p:nvSpPr>
          <p:cNvPr id="18" name="Title 19">
            <a:extLst>
              <a:ext uri="{FF2B5EF4-FFF2-40B4-BE49-F238E27FC236}">
                <a16:creationId xmlns:a16="http://schemas.microsoft.com/office/drawing/2014/main" xmlns="" id="{9CBE0ADC-7FA0-F7E3-96EF-BBACB6A9076E}"/>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xmlns="" id="{0F9C0517-D83A-CC55-35B8-B2F990C96D30}"/>
              </a:ext>
            </a:extLst>
          </p:cNvPr>
          <p:cNvSpPr>
            <a:spLocks noGrp="1"/>
          </p:cNvSpPr>
          <p:nvPr>
            <p:ph sz="half" idx="2"/>
          </p:nvPr>
        </p:nvSpPr>
        <p:spPr>
          <a:xfrm>
            <a:off x="368503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5">
            <a:extLst>
              <a:ext uri="{FF2B5EF4-FFF2-40B4-BE49-F238E27FC236}">
                <a16:creationId xmlns:a16="http://schemas.microsoft.com/office/drawing/2014/main" xmlns="" id="{CF8BFBBE-0EAE-B647-2648-A5FB0094BF6B}"/>
              </a:ext>
            </a:extLst>
          </p:cNvPr>
          <p:cNvSpPr>
            <a:spLocks noGrp="1"/>
          </p:cNvSpPr>
          <p:nvPr>
            <p:ph sz="quarter" idx="4"/>
          </p:nvPr>
        </p:nvSpPr>
        <p:spPr>
          <a:xfrm>
            <a:off x="775411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xmlns="" val="4250832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xmlns="" id="{2C6B5F91-ABF5-D0B6-E43F-40CEDC3A6DF8}"/>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xmlns="" id="{A52D64F1-27B6-A1E5-4F44-A6029FAB307B}"/>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0718684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xmlns="" id="{A626DE4B-D4E5-B36A-89FA-7C0E87AFC31D}"/>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xmlns="" id="{95243571-BE64-3777-F992-88FC43A60537}"/>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1581182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xmlns="" id="{ADFAE2CB-0EAD-E788-FCB7-FB12F6939199}"/>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74500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xmlns="" id="{CAA6B609-D718-DB49-892F-7E49376CC913}"/>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8952" y="1216152"/>
            <a:ext cx="10671048" cy="76809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21792" y="457200"/>
            <a:ext cx="3200400" cy="274320"/>
          </a:xfrm>
          <a:prstGeom prst="rect">
            <a:avLst/>
          </a:prstGeom>
        </p:spPr>
        <p:txBody>
          <a:bodyPr vert="horz" lIns="91440" tIns="45720" rIns="9144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945368" y="457200"/>
            <a:ext cx="987552" cy="274320"/>
          </a:xfrm>
          <a:prstGeom prst="rect">
            <a:avLst/>
          </a:prstGeom>
        </p:spPr>
        <p:txBody>
          <a:bodyPr vert="horz" lIns="91440" tIns="45720" rIns="91440" bIns="45720" rtlCol="0" anchor="ctr"/>
          <a:lstStyle>
            <a:lvl1pPr algn="ct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xmlns=""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52" r:id="rId3"/>
    <p:sldLayoutId id="2147483653" r:id="rId4"/>
    <p:sldLayoutId id="2147483664" r:id="rId5"/>
    <p:sldLayoutId id="2147483667" r:id="rId6"/>
    <p:sldLayoutId id="2147483668" r:id="rId7"/>
    <p:sldLayoutId id="2147483669" r:id="rId8"/>
    <p:sldLayoutId id="2147483673" r:id="rId9"/>
    <p:sldLayoutId id="2147483670" r:id="rId10"/>
    <p:sldLayoutId id="2147483671" r:id="rId11"/>
    <p:sldLayoutId id="2147483655" r:id="rId12"/>
    <p:sldLayoutId id="2147483674" r:id="rId13"/>
    <p:sldLayoutId id="2147483675" r:id="rId14"/>
    <p:sldLayoutId id="2147483676" r:id="rId15"/>
    <p:sldLayoutId id="2147483654" r:id="rId16"/>
    <p:sldLayoutId id="2147483656" r:id="rId17"/>
    <p:sldLayoutId id="2147483657" r:id="rId18"/>
    <p:sldLayoutId id="2147483658" r:id="rId19"/>
    <p:sldLayoutId id="2147483659" r:id="rId20"/>
  </p:sldLayoutIdLst>
  <p:hf hdr="0" dt="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9835CB-B260-AAD5-DF07-33C7BC05F167}"/>
              </a:ext>
            </a:extLst>
          </p:cNvPr>
          <p:cNvSpPr>
            <a:spLocks noGrp="1"/>
          </p:cNvSpPr>
          <p:nvPr>
            <p:ph type="title"/>
          </p:nvPr>
        </p:nvSpPr>
        <p:spPr>
          <a:xfrm>
            <a:off x="768096" y="129070"/>
            <a:ext cx="10671048" cy="401633"/>
          </a:xfrm>
        </p:spPr>
        <p:txBody>
          <a:bodyPr/>
          <a:lstStyle/>
          <a:p>
            <a:r>
              <a:rPr lang="en-US" sz="1600" dirty="0">
                <a:solidFill>
                  <a:schemeClr val="tx1"/>
                </a:solidFill>
                <a:latin typeface="Times New Roman" panose="02020603050405020304" pitchFamily="18" charset="0"/>
                <a:cs typeface="Times New Roman" panose="02020603050405020304" pitchFamily="18" charset="0"/>
              </a:rPr>
              <a:t>Ship Detection Based on Faster R-CNN Using Range-Compressed Airborne Radar Data</a:t>
            </a:r>
          </a:p>
        </p:txBody>
      </p:sp>
      <p:sp>
        <p:nvSpPr>
          <p:cNvPr id="3" name="Content Placeholder 2">
            <a:extLst>
              <a:ext uri="{FF2B5EF4-FFF2-40B4-BE49-F238E27FC236}">
                <a16:creationId xmlns:a16="http://schemas.microsoft.com/office/drawing/2014/main" xmlns="" id="{C1472D1B-5C8A-F1DA-0F69-1B073890E54F}"/>
              </a:ext>
            </a:extLst>
          </p:cNvPr>
          <p:cNvSpPr>
            <a:spLocks noGrp="1"/>
          </p:cNvSpPr>
          <p:nvPr>
            <p:ph sz="half" idx="1"/>
          </p:nvPr>
        </p:nvSpPr>
        <p:spPr>
          <a:xfrm>
            <a:off x="1117600" y="457200"/>
            <a:ext cx="9827768" cy="6197600"/>
          </a:xfrm>
        </p:spPr>
        <p:txBody>
          <a:bodyPr/>
          <a:lstStyle/>
          <a:p>
            <a:pPr marL="0" indent="0" algn="ctr">
              <a:buNone/>
            </a:pPr>
            <a:r>
              <a:rPr lang="en-US" b="1" dirty="0">
                <a:solidFill>
                  <a:schemeClr val="tx1"/>
                </a:solidFill>
              </a:rPr>
              <a:t>A presentation of TECHCRAFT EXPO.</a:t>
            </a:r>
            <a:endParaRPr lang="en-US" dirty="0">
              <a:solidFill>
                <a:schemeClr val="tx1"/>
              </a:solidFill>
              <a:latin typeface="Centaur" panose="02030504050205020304" pitchFamily="18" charset="0"/>
            </a:endParaRPr>
          </a:p>
          <a:p>
            <a:pPr marL="0" indent="0" algn="ctr">
              <a:buNone/>
            </a:pPr>
            <a:r>
              <a:rPr lang="en-US" dirty="0">
                <a:solidFill>
                  <a:schemeClr val="tx1"/>
                </a:solidFill>
                <a:latin typeface="Centaur" panose="02030504050205020304" pitchFamily="18" charset="0"/>
              </a:rPr>
              <a:t>under</a:t>
            </a:r>
          </a:p>
          <a:p>
            <a:pPr marL="0" indent="0" algn="ctr">
              <a:buNone/>
            </a:pPr>
            <a:r>
              <a:rPr lang="en-US" b="1" dirty="0">
                <a:solidFill>
                  <a:schemeClr val="tx1"/>
                </a:solidFill>
              </a:rPr>
              <a:t>BACHELOR OF TECHNOLOGY </a:t>
            </a:r>
          </a:p>
          <a:p>
            <a:pPr marL="0" indent="0" algn="ctr">
              <a:buNone/>
            </a:pPr>
            <a:r>
              <a:rPr lang="en-US" dirty="0">
                <a:solidFill>
                  <a:schemeClr val="tx1"/>
                </a:solidFill>
                <a:latin typeface="Centaur" panose="02030504050205020304" pitchFamily="18" charset="0"/>
              </a:rPr>
              <a:t>In </a:t>
            </a:r>
          </a:p>
          <a:p>
            <a:pPr marL="0" indent="0" algn="ctr">
              <a:buNone/>
            </a:pPr>
            <a:r>
              <a:rPr lang="en-US" b="1" dirty="0">
                <a:solidFill>
                  <a:schemeClr val="tx1"/>
                </a:solidFill>
              </a:rPr>
              <a:t>INFORMATION TECHNOLOGY</a:t>
            </a:r>
          </a:p>
          <a:p>
            <a:pPr marL="0" indent="0" algn="ctr">
              <a:buNone/>
            </a:pPr>
            <a:r>
              <a:rPr lang="en-US" dirty="0">
                <a:solidFill>
                  <a:schemeClr val="tx1"/>
                </a:solidFill>
                <a:latin typeface="Centaur" panose="02030504050205020304" pitchFamily="18" charset="0"/>
              </a:rPr>
              <a:t>By </a:t>
            </a:r>
          </a:p>
          <a:p>
            <a:pPr marL="0" indent="0">
              <a:buNone/>
            </a:pPr>
            <a:r>
              <a:rPr lang="en-US" b="1" dirty="0">
                <a:solidFill>
                  <a:schemeClr val="tx1"/>
                </a:solidFill>
                <a:latin typeface="Centaur" panose="02030504050205020304" pitchFamily="18" charset="0"/>
              </a:rPr>
              <a:t>                                 SYEDA SUMMAYYA FIRDOUS               20L51A1242</a:t>
            </a:r>
          </a:p>
          <a:p>
            <a:pPr marL="0" indent="0" algn="ctr">
              <a:buNone/>
            </a:pPr>
            <a:r>
              <a:rPr lang="en-US" b="1" dirty="0" smtClean="0">
                <a:solidFill>
                  <a:schemeClr val="tx1"/>
                </a:solidFill>
                <a:latin typeface="Centaur" panose="02030504050205020304" pitchFamily="18" charset="0"/>
              </a:rPr>
              <a:t>       SHAISTA </a:t>
            </a:r>
            <a:r>
              <a:rPr lang="en-US" b="1" dirty="0">
                <a:solidFill>
                  <a:schemeClr val="tx1"/>
                </a:solidFill>
                <a:latin typeface="Centaur" panose="02030504050205020304" pitchFamily="18" charset="0"/>
              </a:rPr>
              <a:t>ERAM </a:t>
            </a:r>
            <a:r>
              <a:rPr lang="en-US" b="1" dirty="0" smtClean="0">
                <a:solidFill>
                  <a:schemeClr val="tx1"/>
                </a:solidFill>
                <a:latin typeface="Centaur" panose="02030504050205020304" pitchFamily="18" charset="0"/>
              </a:rPr>
              <a:t>    </a:t>
            </a:r>
            <a:r>
              <a:rPr lang="en-US" b="1" dirty="0">
                <a:solidFill>
                  <a:schemeClr val="tx1"/>
                </a:solidFill>
                <a:latin typeface="Centaur" panose="02030504050205020304" pitchFamily="18" charset="0"/>
              </a:rPr>
              <a:t>	20L51A1230</a:t>
            </a:r>
          </a:p>
          <a:p>
            <a:pPr marL="0" indent="0" algn="ctr">
              <a:buNone/>
            </a:pPr>
            <a:r>
              <a:rPr lang="en-US" b="1" dirty="0" smtClean="0">
                <a:solidFill>
                  <a:schemeClr val="tx1"/>
                </a:solidFill>
                <a:latin typeface="Centaur" panose="02030504050205020304" pitchFamily="18" charset="0"/>
              </a:rPr>
              <a:t>  HALEEMA </a:t>
            </a:r>
            <a:r>
              <a:rPr lang="en-US" b="1" dirty="0">
                <a:solidFill>
                  <a:schemeClr val="tx1"/>
                </a:solidFill>
                <a:latin typeface="Centaur" panose="02030504050205020304" pitchFamily="18" charset="0"/>
              </a:rPr>
              <a:t>SADIYA	20L51A1213</a:t>
            </a:r>
          </a:p>
          <a:p>
            <a:pPr marL="0" indent="0" algn="ctr">
              <a:buNone/>
            </a:pPr>
            <a:endParaRPr lang="en-US" dirty="0">
              <a:solidFill>
                <a:schemeClr val="tx1"/>
              </a:solidFill>
            </a:endParaRPr>
          </a:p>
          <a:p>
            <a:pPr marL="0" indent="0" algn="ctr">
              <a:buNone/>
            </a:pPr>
            <a:endParaRPr lang="en-US" dirty="0">
              <a:solidFill>
                <a:schemeClr val="tx1"/>
              </a:solidFill>
            </a:endParaRPr>
          </a:p>
          <a:p>
            <a:pPr marL="0" indent="0" algn="ctr">
              <a:buNone/>
            </a:pPr>
            <a:endParaRPr lang="en-US" dirty="0">
              <a:solidFill>
                <a:schemeClr val="tx1"/>
              </a:solidFill>
            </a:endParaRPr>
          </a:p>
          <a:p>
            <a:pPr marL="0" indent="0" algn="ctr">
              <a:buNone/>
            </a:pPr>
            <a:endParaRPr lang="en-US" dirty="0">
              <a:solidFill>
                <a:schemeClr val="tx1"/>
              </a:solidFill>
            </a:endParaRPr>
          </a:p>
          <a:p>
            <a:pPr marL="0" indent="0" algn="ctr">
              <a:buNone/>
            </a:pPr>
            <a:endParaRPr lang="en-US" b="1" dirty="0">
              <a:solidFill>
                <a:schemeClr val="tx1"/>
              </a:solidFill>
            </a:endParaRPr>
          </a:p>
          <a:p>
            <a:pPr marL="0" indent="0" algn="ctr">
              <a:buNone/>
            </a:pPr>
            <a:r>
              <a:rPr lang="en-US" b="1" dirty="0">
                <a:solidFill>
                  <a:schemeClr val="tx1"/>
                </a:solidFill>
              </a:rPr>
              <a:t>Department of Information Technology</a:t>
            </a:r>
          </a:p>
          <a:p>
            <a:pPr marL="0" indent="0" algn="ctr">
              <a:buNone/>
            </a:pPr>
            <a:r>
              <a:rPr lang="en-US" dirty="0">
                <a:solidFill>
                  <a:schemeClr val="tx1"/>
                </a:solidFill>
                <a:latin typeface="Centaur" panose="02030504050205020304" pitchFamily="18" charset="0"/>
              </a:rPr>
              <a:t>Shadan Women’s College of Engineering and Technology, Khairatabad,</a:t>
            </a:r>
          </a:p>
          <a:p>
            <a:pPr marL="0" indent="0" algn="ctr">
              <a:buNone/>
            </a:pPr>
            <a:r>
              <a:rPr lang="en-US" dirty="0">
                <a:solidFill>
                  <a:schemeClr val="tx1"/>
                </a:solidFill>
                <a:latin typeface="Centaur" panose="02030504050205020304" pitchFamily="18" charset="0"/>
              </a:rPr>
              <a:t>Hyderabad-500 004</a:t>
            </a:r>
          </a:p>
          <a:p>
            <a:pPr marL="0" indent="0" algn="ctr">
              <a:buNone/>
            </a:pPr>
            <a:r>
              <a:rPr lang="en-US" dirty="0">
                <a:solidFill>
                  <a:schemeClr val="tx1"/>
                </a:solidFill>
                <a:latin typeface="Centaur" panose="02030504050205020304" pitchFamily="18" charset="0"/>
              </a:rPr>
              <a:t>2023-2024</a:t>
            </a:r>
          </a:p>
          <a:p>
            <a:pPr marL="0" indent="0" algn="ctr">
              <a:buNone/>
            </a:pPr>
            <a:endParaRPr lang="en-US" dirty="0">
              <a:solidFill>
                <a:schemeClr val="tx1"/>
              </a:solidFill>
            </a:endParaRPr>
          </a:p>
          <a:p>
            <a:pPr marL="0" indent="0" algn="ctr">
              <a:buNone/>
            </a:pPr>
            <a:endParaRPr lang="en-US" dirty="0">
              <a:solidFill>
                <a:schemeClr val="tx1"/>
              </a:solidFill>
            </a:endParaRPr>
          </a:p>
          <a:p>
            <a:pPr marL="0" indent="0" algn="ctr">
              <a:buNone/>
            </a:pPr>
            <a:endParaRPr lang="en-US" dirty="0">
              <a:solidFill>
                <a:schemeClr val="tx1"/>
              </a:solidFill>
            </a:endParaRPr>
          </a:p>
          <a:p>
            <a:pPr marL="0" indent="0" algn="ctr">
              <a:buNone/>
            </a:pPr>
            <a:endParaRPr lang="en-US" dirty="0">
              <a:solidFill>
                <a:schemeClr val="tx1"/>
              </a:solidFill>
            </a:endParaRPr>
          </a:p>
          <a:p>
            <a:pPr marL="0" indent="0" algn="ctr">
              <a:buNone/>
            </a:pPr>
            <a:endParaRPr lang="en-US" dirty="0">
              <a:solidFill>
                <a:schemeClr val="tx1"/>
              </a:solidFill>
            </a:endParaRPr>
          </a:p>
          <a:p>
            <a:pPr marL="0" indent="0" algn="ctr">
              <a:buNone/>
            </a:pPr>
            <a:endParaRPr lang="en-US" dirty="0">
              <a:solidFill>
                <a:schemeClr val="tx1"/>
              </a:solidFill>
            </a:endParaRPr>
          </a:p>
          <a:p>
            <a:pPr marL="0" indent="0" algn="ctr">
              <a:buNone/>
            </a:pPr>
            <a:endParaRPr lang="en-US" dirty="0">
              <a:solidFill>
                <a:schemeClr val="tx1"/>
              </a:solidFill>
            </a:endParaRPr>
          </a:p>
          <a:p>
            <a:pPr marL="0" indent="0" algn="ctr">
              <a:buNone/>
            </a:pPr>
            <a:endParaRPr lang="en-US" dirty="0">
              <a:solidFill>
                <a:schemeClr val="tx1"/>
              </a:solidFill>
            </a:endParaRPr>
          </a:p>
          <a:p>
            <a:pPr marL="0" indent="0" algn="ctr">
              <a:buNone/>
            </a:pPr>
            <a:endParaRPr lang="en-US" dirty="0">
              <a:solidFill>
                <a:schemeClr val="tx1"/>
              </a:solidFill>
            </a:endParaRPr>
          </a:p>
        </p:txBody>
      </p:sp>
      <p:sp>
        <p:nvSpPr>
          <p:cNvPr id="5" name="Slide Number Placeholder 4">
            <a:extLst>
              <a:ext uri="{FF2B5EF4-FFF2-40B4-BE49-F238E27FC236}">
                <a16:creationId xmlns:a16="http://schemas.microsoft.com/office/drawing/2014/main" xmlns="" id="{68381F16-A5A5-1A4A-2ECC-035B63EB8042}"/>
              </a:ext>
            </a:extLst>
          </p:cNvPr>
          <p:cNvSpPr>
            <a:spLocks noGrp="1"/>
          </p:cNvSpPr>
          <p:nvPr>
            <p:ph type="sldNum" sz="quarter" idx="12"/>
          </p:nvPr>
        </p:nvSpPr>
        <p:spPr/>
        <p:txBody>
          <a:bodyPr/>
          <a:lstStyle/>
          <a:p>
            <a:fld id="{48F63A3B-78C7-47BE-AE5E-E10140E04643}" type="slidenum">
              <a:rPr lang="en-US" smtClean="0"/>
              <a:pPr/>
              <a:t>1</a:t>
            </a:fld>
            <a:endParaRPr lang="en-US" dirty="0"/>
          </a:p>
        </p:txBody>
      </p:sp>
      <p:pic>
        <p:nvPicPr>
          <p:cNvPr id="6" name="Picture 5">
            <a:extLst>
              <a:ext uri="{FF2B5EF4-FFF2-40B4-BE49-F238E27FC236}">
                <a16:creationId xmlns:a16="http://schemas.microsoft.com/office/drawing/2014/main" xmlns="" id="{55B19AAB-9E34-270B-1779-AA4B4B626B2F}"/>
              </a:ext>
            </a:extLst>
          </p:cNvPr>
          <p:cNvPicPr>
            <a:picLocks noChangeAspect="1"/>
          </p:cNvPicPr>
          <p:nvPr/>
        </p:nvPicPr>
        <p:blipFill>
          <a:blip r:embed="rId2"/>
          <a:stretch>
            <a:fillRect/>
          </a:stretch>
        </p:blipFill>
        <p:spPr>
          <a:xfrm>
            <a:off x="5496015" y="3429000"/>
            <a:ext cx="1790812" cy="1505744"/>
          </a:xfrm>
          <a:prstGeom prst="rect">
            <a:avLst/>
          </a:prstGeom>
          <a:ln>
            <a:noFill/>
          </a:ln>
          <a:effectLst>
            <a:softEdge rad="127000"/>
          </a:effectLst>
        </p:spPr>
      </p:pic>
    </p:spTree>
    <p:extLst>
      <p:ext uri="{BB962C8B-B14F-4D97-AF65-F5344CB8AC3E}">
        <p14:creationId xmlns:p14="http://schemas.microsoft.com/office/powerpoint/2010/main" xmlns="" val="360362391"/>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C565E9-D88A-55D3-9D42-BD1C24B6DE9F}"/>
              </a:ext>
            </a:extLst>
          </p:cNvPr>
          <p:cNvSpPr>
            <a:spLocks noGrp="1"/>
          </p:cNvSpPr>
          <p:nvPr>
            <p:ph type="title"/>
          </p:nvPr>
        </p:nvSpPr>
        <p:spPr>
          <a:xfrm>
            <a:off x="456764" y="377952"/>
            <a:ext cx="5693664" cy="768096"/>
          </a:xfrm>
        </p:spPr>
        <p:txBody>
          <a:bodyPr/>
          <a:lstStyle/>
          <a:p>
            <a:r>
              <a:rPr lang="en-US" dirty="0">
                <a:solidFill>
                  <a:schemeClr val="accent4">
                    <a:lumMod val="50000"/>
                  </a:schemeClr>
                </a:solidFill>
                <a:latin typeface="Times New Roman" pitchFamily="18" charset="0"/>
                <a:cs typeface="Times New Roman" pitchFamily="18" charset="0"/>
              </a:rPr>
              <a:t>contents</a:t>
            </a:r>
          </a:p>
        </p:txBody>
      </p:sp>
      <p:sp>
        <p:nvSpPr>
          <p:cNvPr id="3" name="Content Placeholder 2">
            <a:extLst>
              <a:ext uri="{FF2B5EF4-FFF2-40B4-BE49-F238E27FC236}">
                <a16:creationId xmlns:a16="http://schemas.microsoft.com/office/drawing/2014/main" xmlns="" id="{4D1F66E5-D2D7-172B-46BA-FEBFE092CC7F}"/>
              </a:ext>
            </a:extLst>
          </p:cNvPr>
          <p:cNvSpPr>
            <a:spLocks noGrp="1"/>
          </p:cNvSpPr>
          <p:nvPr>
            <p:ph idx="1"/>
          </p:nvPr>
        </p:nvSpPr>
        <p:spPr>
          <a:xfrm>
            <a:off x="860806" y="1319349"/>
            <a:ext cx="5904484" cy="5068387"/>
          </a:xfrm>
        </p:spPr>
        <p:txBody>
          <a:bodyPr/>
          <a:lstStyle/>
          <a:p>
            <a:pPr algn="just">
              <a:buFont typeface="Wingdings" pitchFamily="2" charset="2"/>
              <a:buChar char="q"/>
            </a:pPr>
            <a:r>
              <a:rPr lang="en-US" dirty="0" smtClean="0">
                <a:solidFill>
                  <a:schemeClr val="accent1">
                    <a:lumMod val="50000"/>
                  </a:schemeClr>
                </a:solidFill>
                <a:latin typeface="Times New Roman" pitchFamily="18" charset="0"/>
                <a:cs typeface="Times New Roman" pitchFamily="18" charset="0"/>
              </a:rPr>
              <a:t> Abstract</a:t>
            </a:r>
            <a:endParaRPr lang="en-US" dirty="0">
              <a:solidFill>
                <a:schemeClr val="accent1">
                  <a:lumMod val="50000"/>
                </a:schemeClr>
              </a:solidFill>
              <a:latin typeface="Times New Roman" pitchFamily="18" charset="0"/>
              <a:cs typeface="Times New Roman" pitchFamily="18" charset="0"/>
            </a:endParaRPr>
          </a:p>
          <a:p>
            <a:pPr algn="just">
              <a:buFont typeface="Wingdings" pitchFamily="2" charset="2"/>
              <a:buChar char="q"/>
            </a:pPr>
            <a:r>
              <a:rPr lang="en-US" dirty="0" smtClean="0">
                <a:solidFill>
                  <a:schemeClr val="accent1">
                    <a:lumMod val="50000"/>
                  </a:schemeClr>
                </a:solidFill>
                <a:latin typeface="Times New Roman" pitchFamily="18" charset="0"/>
                <a:cs typeface="Times New Roman" pitchFamily="18" charset="0"/>
              </a:rPr>
              <a:t> Introduction​</a:t>
            </a:r>
            <a:endParaRPr lang="en-US" dirty="0">
              <a:solidFill>
                <a:schemeClr val="accent1">
                  <a:lumMod val="50000"/>
                </a:schemeClr>
              </a:solidFill>
              <a:latin typeface="Times New Roman" pitchFamily="18" charset="0"/>
              <a:cs typeface="Times New Roman" pitchFamily="18" charset="0"/>
            </a:endParaRPr>
          </a:p>
          <a:p>
            <a:pPr algn="just">
              <a:buFont typeface="Wingdings" pitchFamily="2" charset="2"/>
              <a:buChar char="q"/>
            </a:pPr>
            <a:r>
              <a:rPr lang="en-US" dirty="0" smtClean="0">
                <a:solidFill>
                  <a:schemeClr val="accent1">
                    <a:lumMod val="50000"/>
                  </a:schemeClr>
                </a:solidFill>
                <a:latin typeface="Times New Roman" pitchFamily="18" charset="0"/>
                <a:cs typeface="Times New Roman" pitchFamily="18" charset="0"/>
              </a:rPr>
              <a:t> Literature</a:t>
            </a:r>
            <a:endParaRPr lang="en-US" dirty="0">
              <a:solidFill>
                <a:schemeClr val="accent1">
                  <a:lumMod val="50000"/>
                </a:schemeClr>
              </a:solidFill>
              <a:latin typeface="Times New Roman" pitchFamily="18" charset="0"/>
              <a:cs typeface="Times New Roman" pitchFamily="18" charset="0"/>
            </a:endParaRPr>
          </a:p>
          <a:p>
            <a:pPr algn="just">
              <a:buFont typeface="Wingdings" pitchFamily="2" charset="2"/>
              <a:buChar char="q"/>
            </a:pPr>
            <a:r>
              <a:rPr lang="en-US" dirty="0" smtClean="0">
                <a:solidFill>
                  <a:schemeClr val="accent1">
                    <a:lumMod val="50000"/>
                  </a:schemeClr>
                </a:solidFill>
                <a:latin typeface="Times New Roman" pitchFamily="18" charset="0"/>
                <a:cs typeface="Times New Roman" pitchFamily="18" charset="0"/>
              </a:rPr>
              <a:t>​ Description</a:t>
            </a:r>
            <a:endParaRPr lang="en-US" dirty="0">
              <a:solidFill>
                <a:schemeClr val="accent1">
                  <a:lumMod val="50000"/>
                </a:schemeClr>
              </a:solidFill>
              <a:latin typeface="Times New Roman" pitchFamily="18" charset="0"/>
              <a:cs typeface="Times New Roman" pitchFamily="18" charset="0"/>
            </a:endParaRPr>
          </a:p>
          <a:p>
            <a:pPr algn="just">
              <a:buFont typeface="Wingdings" pitchFamily="2" charset="2"/>
              <a:buChar char="q"/>
            </a:pPr>
            <a:r>
              <a:rPr lang="en-US" dirty="0" smtClean="0">
                <a:solidFill>
                  <a:schemeClr val="accent1">
                    <a:lumMod val="50000"/>
                  </a:schemeClr>
                </a:solidFill>
                <a:latin typeface="Times New Roman" pitchFamily="18" charset="0"/>
                <a:cs typeface="Times New Roman" pitchFamily="18" charset="0"/>
              </a:rPr>
              <a:t> Conclusion</a:t>
            </a:r>
          </a:p>
          <a:p>
            <a:pPr algn="just">
              <a:buFont typeface="Wingdings" pitchFamily="2" charset="2"/>
              <a:buChar char="q"/>
            </a:pPr>
            <a:r>
              <a:rPr lang="en-US" dirty="0" smtClean="0">
                <a:solidFill>
                  <a:schemeClr val="accent1">
                    <a:lumMod val="50000"/>
                  </a:schemeClr>
                </a:solidFill>
                <a:latin typeface="Times New Roman" pitchFamily="18" charset="0"/>
                <a:cs typeface="Times New Roman" pitchFamily="18" charset="0"/>
              </a:rPr>
              <a:t>Existing system of R-CNN</a:t>
            </a:r>
          </a:p>
          <a:p>
            <a:pPr algn="just">
              <a:buFont typeface="Wingdings" pitchFamily="2" charset="2"/>
              <a:buChar char="q"/>
            </a:pPr>
            <a:r>
              <a:rPr lang="en-US" dirty="0" smtClean="0">
                <a:solidFill>
                  <a:schemeClr val="accent1">
                    <a:lumMod val="50000"/>
                  </a:schemeClr>
                </a:solidFill>
                <a:latin typeface="Times New Roman" pitchFamily="18" charset="0"/>
                <a:cs typeface="Times New Roman" pitchFamily="18" charset="0"/>
              </a:rPr>
              <a:t>Working of R-CNN</a:t>
            </a:r>
          </a:p>
          <a:p>
            <a:pPr algn="just">
              <a:buFont typeface="Wingdings" pitchFamily="2" charset="2"/>
              <a:buChar char="q"/>
            </a:pPr>
            <a:r>
              <a:rPr lang="en-US" dirty="0" smtClean="0">
                <a:solidFill>
                  <a:schemeClr val="accent1">
                    <a:lumMod val="50000"/>
                  </a:schemeClr>
                </a:solidFill>
                <a:latin typeface="Times New Roman" pitchFamily="18" charset="0"/>
                <a:cs typeface="Times New Roman" pitchFamily="18" charset="0"/>
              </a:rPr>
              <a:t>Architecture of R-CNN</a:t>
            </a:r>
            <a:endParaRPr lang="en-US" dirty="0" smtClean="0">
              <a:solidFill>
                <a:schemeClr val="accent1">
                  <a:lumMod val="50000"/>
                </a:schemeClr>
              </a:solidFill>
              <a:latin typeface="Times New Roman" pitchFamily="18" charset="0"/>
              <a:cs typeface="Times New Roman" pitchFamily="18" charset="0"/>
            </a:endParaRPr>
          </a:p>
          <a:p>
            <a:pPr algn="just">
              <a:buFont typeface="Wingdings" pitchFamily="2" charset="2"/>
              <a:buChar char="q"/>
            </a:pPr>
            <a:r>
              <a:rPr lang="en-US" dirty="0" smtClean="0">
                <a:solidFill>
                  <a:schemeClr val="accent1">
                    <a:lumMod val="50000"/>
                  </a:schemeClr>
                </a:solidFill>
                <a:latin typeface="Times New Roman" pitchFamily="18" charset="0"/>
                <a:cs typeface="Times New Roman" pitchFamily="18" charset="0"/>
              </a:rPr>
              <a:t> Proposed method</a:t>
            </a:r>
            <a:endParaRPr lang="en-US" dirty="0">
              <a:solidFill>
                <a:schemeClr val="accent1">
                  <a:lumMod val="50000"/>
                </a:schemeClr>
              </a:solidFill>
              <a:latin typeface="Times New Roman" pitchFamily="18" charset="0"/>
              <a:cs typeface="Times New Roman" pitchFamily="18" charset="0"/>
            </a:endParaRPr>
          </a:p>
          <a:p>
            <a:endParaRPr lang="en-US" dirty="0"/>
          </a:p>
          <a:p>
            <a:endParaRPr lang="en-US" dirty="0"/>
          </a:p>
        </p:txBody>
      </p:sp>
    </p:spTree>
    <p:extLst>
      <p:ext uri="{BB962C8B-B14F-4D97-AF65-F5344CB8AC3E}">
        <p14:creationId xmlns:p14="http://schemas.microsoft.com/office/powerpoint/2010/main" xmlns="" val="3855531800"/>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DBB916-9DA5-3C97-724A-838BF3C63C91}"/>
              </a:ext>
            </a:extLst>
          </p:cNvPr>
          <p:cNvSpPr>
            <a:spLocks noGrp="1"/>
          </p:cNvSpPr>
          <p:nvPr>
            <p:ph type="title"/>
          </p:nvPr>
        </p:nvSpPr>
        <p:spPr>
          <a:xfrm>
            <a:off x="857525" y="783771"/>
            <a:ext cx="5693664" cy="768096"/>
          </a:xfrm>
        </p:spPr>
        <p:txBody>
          <a:bodyPr/>
          <a:lstStyle/>
          <a:p>
            <a:pPr algn="ctr"/>
            <a:r>
              <a:rPr lang="en-US" sz="3600" dirty="0">
                <a:solidFill>
                  <a:schemeClr val="accent4">
                    <a:lumMod val="50000"/>
                  </a:schemeClr>
                </a:solidFill>
                <a:latin typeface="Times New Roman" pitchFamily="18" charset="0"/>
                <a:cs typeface="Times New Roman" pitchFamily="18" charset="0"/>
              </a:rPr>
              <a:t>Abstract</a:t>
            </a:r>
          </a:p>
        </p:txBody>
      </p:sp>
      <p:sp>
        <p:nvSpPr>
          <p:cNvPr id="3" name="Content Placeholder 2">
            <a:extLst>
              <a:ext uri="{FF2B5EF4-FFF2-40B4-BE49-F238E27FC236}">
                <a16:creationId xmlns:a16="http://schemas.microsoft.com/office/drawing/2014/main" xmlns="" id="{2709C435-CEA1-4B24-2204-C407E2E3E93E}"/>
              </a:ext>
            </a:extLst>
          </p:cNvPr>
          <p:cNvSpPr>
            <a:spLocks noGrp="1"/>
          </p:cNvSpPr>
          <p:nvPr>
            <p:ph idx="1"/>
          </p:nvPr>
        </p:nvSpPr>
        <p:spPr>
          <a:xfrm>
            <a:off x="692331" y="1789611"/>
            <a:ext cx="6500949" cy="4103189"/>
          </a:xfrm>
        </p:spPr>
        <p:txBody>
          <a:bodyPr/>
          <a:lstStyle/>
          <a:p>
            <a:pPr marL="285750" indent="-285750">
              <a:buFont typeface="Arial" panose="020B0604020202020204" pitchFamily="34" charset="0"/>
              <a:buChar char="•"/>
            </a:pPr>
            <a:r>
              <a:rPr lang="en-US" sz="1600" b="0" i="0" dirty="0">
                <a:solidFill>
                  <a:srgbClr val="0F0F0F"/>
                </a:solidFill>
                <a:effectLst/>
                <a:latin typeface="+mj-lt"/>
              </a:rPr>
              <a:t>This research presents a novel approach for ship detection leveraging the Faster R-CNN (Region-based Convolutional Neural Network) framework applied to range-compressed airborne radar data. </a:t>
            </a:r>
            <a:endParaRPr lang="en-US" sz="1600" dirty="0" smtClean="0">
              <a:solidFill>
                <a:srgbClr val="0F0F0F"/>
              </a:solidFill>
              <a:latin typeface="+mj-lt"/>
            </a:endParaRPr>
          </a:p>
          <a:p>
            <a:pPr marL="285750" indent="-285750"/>
            <a:endParaRPr lang="en-US" sz="1600" b="0" i="0" dirty="0">
              <a:solidFill>
                <a:srgbClr val="0F0F0F"/>
              </a:solidFill>
              <a:effectLst/>
              <a:latin typeface="+mj-lt"/>
            </a:endParaRPr>
          </a:p>
          <a:p>
            <a:pPr marL="285750" indent="-285750">
              <a:buFont typeface="Arial" panose="020B0604020202020204" pitchFamily="34" charset="0"/>
              <a:buChar char="•"/>
            </a:pPr>
            <a:r>
              <a:rPr lang="en-US" sz="1600" b="0" i="0" dirty="0">
                <a:solidFill>
                  <a:srgbClr val="0F0F0F"/>
                </a:solidFill>
                <a:effectLst/>
                <a:latin typeface="+mj-lt"/>
              </a:rPr>
              <a:t>The integration of deep learning techniques with radar data offers an efficient and automated solution for identifying and locating maritime vessels in diverse environmental conditions</a:t>
            </a:r>
            <a:r>
              <a:rPr lang="en-US" sz="1600" b="0" i="0" dirty="0" smtClean="0">
                <a:solidFill>
                  <a:srgbClr val="0F0F0F"/>
                </a:solidFill>
                <a:effectLst/>
                <a:latin typeface="+mj-lt"/>
              </a:rPr>
              <a:t>.</a:t>
            </a:r>
            <a:endParaRPr lang="en-US" sz="1600" dirty="0" smtClean="0">
              <a:solidFill>
                <a:srgbClr val="0F0F0F"/>
              </a:solidFill>
              <a:latin typeface="+mj-lt"/>
            </a:endParaRPr>
          </a:p>
          <a:p>
            <a:pPr marL="285750" indent="-285750"/>
            <a:endParaRPr lang="en-US" sz="1600" b="0" i="0" dirty="0">
              <a:solidFill>
                <a:srgbClr val="0F0F0F"/>
              </a:solidFill>
              <a:effectLst/>
              <a:latin typeface="+mj-lt"/>
            </a:endParaRPr>
          </a:p>
          <a:p>
            <a:pPr marL="285750" indent="-285750">
              <a:buFont typeface="Arial" panose="020B0604020202020204" pitchFamily="34" charset="0"/>
              <a:buChar char="•"/>
            </a:pPr>
            <a:r>
              <a:rPr lang="en-US" sz="1600" b="0" i="0" dirty="0">
                <a:solidFill>
                  <a:srgbClr val="0F0F0F"/>
                </a:solidFill>
                <a:effectLst/>
                <a:latin typeface="+mj-lt"/>
              </a:rPr>
              <a:t>The proposed system harnesses the advantages of Faster R-CNN, incorporating a Region Proposal Network (RPN) for bounding box generation and a Fast R-CNN detector for accurate ship classification. </a:t>
            </a:r>
            <a:endParaRPr lang="en-US" sz="1600" dirty="0">
              <a:latin typeface="+mj-lt"/>
            </a:endParaRPr>
          </a:p>
        </p:txBody>
      </p:sp>
    </p:spTree>
    <p:extLst>
      <p:ext uri="{BB962C8B-B14F-4D97-AF65-F5344CB8AC3E}">
        <p14:creationId xmlns:p14="http://schemas.microsoft.com/office/powerpoint/2010/main" xmlns="" val="3370229157"/>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940BC6-9DA0-FB4D-8879-DC8B3958C07C}"/>
              </a:ext>
            </a:extLst>
          </p:cNvPr>
          <p:cNvSpPr>
            <a:spLocks noGrp="1"/>
          </p:cNvSpPr>
          <p:nvPr>
            <p:ph type="title"/>
          </p:nvPr>
        </p:nvSpPr>
        <p:spPr>
          <a:xfrm>
            <a:off x="4178808" y="709715"/>
            <a:ext cx="6766560" cy="592250"/>
          </a:xfrm>
        </p:spPr>
        <p:txBody>
          <a:bodyPr/>
          <a:lstStyle/>
          <a:p>
            <a:pPr algn="ctr"/>
            <a:r>
              <a:rPr lang="en-US" sz="4000" dirty="0">
                <a:solidFill>
                  <a:schemeClr val="accent1">
                    <a:lumMod val="50000"/>
                  </a:schemeClr>
                </a:solidFill>
                <a:latin typeface="Times New Roman" pitchFamily="18" charset="0"/>
                <a:cs typeface="Times New Roman" pitchFamily="18" charset="0"/>
              </a:rPr>
              <a:t>Introduction</a:t>
            </a:r>
          </a:p>
        </p:txBody>
      </p:sp>
      <p:sp>
        <p:nvSpPr>
          <p:cNvPr id="3" name="Content Placeholder 2">
            <a:extLst>
              <a:ext uri="{FF2B5EF4-FFF2-40B4-BE49-F238E27FC236}">
                <a16:creationId xmlns:a16="http://schemas.microsoft.com/office/drawing/2014/main" xmlns="" id="{1E0B8C4B-3A3C-9FD1-59FB-1666C1F09376}"/>
              </a:ext>
            </a:extLst>
          </p:cNvPr>
          <p:cNvSpPr>
            <a:spLocks noGrp="1"/>
          </p:cNvSpPr>
          <p:nvPr>
            <p:ph idx="1"/>
          </p:nvPr>
        </p:nvSpPr>
        <p:spPr>
          <a:xfrm>
            <a:off x="3626005" y="1598090"/>
            <a:ext cx="7934623" cy="4567579"/>
          </a:xfrm>
        </p:spPr>
        <p:txBody>
          <a:bodyPr/>
          <a:lstStyle/>
          <a:p>
            <a:pPr algn="l">
              <a:buFont typeface="Wingdings" pitchFamily="2" charset="2"/>
              <a:buChar char="Ø"/>
            </a:pPr>
            <a:r>
              <a:rPr lang="en-US" sz="1400" b="1" i="0" dirty="0">
                <a:solidFill>
                  <a:schemeClr val="tx1"/>
                </a:solidFill>
                <a:effectLst/>
              </a:rPr>
              <a:t> Ship Detection</a:t>
            </a:r>
            <a:r>
              <a:rPr lang="en-US" sz="1400" b="1" i="0" dirty="0" smtClean="0">
                <a:solidFill>
                  <a:schemeClr val="tx1"/>
                </a:solidFill>
                <a:effectLst/>
              </a:rPr>
              <a:t>:</a:t>
            </a:r>
            <a:endParaRPr lang="en-US" sz="1400" b="1" i="0" dirty="0">
              <a:solidFill>
                <a:schemeClr val="tx1"/>
              </a:solidFill>
              <a:effectLst/>
            </a:endParaRPr>
          </a:p>
          <a:p>
            <a:pPr marL="742950" lvl="1" indent="-285750" algn="just">
              <a:buFont typeface="+mj-lt"/>
              <a:buAutoNum type="arabicPeriod"/>
            </a:pPr>
            <a:r>
              <a:rPr lang="en-US" sz="1400" b="0" i="0" dirty="0">
                <a:solidFill>
                  <a:schemeClr val="tx1"/>
                </a:solidFill>
                <a:effectLst/>
              </a:rPr>
              <a:t>The primary goal is to identify the presence and location of ships within a given scene or image</a:t>
            </a:r>
            <a:r>
              <a:rPr lang="en-US" sz="1400" b="0" i="0" dirty="0" smtClean="0">
                <a:solidFill>
                  <a:schemeClr val="tx1"/>
                </a:solidFill>
                <a:effectLst/>
              </a:rPr>
              <a:t>.</a:t>
            </a:r>
            <a:endParaRPr lang="en-US" sz="1400" dirty="0" smtClean="0">
              <a:solidFill>
                <a:schemeClr val="tx1"/>
              </a:solidFill>
            </a:endParaRPr>
          </a:p>
          <a:p>
            <a:pPr marL="742950" lvl="1" indent="-285750" algn="just">
              <a:buNone/>
            </a:pPr>
            <a:endParaRPr lang="en-US" sz="1400" b="0" i="0" dirty="0">
              <a:solidFill>
                <a:schemeClr val="tx1"/>
              </a:solidFill>
              <a:effectLst/>
            </a:endParaRPr>
          </a:p>
          <a:p>
            <a:pPr algn="just">
              <a:buFont typeface="Wingdings" pitchFamily="2" charset="2"/>
              <a:buChar char="Ø"/>
            </a:pPr>
            <a:r>
              <a:rPr lang="en-US" sz="1400" b="1" dirty="0">
                <a:solidFill>
                  <a:schemeClr val="tx1"/>
                </a:solidFill>
              </a:rPr>
              <a:t> </a:t>
            </a:r>
            <a:r>
              <a:rPr lang="en-US" sz="1400" b="1" i="0" dirty="0" smtClean="0">
                <a:solidFill>
                  <a:schemeClr val="tx1"/>
                </a:solidFill>
                <a:effectLst/>
              </a:rPr>
              <a:t>Faster </a:t>
            </a:r>
            <a:r>
              <a:rPr lang="en-US" sz="1400" b="1" i="0" dirty="0">
                <a:solidFill>
                  <a:schemeClr val="tx1"/>
                </a:solidFill>
                <a:effectLst/>
              </a:rPr>
              <a:t>R-CNN</a:t>
            </a:r>
            <a:r>
              <a:rPr lang="en-US" sz="1400" b="1" i="0" dirty="0" smtClean="0">
                <a:solidFill>
                  <a:schemeClr val="tx1"/>
                </a:solidFill>
                <a:effectLst/>
              </a:rPr>
              <a:t>:</a:t>
            </a:r>
            <a:endParaRPr lang="en-US" sz="1400" b="0" i="0" dirty="0">
              <a:solidFill>
                <a:schemeClr val="tx1"/>
              </a:solidFill>
              <a:effectLst/>
            </a:endParaRPr>
          </a:p>
          <a:p>
            <a:pPr marL="742950" lvl="1" indent="-285750" algn="just">
              <a:buFont typeface="+mj-lt"/>
              <a:buAutoNum type="arabicPeriod"/>
            </a:pPr>
            <a:r>
              <a:rPr lang="en-US" sz="1400" b="0" i="0" dirty="0">
                <a:solidFill>
                  <a:schemeClr val="tx1"/>
                </a:solidFill>
                <a:effectLst/>
              </a:rPr>
              <a:t>Faster R-CNN is a deep-learning framework for object detection. It is an extension of the original R-CNN (Region-based Convolutional Neural Network) and improves its speed</a:t>
            </a:r>
            <a:r>
              <a:rPr lang="en-US" sz="1400" b="0" i="0" dirty="0" smtClean="0">
                <a:solidFill>
                  <a:schemeClr val="tx1"/>
                </a:solidFill>
                <a:effectLst/>
              </a:rPr>
              <a:t>.</a:t>
            </a:r>
          </a:p>
          <a:p>
            <a:pPr marL="742950" lvl="1" indent="-285750" algn="just">
              <a:buNone/>
            </a:pPr>
            <a:endParaRPr lang="en-US" sz="1400" b="0" i="0" dirty="0">
              <a:solidFill>
                <a:schemeClr val="tx1"/>
              </a:solidFill>
              <a:effectLst/>
            </a:endParaRPr>
          </a:p>
          <a:p>
            <a:pPr algn="just">
              <a:buFont typeface="Wingdings" pitchFamily="2" charset="2"/>
              <a:buChar char="Ø"/>
            </a:pPr>
            <a:r>
              <a:rPr lang="en-US" sz="1400" b="1" dirty="0" smtClean="0">
                <a:solidFill>
                  <a:schemeClr val="tx1"/>
                </a:solidFill>
              </a:rPr>
              <a:t> </a:t>
            </a:r>
            <a:r>
              <a:rPr lang="en-US" sz="1400" b="1" i="0" dirty="0" smtClean="0">
                <a:solidFill>
                  <a:schemeClr val="tx1"/>
                </a:solidFill>
                <a:effectLst/>
              </a:rPr>
              <a:t>Range-Compressed </a:t>
            </a:r>
            <a:r>
              <a:rPr lang="en-US" sz="1400" b="1" i="0" dirty="0">
                <a:solidFill>
                  <a:schemeClr val="tx1"/>
                </a:solidFill>
                <a:effectLst/>
              </a:rPr>
              <a:t>Airborne Radar Data:</a:t>
            </a:r>
            <a:endParaRPr lang="en-US" sz="1400" b="0" i="0" dirty="0">
              <a:solidFill>
                <a:schemeClr val="tx1"/>
              </a:solidFill>
              <a:effectLst/>
            </a:endParaRPr>
          </a:p>
          <a:p>
            <a:pPr marL="742950" lvl="1" indent="-285750" algn="just">
              <a:buFont typeface="+mj-lt"/>
              <a:buAutoNum type="arabicPeriod"/>
            </a:pPr>
            <a:r>
              <a:rPr lang="en-US" sz="1400" b="0" i="0" dirty="0">
                <a:solidFill>
                  <a:schemeClr val="tx1"/>
                </a:solidFill>
                <a:effectLst/>
              </a:rPr>
              <a:t>Range compression is a technique used in radar signal processing to enhance the target range resolution.</a:t>
            </a:r>
          </a:p>
          <a:p>
            <a:pPr marL="742950" lvl="1" indent="-285750" algn="just">
              <a:buFont typeface="+mj-lt"/>
              <a:buAutoNum type="arabicPeriod"/>
            </a:pPr>
            <a:r>
              <a:rPr lang="en-US" sz="1400" b="0" i="0" dirty="0">
                <a:solidFill>
                  <a:schemeClr val="tx1"/>
                </a:solidFill>
                <a:effectLst/>
              </a:rPr>
              <a:t>Airborne radar data suggests that the radar is mounted on an airborne platform (such as an aircraft or drone) and collects data from an elevated position</a:t>
            </a:r>
            <a:r>
              <a:rPr lang="en-US" sz="1400" b="0" i="0" dirty="0" smtClean="0">
                <a:solidFill>
                  <a:schemeClr val="tx1"/>
                </a:solidFill>
                <a:effectLst/>
              </a:rPr>
              <a:t>.</a:t>
            </a:r>
          </a:p>
          <a:p>
            <a:pPr marL="742950" lvl="1" indent="-285750" algn="just">
              <a:buNone/>
            </a:pPr>
            <a:endParaRPr lang="en-US" sz="1400" b="0" i="0" dirty="0">
              <a:solidFill>
                <a:schemeClr val="tx1"/>
              </a:solidFill>
              <a:effectLst/>
            </a:endParaRPr>
          </a:p>
          <a:p>
            <a:pPr algn="just">
              <a:buFont typeface="Wingdings" pitchFamily="2" charset="2"/>
              <a:buChar char="Ø"/>
            </a:pPr>
            <a:r>
              <a:rPr lang="en-US" sz="1400" b="1" i="0" dirty="0" smtClean="0">
                <a:solidFill>
                  <a:schemeClr val="tx1"/>
                </a:solidFill>
                <a:effectLst/>
              </a:rPr>
              <a:t> </a:t>
            </a:r>
            <a:r>
              <a:rPr lang="en-US" sz="1400" b="1" i="0" dirty="0">
                <a:solidFill>
                  <a:schemeClr val="tx1"/>
                </a:solidFill>
                <a:effectLst/>
              </a:rPr>
              <a:t>Integration of Faster R-CNN with Radar Data:</a:t>
            </a:r>
            <a:endParaRPr lang="en-US" sz="1400" b="0" i="0" dirty="0">
              <a:solidFill>
                <a:schemeClr val="tx1"/>
              </a:solidFill>
              <a:effectLst/>
            </a:endParaRPr>
          </a:p>
          <a:p>
            <a:pPr marL="742950" lvl="1" indent="-285750" algn="just">
              <a:buFont typeface="+mj-lt"/>
              <a:buAutoNum type="arabicPeriod"/>
            </a:pPr>
            <a:r>
              <a:rPr lang="en-US" sz="1400" b="0" i="0" dirty="0">
                <a:solidFill>
                  <a:schemeClr val="tx1"/>
                </a:solidFill>
                <a:effectLst/>
              </a:rPr>
              <a:t>The Faster R-CNN algorithm is adapted or designed to work with radar data, specifically range-compressed airborne radar data.</a:t>
            </a:r>
          </a:p>
          <a:p>
            <a:pPr marL="742950" lvl="1" indent="-285750" algn="just">
              <a:buFont typeface="+mj-lt"/>
              <a:buAutoNum type="arabicPeriod"/>
            </a:pPr>
            <a:r>
              <a:rPr lang="en-US" sz="1400" b="0" i="0" dirty="0">
                <a:solidFill>
                  <a:schemeClr val="tx1"/>
                </a:solidFill>
                <a:effectLst/>
              </a:rPr>
              <a:t>The radar data likely provides information about the distance to the targets (ships), and the Faster R-CNN model is trained to analyze and detect ships based on this radar data.</a:t>
            </a:r>
          </a:p>
          <a:p>
            <a:endParaRPr lang="en-US" sz="1400" dirty="0">
              <a:solidFill>
                <a:schemeClr val="tx1"/>
              </a:solidFill>
            </a:endParaRPr>
          </a:p>
        </p:txBody>
      </p:sp>
      <p:sp>
        <p:nvSpPr>
          <p:cNvPr id="14" name="Footer Placeholder 13">
            <a:extLst>
              <a:ext uri="{FF2B5EF4-FFF2-40B4-BE49-F238E27FC236}">
                <a16:creationId xmlns:a16="http://schemas.microsoft.com/office/drawing/2014/main" xmlns="" id="{03571BF2-FCCE-E7A0-736D-9168D2BBFF63}"/>
              </a:ext>
            </a:extLst>
          </p:cNvPr>
          <p:cNvSpPr>
            <a:spLocks noGrp="1"/>
          </p:cNvSpPr>
          <p:nvPr>
            <p:ph type="ftr" sz="quarter" idx="11"/>
          </p:nvPr>
        </p:nvSpPr>
        <p:spPr>
          <a:xfrm>
            <a:off x="5944302" y="35169"/>
            <a:ext cx="5988618" cy="422032"/>
          </a:xfrm>
        </p:spPr>
        <p:txBody>
          <a:bodyPr/>
          <a:lstStyle/>
          <a:p>
            <a:pPr algn="r"/>
            <a:r>
              <a:rPr lang="en-US" sz="1200" dirty="0">
                <a:solidFill>
                  <a:schemeClr val="tx1"/>
                </a:solidFill>
                <a:latin typeface="Times New Roman" panose="02020603050405020304" pitchFamily="18" charset="0"/>
                <a:cs typeface="Times New Roman" panose="02020603050405020304" pitchFamily="18" charset="0"/>
              </a:rPr>
              <a:t>Ship Detection Based on Faster R-CNN Using Range-Compressed Airborne Radar Data</a:t>
            </a:r>
            <a:endParaRPr lang="en-US" dirty="0"/>
          </a:p>
        </p:txBody>
      </p:sp>
      <p:sp>
        <p:nvSpPr>
          <p:cNvPr id="15" name="Slide Number Placeholder 14">
            <a:extLst>
              <a:ext uri="{FF2B5EF4-FFF2-40B4-BE49-F238E27FC236}">
                <a16:creationId xmlns:a16="http://schemas.microsoft.com/office/drawing/2014/main" xmlns="" id="{7FC3FD3F-45EE-74E3-AD64-441303B83EF3}"/>
              </a:ext>
            </a:extLst>
          </p:cNvPr>
          <p:cNvSpPr>
            <a:spLocks noGrp="1"/>
          </p:cNvSpPr>
          <p:nvPr>
            <p:ph type="sldNum" sz="quarter" idx="12"/>
          </p:nvPr>
        </p:nvSpPr>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xmlns="" val="979622006"/>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pattFill prst="pct20">
          <a:fgClr>
            <a:schemeClr val="accent2">
              <a:lumMod val="60000"/>
              <a:lumOff val="40000"/>
            </a:schemeClr>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4B311B-3177-0658-3585-6639F26A9BF6}"/>
              </a:ext>
            </a:extLst>
          </p:cNvPr>
          <p:cNvSpPr>
            <a:spLocks noGrp="1"/>
          </p:cNvSpPr>
          <p:nvPr>
            <p:ph type="title"/>
          </p:nvPr>
        </p:nvSpPr>
        <p:spPr>
          <a:xfrm>
            <a:off x="1" y="63818"/>
            <a:ext cx="4213098" cy="618744"/>
          </a:xfrm>
        </p:spPr>
        <p:txBody>
          <a:bodyPr/>
          <a:lstStyle/>
          <a:p>
            <a:r>
              <a:rPr lang="en-US" sz="2400" b="1" dirty="0">
                <a:solidFill>
                  <a:schemeClr val="tx2">
                    <a:lumMod val="60000"/>
                    <a:lumOff val="40000"/>
                  </a:schemeClr>
                </a:solidFill>
                <a:latin typeface="Arial Black" panose="020B0604020202020204" pitchFamily="34" charset="0"/>
                <a:cs typeface="Arial Black" panose="020B0604020202020204" pitchFamily="34" charset="0"/>
              </a:rPr>
              <a:t>Literature</a:t>
            </a:r>
          </a:p>
        </p:txBody>
      </p:sp>
      <p:graphicFrame>
        <p:nvGraphicFramePr>
          <p:cNvPr id="6" name="Table 4">
            <a:extLst>
              <a:ext uri="{FF2B5EF4-FFF2-40B4-BE49-F238E27FC236}">
                <a16:creationId xmlns:a16="http://schemas.microsoft.com/office/drawing/2014/main" xmlns="" id="{705AB9BF-07E9-9DED-DB8B-F644759C8FDC}"/>
              </a:ext>
            </a:extLst>
          </p:cNvPr>
          <p:cNvGraphicFramePr>
            <a:graphicFrameLocks noGrp="1"/>
          </p:cNvGraphicFramePr>
          <p:nvPr>
            <p:ph sz="half" idx="1"/>
            <p:extLst>
              <p:ext uri="{D42A27DB-BD31-4B8C-83A1-F6EECF244321}">
                <p14:modId xmlns:p14="http://schemas.microsoft.com/office/powerpoint/2010/main" xmlns="" val="357387719"/>
              </p:ext>
            </p:extLst>
          </p:nvPr>
        </p:nvGraphicFramePr>
        <p:xfrm>
          <a:off x="0" y="594360"/>
          <a:ext cx="12192001" cy="6069949"/>
        </p:xfrm>
        <a:graphic>
          <a:graphicData uri="http://schemas.openxmlformats.org/drawingml/2006/table">
            <a:tbl>
              <a:tblPr firstRow="1" bandRow="1">
                <a:tableStyleId>{00A15C55-8517-42AA-B614-E9B94910E393}</a:tableStyleId>
              </a:tblPr>
              <a:tblGrid>
                <a:gridCol w="2724905">
                  <a:extLst>
                    <a:ext uri="{9D8B030D-6E8A-4147-A177-3AD203B41FA5}">
                      <a16:colId xmlns:a16="http://schemas.microsoft.com/office/drawing/2014/main" xmlns="" val="1689330750"/>
                    </a:ext>
                  </a:extLst>
                </a:gridCol>
                <a:gridCol w="3055786">
                  <a:extLst>
                    <a:ext uri="{9D8B030D-6E8A-4147-A177-3AD203B41FA5}">
                      <a16:colId xmlns:a16="http://schemas.microsoft.com/office/drawing/2014/main" xmlns="" val="2660631934"/>
                    </a:ext>
                  </a:extLst>
                </a:gridCol>
                <a:gridCol w="1031571">
                  <a:extLst>
                    <a:ext uri="{9D8B030D-6E8A-4147-A177-3AD203B41FA5}">
                      <a16:colId xmlns:a16="http://schemas.microsoft.com/office/drawing/2014/main" xmlns="" val="3909717689"/>
                    </a:ext>
                  </a:extLst>
                </a:gridCol>
                <a:gridCol w="3182802">
                  <a:extLst>
                    <a:ext uri="{9D8B030D-6E8A-4147-A177-3AD203B41FA5}">
                      <a16:colId xmlns:a16="http://schemas.microsoft.com/office/drawing/2014/main" xmlns="" val="2755691855"/>
                    </a:ext>
                  </a:extLst>
                </a:gridCol>
                <a:gridCol w="2196937">
                  <a:extLst>
                    <a:ext uri="{9D8B030D-6E8A-4147-A177-3AD203B41FA5}">
                      <a16:colId xmlns:a16="http://schemas.microsoft.com/office/drawing/2014/main" xmlns="" val="715660843"/>
                    </a:ext>
                  </a:extLst>
                </a:gridCol>
              </a:tblGrid>
              <a:tr h="419099">
                <a:tc>
                  <a:txBody>
                    <a:bodyPr/>
                    <a:lstStyle/>
                    <a:p>
                      <a:pPr algn="ctr"/>
                      <a:r>
                        <a:rPr lang="en-US" sz="1900" b="1" dirty="0"/>
                        <a:t>Title</a:t>
                      </a:r>
                      <a:endParaRPr lang="en-US" sz="1900" b="1" dirty="0">
                        <a:latin typeface="Sabon Next LT" panose="02000500000000000000" pitchFamily="2" charset="0"/>
                        <a:cs typeface="Sabon Next LT" panose="02000500000000000000" pitchFamily="2" charset="0"/>
                      </a:endParaRPr>
                    </a:p>
                  </a:txBody>
                  <a:tcPr marL="96897" marR="96897" marT="48449" marB="48449" anchor="ctr"/>
                </a:tc>
                <a:tc>
                  <a:txBody>
                    <a:bodyPr/>
                    <a:lstStyle/>
                    <a:p>
                      <a:pPr algn="ctr"/>
                      <a:r>
                        <a:rPr lang="en-US" sz="1900" b="1" kern="1200" dirty="0">
                          <a:solidFill>
                            <a:schemeClr val="bg1">
                              <a:alpha val="99000"/>
                            </a:schemeClr>
                          </a:solidFill>
                        </a:rPr>
                        <a:t>author</a:t>
                      </a:r>
                      <a:endParaRPr lang="en-US" sz="1900" b="1" kern="1200" dirty="0">
                        <a:solidFill>
                          <a:schemeClr val="bg1">
                            <a:alpha val="99000"/>
                          </a:schemeClr>
                        </a:solidFill>
                        <a:latin typeface="Sabon Next LT" panose="02000500000000000000" pitchFamily="2" charset="0"/>
                        <a:ea typeface="+mn-ea"/>
                        <a:cs typeface="Sabon Next LT" panose="02000500000000000000" pitchFamily="2" charset="0"/>
                      </a:endParaRPr>
                    </a:p>
                  </a:txBody>
                  <a:tcPr marL="96897" marR="96897" marT="48449" marB="48449" anchor="ctr"/>
                </a:tc>
                <a:tc>
                  <a:txBody>
                    <a:bodyPr/>
                    <a:lstStyle/>
                    <a:p>
                      <a:pPr algn="ctr"/>
                      <a:r>
                        <a:rPr lang="en-US" sz="1900" b="1" kern="1200" dirty="0">
                          <a:solidFill>
                            <a:schemeClr val="bg1">
                              <a:alpha val="99000"/>
                            </a:schemeClr>
                          </a:solidFill>
                        </a:rPr>
                        <a:t>year</a:t>
                      </a:r>
                      <a:endParaRPr lang="en-US" sz="1900" b="1" kern="1200" dirty="0">
                        <a:solidFill>
                          <a:schemeClr val="bg1">
                            <a:alpha val="99000"/>
                          </a:schemeClr>
                        </a:solidFill>
                        <a:latin typeface="Sabon Next LT" panose="02000500000000000000" pitchFamily="2" charset="0"/>
                        <a:ea typeface="+mn-ea"/>
                        <a:cs typeface="Sabon Next LT" panose="02000500000000000000" pitchFamily="2" charset="0"/>
                      </a:endParaRPr>
                    </a:p>
                  </a:txBody>
                  <a:tcPr marL="96897" marR="96897" marT="48449" marB="48449" anchor="ctr"/>
                </a:tc>
                <a:tc>
                  <a:txBody>
                    <a:bodyPr/>
                    <a:lstStyle/>
                    <a:p>
                      <a:pPr algn="ctr"/>
                      <a:r>
                        <a:rPr lang="en-US" sz="1900" b="1" dirty="0">
                          <a:solidFill>
                            <a:schemeClr val="bg1">
                              <a:alpha val="99000"/>
                            </a:schemeClr>
                          </a:solidFill>
                        </a:rPr>
                        <a:t>method</a:t>
                      </a:r>
                      <a:endParaRPr lang="en-US" sz="1900" b="1" dirty="0">
                        <a:solidFill>
                          <a:schemeClr val="bg1">
                            <a:alpha val="99000"/>
                          </a:schemeClr>
                        </a:solidFill>
                        <a:latin typeface="Sabon Next LT" panose="02000500000000000000" pitchFamily="2" charset="0"/>
                        <a:cs typeface="Sabon Next LT" panose="02000500000000000000" pitchFamily="2" charset="0"/>
                      </a:endParaRPr>
                    </a:p>
                  </a:txBody>
                  <a:tcPr marL="96897" marR="96897" marT="48449" marB="48449" anchor="ctr"/>
                </a:tc>
                <a:tc>
                  <a:txBody>
                    <a:bodyPr/>
                    <a:lstStyle/>
                    <a:p>
                      <a:pPr algn="ctr"/>
                      <a:r>
                        <a:rPr lang="en-US" sz="1900" b="1" dirty="0">
                          <a:solidFill>
                            <a:schemeClr val="bg1">
                              <a:alpha val="99000"/>
                            </a:schemeClr>
                          </a:solidFill>
                        </a:rPr>
                        <a:t>parameters</a:t>
                      </a:r>
                      <a:endParaRPr lang="en-US" sz="1900" b="1" dirty="0">
                        <a:solidFill>
                          <a:schemeClr val="bg1">
                            <a:alpha val="99000"/>
                          </a:schemeClr>
                        </a:solidFill>
                        <a:latin typeface="Sabon Next LT" panose="02000500000000000000" pitchFamily="2" charset="0"/>
                        <a:cs typeface="Sabon Next LT" panose="02000500000000000000" pitchFamily="2" charset="0"/>
                      </a:endParaRPr>
                    </a:p>
                  </a:txBody>
                  <a:tcPr marL="96897" marR="96897" marT="48449" marB="48449" anchor="ctr"/>
                </a:tc>
                <a:extLst>
                  <a:ext uri="{0D108BD9-81ED-4DB2-BD59-A6C34878D82A}">
                    <a16:rowId xmlns:a16="http://schemas.microsoft.com/office/drawing/2014/main" xmlns="" val="479928716"/>
                  </a:ext>
                </a:extLst>
              </a:tr>
              <a:tr h="9456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Agency FB" panose="020B0503020202020204" pitchFamily="34" charset="0"/>
                          <a:ea typeface="+mn-ea"/>
                          <a:cs typeface="+mn-cs"/>
                        </a:rPr>
                        <a:t>1. Ship Detection Based on Faster R-CNN Using Range-Compressed Airborne Radar Data</a:t>
                      </a:r>
                    </a:p>
                  </a:txBody>
                  <a:tcPr marL="96897" marR="96897" marT="48449" marB="48449" anchor="ctr"/>
                </a:tc>
                <a:tc>
                  <a:txBody>
                    <a:bodyPr/>
                    <a:lstStyle/>
                    <a:p>
                      <a:pPr algn="ctr"/>
                      <a:r>
                        <a:rPr lang="en-US" sz="1900" b="1" dirty="0">
                          <a:solidFill>
                            <a:schemeClr val="tx1"/>
                          </a:solidFill>
                          <a:latin typeface="Agency FB" panose="020B0503020202020204" pitchFamily="34" charset="0"/>
                          <a:cs typeface="Sabon Next LT" panose="02000500000000000000" pitchFamily="2" charset="0"/>
                        </a:rPr>
                        <a:t>Tamara loran, Sushil Kumar, Gerhard Krieger</a:t>
                      </a:r>
                    </a:p>
                  </a:txBody>
                  <a:tcPr marL="96897" marR="96897" marT="48449" marB="48449" anchor="ctr"/>
                </a:tc>
                <a:tc>
                  <a:txBody>
                    <a:bodyPr/>
                    <a:lstStyle/>
                    <a:p>
                      <a:pPr algn="ctr"/>
                      <a:r>
                        <a:rPr lang="en-US" sz="1900" b="1" dirty="0">
                          <a:solidFill>
                            <a:schemeClr val="tx1"/>
                          </a:solidFill>
                          <a:latin typeface="Agency FB" panose="020B0503020202020204" pitchFamily="34" charset="0"/>
                          <a:cs typeface="Sabon Next LT" panose="02000500000000000000" pitchFamily="2" charset="0"/>
                        </a:rPr>
                        <a:t>2023</a:t>
                      </a:r>
                    </a:p>
                  </a:txBody>
                  <a:tcPr marL="96897" marR="96897" marT="48449" marB="4844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Agency FB" panose="020B0503020202020204" pitchFamily="34" charset="0"/>
                          <a:ea typeface="+mn-ea"/>
                          <a:cs typeface="+mn-cs"/>
                        </a:rPr>
                        <a:t>Faster R-CNN with different backbones, Constant False Alarm Rate (CFAR) </a:t>
                      </a:r>
                    </a:p>
                  </a:txBody>
                  <a:tcPr marL="96897" marR="96897" marT="48449" marB="4844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Agency FB" panose="020B0503020202020204" pitchFamily="34" charset="0"/>
                          <a:ea typeface="+mn-ea"/>
                          <a:cs typeface="+mn-cs"/>
                        </a:rPr>
                        <a:t>Robustness Metrics, Real-world Applicability</a:t>
                      </a:r>
                    </a:p>
                  </a:txBody>
                  <a:tcPr marL="96897" marR="96897" marT="48449" marB="48449" anchor="ctr"/>
                </a:tc>
                <a:extLst>
                  <a:ext uri="{0D108BD9-81ED-4DB2-BD59-A6C34878D82A}">
                    <a16:rowId xmlns:a16="http://schemas.microsoft.com/office/drawing/2014/main" xmlns="" val="4284091418"/>
                  </a:ext>
                </a:extLst>
              </a:tr>
              <a:tr h="1219417">
                <a:tc>
                  <a:txBody>
                    <a:bodyPr/>
                    <a:lstStyle/>
                    <a:p>
                      <a:pPr algn="ctr"/>
                      <a:r>
                        <a:rPr lang="en-US" sz="2000" dirty="0">
                          <a:latin typeface="Agency FB" panose="020B0503020202020204" pitchFamily="34" charset="0"/>
                        </a:rPr>
                        <a:t>2. The High-Resolution Digital-Beamforming Airborne SAR System DBFSAR </a:t>
                      </a:r>
                      <a:endParaRPr lang="en-US" sz="1900" dirty="0">
                        <a:solidFill>
                          <a:schemeClr val="tx1"/>
                        </a:solidFill>
                        <a:latin typeface="Agency FB" panose="020B0503020202020204" pitchFamily="34" charset="0"/>
                        <a:cs typeface="Sabon Next LT" panose="02000500000000000000" pitchFamily="2" charset="0"/>
                      </a:endParaRPr>
                    </a:p>
                  </a:txBody>
                  <a:tcPr marL="96897" marR="96897" marT="48449" marB="48449" anchor="ctr"/>
                </a:tc>
                <a:tc>
                  <a:txBody>
                    <a:bodyPr/>
                    <a:lstStyle/>
                    <a:p>
                      <a:pPr algn="ctr"/>
                      <a:r>
                        <a:rPr lang="de-DE" sz="2000" dirty="0">
                          <a:latin typeface="Agency FB" panose="020B0503020202020204" pitchFamily="34" charset="0"/>
                        </a:rPr>
                        <a:t>Andreas Reigber * , Eric Schreiber, Kurt Trappschuh, Sebastian Pasch, Gerhard Müller, Daniel Kirchner &amp; co.</a:t>
                      </a:r>
                      <a:endParaRPr lang="en-US" sz="1900" dirty="0">
                        <a:solidFill>
                          <a:schemeClr val="tx1"/>
                        </a:solidFill>
                        <a:latin typeface="Agency FB" panose="020B0503020202020204" pitchFamily="34" charset="0"/>
                        <a:cs typeface="Sabon Next LT" panose="02000500000000000000" pitchFamily="2" charset="0"/>
                      </a:endParaRPr>
                    </a:p>
                  </a:txBody>
                  <a:tcPr marL="96897" marR="96897" marT="48449" marB="48449" anchor="ctr"/>
                </a:tc>
                <a:tc>
                  <a:txBody>
                    <a:bodyPr/>
                    <a:lstStyle/>
                    <a:p>
                      <a:pPr algn="ctr"/>
                      <a:r>
                        <a:rPr lang="en-US" sz="1900" dirty="0">
                          <a:solidFill>
                            <a:schemeClr val="tx1"/>
                          </a:solidFill>
                          <a:latin typeface="Agency FB" panose="020B0503020202020204" pitchFamily="34" charset="0"/>
                          <a:cs typeface="Sabon Next LT" panose="02000500000000000000" pitchFamily="2" charset="0"/>
                        </a:rPr>
                        <a:t>2020</a:t>
                      </a:r>
                    </a:p>
                  </a:txBody>
                  <a:tcPr marL="96897" marR="96897" marT="48449" marB="48449" anchor="ctr"/>
                </a:tc>
                <a:tc>
                  <a:txBody>
                    <a:bodyPr/>
                    <a:lstStyle/>
                    <a:p>
                      <a:pPr algn="ctr"/>
                      <a:r>
                        <a:rPr lang="en-US" sz="1800" b="0" i="0" kern="1200" dirty="0">
                          <a:solidFill>
                            <a:schemeClr val="dk1"/>
                          </a:solidFill>
                          <a:effectLst/>
                          <a:latin typeface="Agency FB" panose="020B0503020202020204" pitchFamily="34" charset="0"/>
                          <a:ea typeface="+mn-ea"/>
                          <a:cs typeface="+mn-cs"/>
                        </a:rPr>
                        <a:t>SAR Image Formation Algorithms, Interferometric SAR (InSAR) Algorithms</a:t>
                      </a:r>
                      <a:endParaRPr lang="en-US" sz="1900" b="0" dirty="0">
                        <a:solidFill>
                          <a:schemeClr val="tx1"/>
                        </a:solidFill>
                        <a:latin typeface="Agency FB" panose="020B0503020202020204" pitchFamily="34" charset="0"/>
                        <a:cs typeface="Sabon Next LT" panose="02000500000000000000" pitchFamily="2" charset="0"/>
                      </a:endParaRPr>
                    </a:p>
                  </a:txBody>
                  <a:tcPr marL="96897" marR="96897" marT="48449" marB="48449" anchor="ctr"/>
                </a:tc>
                <a:tc>
                  <a:txBody>
                    <a:bodyPr/>
                    <a:lstStyle/>
                    <a:p>
                      <a:pPr algn="ctr"/>
                      <a:r>
                        <a:rPr lang="en-US" sz="1800" b="0" i="0" kern="1200" dirty="0">
                          <a:solidFill>
                            <a:schemeClr val="dk1"/>
                          </a:solidFill>
                          <a:effectLst/>
                          <a:latin typeface="Agency FB" panose="020B0503020202020204" pitchFamily="34" charset="0"/>
                          <a:ea typeface="+mn-ea"/>
                          <a:cs typeface="+mn-cs"/>
                        </a:rPr>
                        <a:t>Accuracy Metrics, Efficiency Metrics</a:t>
                      </a:r>
                      <a:endParaRPr lang="en-US" sz="1900" b="0" dirty="0">
                        <a:solidFill>
                          <a:schemeClr val="tx1"/>
                        </a:solidFill>
                        <a:latin typeface="Agency FB" panose="020B0503020202020204" pitchFamily="34" charset="0"/>
                        <a:cs typeface="Sabon Next LT" panose="02000500000000000000" pitchFamily="2" charset="0"/>
                      </a:endParaRPr>
                    </a:p>
                  </a:txBody>
                  <a:tcPr marL="96897" marR="96897" marT="48449" marB="48449" anchor="ctr"/>
                </a:tc>
                <a:extLst>
                  <a:ext uri="{0D108BD9-81ED-4DB2-BD59-A6C34878D82A}">
                    <a16:rowId xmlns:a16="http://schemas.microsoft.com/office/drawing/2014/main" xmlns="" val="2176492071"/>
                  </a:ext>
                </a:extLst>
              </a:tr>
              <a:tr h="85228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Agency FB" panose="020B0503020202020204" pitchFamily="34" charset="0"/>
                          <a:ea typeface="+mn-ea"/>
                          <a:cs typeface="+mn-cs"/>
                        </a:rPr>
                        <a:t>3. Ship Classification in SAR Images Using a New Hybrid CNN–MLP Classifier</a:t>
                      </a:r>
                    </a:p>
                  </a:txBody>
                  <a:tcPr marL="96897" marR="96897" marT="48449" marB="4844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Agency FB" panose="020B0503020202020204" pitchFamily="34" charset="0"/>
                          <a:ea typeface="+mn-ea"/>
                          <a:cs typeface="+mn-cs"/>
                        </a:rPr>
                        <a:t>Forough Sharifzade, Gholamreza Akbari Zadeh, Yousef Seifi Kavian</a:t>
                      </a:r>
                    </a:p>
                  </a:txBody>
                  <a:tcPr marL="96897" marR="96897" marT="48449" marB="48449" anchor="ctr"/>
                </a:tc>
                <a:tc>
                  <a:txBody>
                    <a:bodyPr/>
                    <a:lstStyle/>
                    <a:p>
                      <a:pPr algn="ctr"/>
                      <a:r>
                        <a:rPr lang="en-US" sz="1900" b="1" dirty="0">
                          <a:solidFill>
                            <a:schemeClr val="tx1"/>
                          </a:solidFill>
                          <a:latin typeface="Agency FB" panose="020B0503020202020204" pitchFamily="34" charset="0"/>
                          <a:cs typeface="Sabon Next LT" panose="02000500000000000000" pitchFamily="2" charset="0"/>
                        </a:rPr>
                        <a:t>2018</a:t>
                      </a:r>
                    </a:p>
                  </a:txBody>
                  <a:tcPr marL="96897" marR="96897" marT="48449" marB="4844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Agency FB" panose="020B0503020202020204" pitchFamily="34" charset="0"/>
                          <a:ea typeface="+mn-ea"/>
                          <a:cs typeface="+mn-cs"/>
                        </a:rPr>
                        <a:t>Multi-layer perception, (MLP),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Agency FB" panose="020B0503020202020204" pitchFamily="34" charset="0"/>
                          <a:ea typeface="+mn-ea"/>
                          <a:cs typeface="+mn-cs"/>
                        </a:rPr>
                        <a:t>Convolutional neural network</a:t>
                      </a:r>
                    </a:p>
                  </a:txBody>
                  <a:tcPr marL="96897" marR="96897" marT="48449" marB="4844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dk1"/>
                          </a:solidFill>
                          <a:effectLst/>
                          <a:latin typeface="Agency FB" panose="020B0503020202020204" pitchFamily="34" charset="0"/>
                          <a:ea typeface="+mn-ea"/>
                          <a:cs typeface="+mn-cs"/>
                        </a:rPr>
                        <a:t>Better performance, accuracy metrics</a:t>
                      </a:r>
                    </a:p>
                  </a:txBody>
                  <a:tcPr marL="96897" marR="96897" marT="48449" marB="48449" anchor="ctr"/>
                </a:tc>
                <a:extLst>
                  <a:ext uri="{0D108BD9-81ED-4DB2-BD59-A6C34878D82A}">
                    <a16:rowId xmlns:a16="http://schemas.microsoft.com/office/drawing/2014/main" xmlns="" val="2944398957"/>
                  </a:ext>
                </a:extLst>
              </a:tr>
              <a:tr h="1120573">
                <a:tc>
                  <a:txBody>
                    <a:bodyPr/>
                    <a:lstStyle/>
                    <a:p>
                      <a:pPr algn="ctr"/>
                      <a:r>
                        <a:rPr lang="en-US" sz="1900" dirty="0">
                          <a:solidFill>
                            <a:schemeClr val="tx1"/>
                          </a:solidFill>
                          <a:latin typeface="Agency FB" panose="020B0503020202020204" pitchFamily="34" charset="0"/>
                          <a:cs typeface="Sabon Next LT" panose="02000500000000000000" pitchFamily="2" charset="0"/>
                        </a:rPr>
                        <a:t>4. </a:t>
                      </a:r>
                      <a:r>
                        <a:rPr lang="en-US" sz="2000" dirty="0">
                          <a:latin typeface="Agency FB" panose="020B0503020202020204" pitchFamily="34" charset="0"/>
                        </a:rPr>
                        <a:t>A Tutorial on Synthetic Aperture Radar</a:t>
                      </a:r>
                      <a:endParaRPr lang="en-US" sz="1900" dirty="0">
                        <a:solidFill>
                          <a:schemeClr val="tx1"/>
                        </a:solidFill>
                        <a:latin typeface="Agency FB" panose="020B0503020202020204" pitchFamily="34" charset="0"/>
                        <a:cs typeface="Sabon Next LT" panose="02000500000000000000" pitchFamily="2" charset="0"/>
                      </a:endParaRPr>
                    </a:p>
                  </a:txBody>
                  <a:tcPr marL="96897" marR="96897" marT="48449" marB="48449" anchor="ctr"/>
                </a:tc>
                <a:tc>
                  <a:txBody>
                    <a:bodyPr/>
                    <a:lstStyle/>
                    <a:p>
                      <a:pPr algn="ctr"/>
                      <a:r>
                        <a:rPr lang="en-US" sz="2000" dirty="0">
                          <a:latin typeface="Agency FB" panose="020B0503020202020204" pitchFamily="34" charset="0"/>
                        </a:rPr>
                        <a:t>Alberto Moreira, Pau Prats-Iraola, Marwan Younis, Gerhard Krieger</a:t>
                      </a:r>
                      <a:endParaRPr lang="en-US" sz="1900" dirty="0">
                        <a:solidFill>
                          <a:schemeClr val="tx1"/>
                        </a:solidFill>
                        <a:latin typeface="Agency FB" panose="020B0503020202020204" pitchFamily="34" charset="0"/>
                        <a:cs typeface="Sabon Next LT" panose="02000500000000000000" pitchFamily="2" charset="0"/>
                      </a:endParaRPr>
                    </a:p>
                  </a:txBody>
                  <a:tcPr marL="96897" marR="96897" marT="48449" marB="48449" anchor="ctr"/>
                </a:tc>
                <a:tc>
                  <a:txBody>
                    <a:bodyPr/>
                    <a:lstStyle/>
                    <a:p>
                      <a:pPr algn="ctr"/>
                      <a:r>
                        <a:rPr lang="en-US" sz="1900" dirty="0">
                          <a:solidFill>
                            <a:schemeClr val="tx1"/>
                          </a:solidFill>
                          <a:latin typeface="Agency FB" panose="020B0503020202020204" pitchFamily="34" charset="0"/>
                          <a:cs typeface="Sabon Next LT" panose="02000500000000000000" pitchFamily="2" charset="0"/>
                        </a:rPr>
                        <a:t>2013</a:t>
                      </a:r>
                    </a:p>
                  </a:txBody>
                  <a:tcPr marL="96897" marR="96897" marT="48449" marB="48449" anchor="ctr"/>
                </a:tc>
                <a:tc>
                  <a:txBody>
                    <a:bodyPr/>
                    <a:lstStyle/>
                    <a:p>
                      <a:pPr algn="ctr"/>
                      <a:r>
                        <a:rPr lang="en-US" sz="1800" b="0" i="0" kern="1200" dirty="0">
                          <a:solidFill>
                            <a:schemeClr val="dk1"/>
                          </a:solidFill>
                          <a:effectLst/>
                          <a:latin typeface="Agency FB" panose="020B0503020202020204" pitchFamily="34" charset="0"/>
                          <a:ea typeface="+mn-ea"/>
                          <a:cs typeface="+mn-cs"/>
                        </a:rPr>
                        <a:t>Range Compression Algorithm, Doppler Processing Algorithm</a:t>
                      </a:r>
                      <a:endParaRPr lang="en-US" sz="1900" b="0" dirty="0">
                        <a:solidFill>
                          <a:schemeClr val="tx1"/>
                        </a:solidFill>
                        <a:latin typeface="Agency FB" panose="020B0503020202020204" pitchFamily="34" charset="0"/>
                        <a:cs typeface="Sabon Next LT" panose="02000500000000000000" pitchFamily="2" charset="0"/>
                      </a:endParaRPr>
                    </a:p>
                  </a:txBody>
                  <a:tcPr marL="96897" marR="96897" marT="48449" marB="48449" anchor="ctr"/>
                </a:tc>
                <a:tc>
                  <a:txBody>
                    <a:bodyPr/>
                    <a:lstStyle/>
                    <a:p>
                      <a:r>
                        <a:rPr lang="en-US" sz="1800" b="0" i="0" kern="1200" dirty="0">
                          <a:solidFill>
                            <a:schemeClr val="dk1"/>
                          </a:solidFill>
                          <a:effectLst/>
                          <a:latin typeface="Agency FB" panose="020B0503020202020204" pitchFamily="34" charset="0"/>
                          <a:ea typeface="+mn-ea"/>
                          <a:cs typeface="+mn-cs"/>
                        </a:rPr>
                        <a:t>Range Resolution, Doppler Frequency</a:t>
                      </a:r>
                    </a:p>
                    <a:p>
                      <a:r>
                        <a:rPr lang="en-US" sz="1800" b="0" i="0" kern="1200" dirty="0">
                          <a:solidFill>
                            <a:schemeClr val="dk1"/>
                          </a:solidFill>
                          <a:effectLst/>
                          <a:latin typeface="Agency FB" panose="020B0503020202020204" pitchFamily="34" charset="0"/>
                          <a:ea typeface="+mn-ea"/>
                          <a:cs typeface="+mn-cs"/>
                        </a:rPr>
                        <a:t/>
                      </a:r>
                      <a:br>
                        <a:rPr lang="en-US" sz="1800" b="0" i="0" kern="1200" dirty="0">
                          <a:solidFill>
                            <a:schemeClr val="dk1"/>
                          </a:solidFill>
                          <a:effectLst/>
                          <a:latin typeface="Agency FB" panose="020B0503020202020204" pitchFamily="34" charset="0"/>
                          <a:ea typeface="+mn-ea"/>
                          <a:cs typeface="+mn-cs"/>
                        </a:rPr>
                      </a:br>
                      <a:endParaRPr lang="en-US" sz="1900" dirty="0">
                        <a:solidFill>
                          <a:schemeClr val="tx1"/>
                        </a:solidFill>
                        <a:latin typeface="Agency FB" panose="020B0503020202020204" pitchFamily="34" charset="0"/>
                        <a:cs typeface="Sabon Next LT" panose="02000500000000000000" pitchFamily="2" charset="0"/>
                      </a:endParaRPr>
                    </a:p>
                  </a:txBody>
                  <a:tcPr marL="96897" marR="96897" marT="48449" marB="48449" anchor="ctr"/>
                </a:tc>
                <a:extLst>
                  <a:ext uri="{0D108BD9-81ED-4DB2-BD59-A6C34878D82A}">
                    <a16:rowId xmlns:a16="http://schemas.microsoft.com/office/drawing/2014/main" xmlns="" val="1854263537"/>
                  </a:ext>
                </a:extLst>
              </a:tr>
              <a:tr h="937007">
                <a:tc>
                  <a:txBody>
                    <a:bodyPr/>
                    <a:lstStyle/>
                    <a:p>
                      <a:pPr algn="ctr"/>
                      <a:r>
                        <a:rPr lang="en-US" sz="2000" b="1" dirty="0">
                          <a:latin typeface="Agency FB" panose="020B0503020202020204" pitchFamily="34" charset="0"/>
                        </a:rPr>
                        <a:t>5. Satellite Imaging for Maritime Surveillance of the European Seas</a:t>
                      </a:r>
                      <a:endParaRPr lang="en-US" sz="1900" b="1" dirty="0">
                        <a:solidFill>
                          <a:schemeClr val="tx1"/>
                        </a:solidFill>
                        <a:latin typeface="Agency FB" panose="020B0503020202020204" pitchFamily="34" charset="0"/>
                        <a:cs typeface="Sabon Next LT" panose="02000500000000000000" pitchFamily="2" charset="0"/>
                      </a:endParaRPr>
                    </a:p>
                  </a:txBody>
                  <a:tcPr marL="96897" marR="96897" marT="48449" marB="48449" anchor="ctr"/>
                </a:tc>
                <a:tc>
                  <a:txBody>
                    <a:bodyPr/>
                    <a:lstStyle/>
                    <a:p>
                      <a:pPr algn="ctr"/>
                      <a:r>
                        <a:rPr lang="en-US" sz="2000" b="1" dirty="0">
                          <a:latin typeface="Agency FB" panose="020B0503020202020204" pitchFamily="34" charset="0"/>
                        </a:rPr>
                        <a:t>Harm Greidanus </a:t>
                      </a:r>
                      <a:endParaRPr lang="en-US" sz="1900" b="1" dirty="0">
                        <a:solidFill>
                          <a:schemeClr val="tx1"/>
                        </a:solidFill>
                        <a:latin typeface="Agency FB" panose="020B0503020202020204" pitchFamily="34" charset="0"/>
                        <a:cs typeface="Sabon Next LT" panose="02000500000000000000" pitchFamily="2" charset="0"/>
                      </a:endParaRPr>
                    </a:p>
                  </a:txBody>
                  <a:tcPr marL="96897" marR="96897" marT="48449" marB="48449" anchor="ctr"/>
                </a:tc>
                <a:tc>
                  <a:txBody>
                    <a:bodyPr/>
                    <a:lstStyle/>
                    <a:p>
                      <a:pPr algn="ctr"/>
                      <a:r>
                        <a:rPr lang="en-US" sz="1900" b="1" dirty="0">
                          <a:solidFill>
                            <a:schemeClr val="tx1"/>
                          </a:solidFill>
                          <a:latin typeface="Agency FB" panose="020B0503020202020204" pitchFamily="34" charset="0"/>
                          <a:cs typeface="Sabon Next LT" panose="02000500000000000000" pitchFamily="2" charset="0"/>
                        </a:rPr>
                        <a:t>2008</a:t>
                      </a:r>
                    </a:p>
                  </a:txBody>
                  <a:tcPr marL="96897" marR="96897" marT="48449" marB="48449" anchor="ctr"/>
                </a:tc>
                <a:tc>
                  <a:txBody>
                    <a:bodyPr/>
                    <a:lstStyle/>
                    <a:p>
                      <a:pPr algn="ctr"/>
                      <a:r>
                        <a:rPr lang="en-IN" sz="1800" b="1" kern="1200" dirty="0">
                          <a:solidFill>
                            <a:schemeClr val="dk1"/>
                          </a:solidFill>
                          <a:effectLst/>
                          <a:latin typeface="Agency FB" panose="020B0503020202020204" pitchFamily="34" charset="0"/>
                          <a:ea typeface="+mn-ea"/>
                          <a:cs typeface="+mn-cs"/>
                        </a:rPr>
                        <a:t>Synthetic Aperture Radar (SAR) Detection,</a:t>
                      </a:r>
                      <a:endParaRPr lang="en-US" sz="1900" b="1" dirty="0">
                        <a:solidFill>
                          <a:schemeClr val="tx1"/>
                        </a:solidFill>
                        <a:latin typeface="Agency FB" panose="020B0503020202020204" pitchFamily="34" charset="0"/>
                        <a:cs typeface="Sabon Next LT" panose="02000500000000000000" pitchFamily="2" charset="0"/>
                      </a:endParaRPr>
                    </a:p>
                  </a:txBody>
                  <a:tcPr marL="96897" marR="96897" marT="48449" marB="48449"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kern="1200" dirty="0">
                          <a:solidFill>
                            <a:schemeClr val="dk1"/>
                          </a:solidFill>
                          <a:effectLst/>
                          <a:latin typeface="Agency FB" panose="020B0503020202020204" pitchFamily="34" charset="0"/>
                          <a:ea typeface="+mn-ea"/>
                          <a:cs typeface="+mn-cs"/>
                        </a:rPr>
                        <a:t>Speed and Computational Efficiency, Robustness</a:t>
                      </a:r>
                      <a:endParaRPr lang="en-US" sz="1900" b="1" dirty="0">
                        <a:solidFill>
                          <a:schemeClr val="tx1"/>
                        </a:solidFill>
                        <a:latin typeface="Agency FB" panose="020B0503020202020204" pitchFamily="34" charset="0"/>
                        <a:cs typeface="Sabon Next LT" panose="02000500000000000000" pitchFamily="2" charset="0"/>
                      </a:endParaRPr>
                    </a:p>
                  </a:txBody>
                  <a:tcPr marL="96897" marR="96897" marT="48449" marB="48449" anchor="ctr"/>
                </a:tc>
                <a:extLst>
                  <a:ext uri="{0D108BD9-81ED-4DB2-BD59-A6C34878D82A}">
                    <a16:rowId xmlns:a16="http://schemas.microsoft.com/office/drawing/2014/main" xmlns="" val="1760208656"/>
                  </a:ext>
                </a:extLst>
              </a:tr>
            </a:tbl>
          </a:graphicData>
        </a:graphic>
      </p:graphicFrame>
      <p:sp>
        <p:nvSpPr>
          <p:cNvPr id="7" name="Footer Placeholder 6">
            <a:extLst>
              <a:ext uri="{FF2B5EF4-FFF2-40B4-BE49-F238E27FC236}">
                <a16:creationId xmlns:a16="http://schemas.microsoft.com/office/drawing/2014/main" xmlns="" id="{3A122237-B06F-5E42-B051-D7859FC21D7D}"/>
              </a:ext>
            </a:extLst>
          </p:cNvPr>
          <p:cNvSpPr>
            <a:spLocks noGrp="1"/>
          </p:cNvSpPr>
          <p:nvPr>
            <p:ph type="ftr" sz="quarter" idx="11"/>
          </p:nvPr>
        </p:nvSpPr>
        <p:spPr>
          <a:xfrm>
            <a:off x="6287262" y="-52959"/>
            <a:ext cx="6712458" cy="441198"/>
          </a:xfrm>
        </p:spPr>
        <p:txBody>
          <a:bodyPr/>
          <a:lstStyle/>
          <a:p>
            <a:r>
              <a:rPr lang="en-US" sz="1200" dirty="0">
                <a:solidFill>
                  <a:schemeClr val="tx1"/>
                </a:solidFill>
                <a:latin typeface="Times New Roman" panose="02020603050405020304" pitchFamily="18" charset="0"/>
                <a:cs typeface="Times New Roman" panose="02020603050405020304" pitchFamily="18" charset="0"/>
              </a:rPr>
              <a:t>Ship Detection Based on Faster R-CNN Using Range-Compressed Airborne Radar Data</a:t>
            </a:r>
            <a:endParaRPr lang="en-US" dirty="0"/>
          </a:p>
        </p:txBody>
      </p:sp>
      <p:sp>
        <p:nvSpPr>
          <p:cNvPr id="8" name="Slide Number Placeholder 7">
            <a:extLst>
              <a:ext uri="{FF2B5EF4-FFF2-40B4-BE49-F238E27FC236}">
                <a16:creationId xmlns:a16="http://schemas.microsoft.com/office/drawing/2014/main" xmlns="" id="{AECF22D2-2B16-C40D-AA90-609B5CD08B3D}"/>
              </a:ext>
            </a:extLst>
          </p:cNvPr>
          <p:cNvSpPr>
            <a:spLocks noGrp="1"/>
          </p:cNvSpPr>
          <p:nvPr>
            <p:ph type="sldNum" sz="quarter" idx="12"/>
          </p:nvPr>
        </p:nvSpPr>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xmlns="" val="2886474736"/>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5C31E9-592C-B40B-34B4-DF1A0856D157}"/>
              </a:ext>
            </a:extLst>
          </p:cNvPr>
          <p:cNvSpPr>
            <a:spLocks noGrp="1"/>
          </p:cNvSpPr>
          <p:nvPr>
            <p:ph type="title"/>
          </p:nvPr>
        </p:nvSpPr>
        <p:spPr>
          <a:xfrm>
            <a:off x="3315814" y="133252"/>
            <a:ext cx="2550414" cy="598268"/>
          </a:xfrm>
        </p:spPr>
        <p:txBody>
          <a:bodyPr/>
          <a:lstStyle/>
          <a:p>
            <a:pPr algn="ctr"/>
            <a:r>
              <a:rPr lang="en-US" sz="2400" dirty="0">
                <a:solidFill>
                  <a:schemeClr val="accent1">
                    <a:lumMod val="50000"/>
                  </a:schemeClr>
                </a:solidFill>
                <a:latin typeface="Times New Roman" pitchFamily="18" charset="0"/>
                <a:cs typeface="Times New Roman" pitchFamily="18" charset="0"/>
              </a:rPr>
              <a:t>description</a:t>
            </a:r>
          </a:p>
        </p:txBody>
      </p:sp>
      <p:sp>
        <p:nvSpPr>
          <p:cNvPr id="4" name="Footer Placeholder 3">
            <a:extLst>
              <a:ext uri="{FF2B5EF4-FFF2-40B4-BE49-F238E27FC236}">
                <a16:creationId xmlns:a16="http://schemas.microsoft.com/office/drawing/2014/main" xmlns="" id="{96670318-5F4E-F6D3-977B-376945BD8C78}"/>
              </a:ext>
            </a:extLst>
          </p:cNvPr>
          <p:cNvSpPr>
            <a:spLocks noGrp="1"/>
          </p:cNvSpPr>
          <p:nvPr>
            <p:ph type="ftr" sz="quarter" idx="11"/>
          </p:nvPr>
        </p:nvSpPr>
        <p:spPr>
          <a:xfrm>
            <a:off x="6346698" y="142240"/>
            <a:ext cx="5586222" cy="274320"/>
          </a:xfrm>
        </p:spPr>
        <p:txBody>
          <a:bodyPr/>
          <a:lstStyle/>
          <a:p>
            <a:r>
              <a:rPr lang="en-US" sz="1200" dirty="0">
                <a:solidFill>
                  <a:schemeClr val="tx1"/>
                </a:solidFill>
                <a:latin typeface="Times New Roman" panose="02020603050405020304" pitchFamily="18" charset="0"/>
                <a:cs typeface="Times New Roman" panose="02020603050405020304" pitchFamily="18" charset="0"/>
              </a:rPr>
              <a:t>Ship Detection Based on Faster R-CNN Using Range-Compressed Airborne Radar Data</a:t>
            </a:r>
            <a:endParaRPr lang="en-US" dirty="0"/>
          </a:p>
          <a:p>
            <a:endParaRPr lang="en-US" dirty="0"/>
          </a:p>
        </p:txBody>
      </p:sp>
      <p:sp>
        <p:nvSpPr>
          <p:cNvPr id="5" name="Slide Number Placeholder 4">
            <a:extLst>
              <a:ext uri="{FF2B5EF4-FFF2-40B4-BE49-F238E27FC236}">
                <a16:creationId xmlns:a16="http://schemas.microsoft.com/office/drawing/2014/main" xmlns="" id="{67C4144A-637E-BEE5-4210-E9ACA05EAA88}"/>
              </a:ext>
            </a:extLst>
          </p:cNvPr>
          <p:cNvSpPr>
            <a:spLocks noGrp="1"/>
          </p:cNvSpPr>
          <p:nvPr>
            <p:ph type="sldNum" sz="quarter" idx="12"/>
          </p:nvPr>
        </p:nvSpPr>
        <p:spPr/>
        <p:txBody>
          <a:bodyPr/>
          <a:lstStyle/>
          <a:p>
            <a:fld id="{48F63A3B-78C7-47BE-AE5E-E10140E04643}" type="slidenum">
              <a:rPr lang="en-US" smtClean="0"/>
              <a:pPr/>
              <a:t>6</a:t>
            </a:fld>
            <a:endParaRPr lang="en-US" dirty="0"/>
          </a:p>
        </p:txBody>
      </p:sp>
      <p:sp>
        <p:nvSpPr>
          <p:cNvPr id="9" name="Title 1">
            <a:extLst>
              <a:ext uri="{FF2B5EF4-FFF2-40B4-BE49-F238E27FC236}">
                <a16:creationId xmlns:a16="http://schemas.microsoft.com/office/drawing/2014/main" xmlns="" id="{C9A461C6-D6EA-638C-345A-AAA34B696CCE}"/>
              </a:ext>
            </a:extLst>
          </p:cNvPr>
          <p:cNvSpPr txBox="1">
            <a:spLocks/>
          </p:cNvSpPr>
          <p:nvPr/>
        </p:nvSpPr>
        <p:spPr>
          <a:xfrm>
            <a:off x="3967784" y="457200"/>
            <a:ext cx="6766560" cy="768096"/>
          </a:xfrm>
          <a:prstGeom prst="rect">
            <a:avLst/>
          </a:prstGeom>
        </p:spPr>
        <p:txBody>
          <a:bodyPr vert="horz" lIns="91440" tIns="45720" rIns="91440" bIns="45720" rtlCol="0" anchor="t">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IN" b="1" i="0" u="none" strike="noStrike" kern="100" cap="all" spc="0" normalizeH="0" baseline="0" noProof="0" dirty="0" smtClean="0">
                <a:ln>
                  <a:noFill/>
                </a:ln>
                <a:solidFill>
                  <a:schemeClr val="accent6"/>
                </a:solidFill>
                <a:effectLst/>
                <a:uLnTx/>
                <a:uFillTx/>
                <a:latin typeface="Times New Roman" pitchFamily="18" charset="0"/>
                <a:ea typeface="Calibri" panose="020F0502020204030204" pitchFamily="34" charset="0"/>
                <a:cs typeface="Times New Roman" pitchFamily="18" charset="0"/>
              </a:rPr>
              <a:t>paper-1</a:t>
            </a:r>
            <a:br>
              <a:rPr kumimoji="0" lang="en-IN" b="1" i="0" u="none" strike="noStrike" kern="100" cap="all" spc="0" normalizeH="0" baseline="0" noProof="0" dirty="0" smtClean="0">
                <a:ln>
                  <a:noFill/>
                </a:ln>
                <a:solidFill>
                  <a:schemeClr val="accent6"/>
                </a:solidFill>
                <a:effectLst/>
                <a:uLnTx/>
                <a:uFillTx/>
                <a:latin typeface="Times New Roman" pitchFamily="18" charset="0"/>
                <a:ea typeface="Calibri" panose="020F0502020204030204" pitchFamily="34" charset="0"/>
                <a:cs typeface="Times New Roman" pitchFamily="18" charset="0"/>
              </a:rPr>
            </a:br>
            <a:r>
              <a:rPr kumimoji="0" lang="en-IN" b="1" i="0" u="none" strike="noStrike" kern="100" cap="all" spc="0" normalizeH="0" baseline="0" noProof="0" dirty="0" smtClean="0">
                <a:ln>
                  <a:noFill/>
                </a:ln>
                <a:solidFill>
                  <a:schemeClr val="accent6"/>
                </a:solidFill>
                <a:effectLst/>
                <a:uLnTx/>
                <a:uFillTx/>
                <a:latin typeface="Times New Roman" pitchFamily="18" charset="0"/>
                <a:ea typeface="Calibri" panose="020F0502020204030204" pitchFamily="34" charset="0"/>
                <a:cs typeface="Times New Roman" pitchFamily="18" charset="0"/>
              </a:rPr>
              <a:t>Research by: Shaista Eram [20L51A1230]</a:t>
            </a:r>
            <a:r>
              <a:rPr kumimoji="0" lang="en-US" b="1" i="0" u="none" strike="noStrike" kern="100" cap="all" spc="0" normalizeH="0" baseline="0" noProof="0" dirty="0" smtClean="0">
                <a:ln>
                  <a:noFill/>
                </a:ln>
                <a:solidFill>
                  <a:schemeClr val="accent6"/>
                </a:solidFill>
                <a:effectLst/>
                <a:uLnTx/>
                <a:uFillTx/>
                <a:latin typeface="Times New Roman" pitchFamily="18" charset="0"/>
                <a:ea typeface="Calibri" panose="020F0502020204030204" pitchFamily="34" charset="0"/>
                <a:cs typeface="Times New Roman" pitchFamily="18" charset="0"/>
              </a:rPr>
              <a:t/>
            </a:r>
            <a:br>
              <a:rPr kumimoji="0" lang="en-US" b="1" i="0" u="none" strike="noStrike" kern="100" cap="all" spc="0" normalizeH="0" baseline="0" noProof="0" dirty="0" smtClean="0">
                <a:ln>
                  <a:noFill/>
                </a:ln>
                <a:solidFill>
                  <a:schemeClr val="accent6"/>
                </a:solidFill>
                <a:effectLst/>
                <a:uLnTx/>
                <a:uFillTx/>
                <a:latin typeface="Times New Roman" pitchFamily="18" charset="0"/>
                <a:ea typeface="Calibri" panose="020F0502020204030204" pitchFamily="34" charset="0"/>
                <a:cs typeface="Times New Roman" pitchFamily="18" charset="0"/>
              </a:rPr>
            </a:br>
            <a:endParaRPr kumimoji="0" lang="en-US" b="1" i="0" u="none" strike="noStrike" kern="1200" cap="all" spc="0" normalizeH="0" baseline="0" noProof="0" dirty="0">
              <a:ln>
                <a:noFill/>
              </a:ln>
              <a:solidFill>
                <a:schemeClr val="accent6"/>
              </a:solidFill>
              <a:effectLst/>
              <a:uLnTx/>
              <a:uFillTx/>
              <a:latin typeface="Times New Roman" pitchFamily="18" charset="0"/>
              <a:ea typeface="+mj-ea"/>
              <a:cs typeface="Times New Roman" pitchFamily="18" charset="0"/>
            </a:endParaRPr>
          </a:p>
        </p:txBody>
      </p:sp>
      <p:sp>
        <p:nvSpPr>
          <p:cNvPr id="10" name="Content Placeholder 2">
            <a:extLst>
              <a:ext uri="{FF2B5EF4-FFF2-40B4-BE49-F238E27FC236}">
                <a16:creationId xmlns:a16="http://schemas.microsoft.com/office/drawing/2014/main" xmlns="" id="{1FC60A71-9FB2-7299-0DEF-857090828153}"/>
              </a:ext>
            </a:extLst>
          </p:cNvPr>
          <p:cNvSpPr>
            <a:spLocks noGrp="1"/>
          </p:cNvSpPr>
          <p:nvPr>
            <p:ph idx="1"/>
          </p:nvPr>
        </p:nvSpPr>
        <p:spPr>
          <a:xfrm>
            <a:off x="3543300" y="1362456"/>
            <a:ext cx="8389620" cy="5276850"/>
          </a:xfrm>
        </p:spPr>
        <p:txBody>
          <a:bodyPr/>
          <a:lstStyle/>
          <a:p>
            <a:pPr marL="0" marR="0">
              <a:lnSpc>
                <a:spcPct val="115000"/>
              </a:lnSpc>
              <a:spcBef>
                <a:spcPts val="0"/>
              </a:spcBef>
              <a:spcAft>
                <a:spcPts val="1000"/>
              </a:spcAft>
            </a:pP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TITLE: Ship Classification in SAR Images Using a New Hybrid CNN–MLP Classifier</a:t>
            </a:r>
            <a:endParaRPr lang="en-US"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0"/>
              </a:spcAft>
            </a:pP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AUTHOR: </a:t>
            </a: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Foroogh Sharif Zadeh, </a:t>
            </a:r>
            <a:r>
              <a:rPr lang="en-US" sz="18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Gholamreza</a:t>
            </a: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Akbari Zadeh</a:t>
            </a:r>
            <a:r>
              <a:rPr lang="en-US" sz="1800" dirty="0">
                <a:solidFill>
                  <a:schemeClr val="tx1"/>
                </a:solidFill>
                <a:latin typeface="Calibri" panose="020F0502020204030204" pitchFamily="34" charset="0"/>
                <a:ea typeface="Calibri" panose="020F0502020204030204" pitchFamily="34" charset="0"/>
                <a:cs typeface="Times New Roman" panose="02020603050405020304" pitchFamily="18" charset="0"/>
              </a:rPr>
              <a:t>, </a:t>
            </a: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Yousef </a:t>
            </a:r>
            <a:r>
              <a:rPr lang="en-US" sz="18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Seifi</a:t>
            </a: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Kavian</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YEAR:</a:t>
            </a: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2018</a:t>
            </a:r>
          </a:p>
          <a:p>
            <a:pPr marL="0" marR="0">
              <a:lnSpc>
                <a:spcPct val="115000"/>
              </a:lnSpc>
              <a:spcBef>
                <a:spcPts val="0"/>
              </a:spcBef>
              <a:spcAft>
                <a:spcPts val="1000"/>
              </a:spcAft>
            </a:pPr>
            <a:endPar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endPar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BRIEF:</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US" sz="1800" dirty="0">
                <a:solidFill>
                  <a:srgbClr val="0F0F0F"/>
                </a:solidFill>
                <a:effectLst/>
                <a:latin typeface="Times New Roman" panose="02020603050405020304" pitchFamily="18" charset="0"/>
                <a:ea typeface="Calibri" panose="020F0502020204030204" pitchFamily="34" charset="0"/>
                <a:cs typeface="Times New Roman" panose="02020603050405020304" pitchFamily="18" charset="0"/>
              </a:rPr>
              <a:t>Ship classification in synthetic aperture radar (SAR) images is a challenging task that involves the use of advanced techniques to extract relevant features and make accurate predictions. The combination of Convolutional Neural Networks (CNNs) and Multilayer Perceptron's (MLPs) in a hybrid model can enhance the classification performance by leveraging the strengths of both architectures.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US" sz="1800" dirty="0">
                <a:solidFill>
                  <a:srgbClr val="0F0F0F"/>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11" name="Picture 10">
            <a:extLst>
              <a:ext uri="{FF2B5EF4-FFF2-40B4-BE49-F238E27FC236}">
                <a16:creationId xmlns:a16="http://schemas.microsoft.com/office/drawing/2014/main" xmlns="" id="{905D1645-C640-FEBD-5FE0-120C36081F2E}"/>
              </a:ext>
            </a:extLst>
          </p:cNvPr>
          <p:cNvPicPr>
            <a:picLocks noChangeAspect="1"/>
          </p:cNvPicPr>
          <p:nvPr/>
        </p:nvPicPr>
        <p:blipFill rotWithShape="1">
          <a:blip r:embed="rId2"/>
          <a:srcRect l="33232" t="38717" r="36769" b="36040"/>
          <a:stretch/>
        </p:blipFill>
        <p:spPr>
          <a:xfrm>
            <a:off x="5289452" y="2700996"/>
            <a:ext cx="5444892" cy="2341267"/>
          </a:xfrm>
          <a:prstGeom prst="rect">
            <a:avLst/>
          </a:prstGeom>
          <a:ln>
            <a:noFill/>
          </a:ln>
          <a:effectLst>
            <a:softEdge rad="112500"/>
          </a:effectLst>
        </p:spPr>
      </p:pic>
    </p:spTree>
    <p:extLst>
      <p:ext uri="{BB962C8B-B14F-4D97-AF65-F5344CB8AC3E}">
        <p14:creationId xmlns:p14="http://schemas.microsoft.com/office/powerpoint/2010/main" xmlns="" val="1889328366"/>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B455360B-28B7-73A4-66A7-5950BD424AD7}"/>
              </a:ext>
            </a:extLst>
          </p:cNvPr>
          <p:cNvSpPr>
            <a:spLocks noGrp="1"/>
          </p:cNvSpPr>
          <p:nvPr>
            <p:ph type="ftr" sz="quarter" idx="11"/>
          </p:nvPr>
        </p:nvSpPr>
        <p:spPr>
          <a:xfrm>
            <a:off x="6096000" y="-13546"/>
            <a:ext cx="5836920" cy="394546"/>
          </a:xfrm>
        </p:spPr>
        <p:txBody>
          <a:bodyPr/>
          <a:lstStyle/>
          <a:p>
            <a:r>
              <a:rPr lang="en-US" sz="1200" dirty="0">
                <a:solidFill>
                  <a:schemeClr val="tx1"/>
                </a:solidFill>
                <a:latin typeface="Times New Roman" panose="02020603050405020304" pitchFamily="18" charset="0"/>
                <a:cs typeface="Times New Roman" panose="02020603050405020304" pitchFamily="18" charset="0"/>
              </a:rPr>
              <a:t>Ship Detection Based on Faster R-CNN Using Range-Compressed Airborne Radar Data</a:t>
            </a:r>
            <a:endParaRPr lang="en-US" dirty="0"/>
          </a:p>
        </p:txBody>
      </p:sp>
      <p:sp>
        <p:nvSpPr>
          <p:cNvPr id="5" name="Slide Number Placeholder 4">
            <a:extLst>
              <a:ext uri="{FF2B5EF4-FFF2-40B4-BE49-F238E27FC236}">
                <a16:creationId xmlns:a16="http://schemas.microsoft.com/office/drawing/2014/main" xmlns="" id="{77B2BD71-B9BC-5E24-47AE-AA69DB179125}"/>
              </a:ext>
            </a:extLst>
          </p:cNvPr>
          <p:cNvSpPr>
            <a:spLocks noGrp="1"/>
          </p:cNvSpPr>
          <p:nvPr>
            <p:ph type="sldNum" sz="quarter" idx="12"/>
          </p:nvPr>
        </p:nvSpPr>
        <p:spPr/>
        <p:txBody>
          <a:bodyPr/>
          <a:lstStyle/>
          <a:p>
            <a:fld id="{48F63A3B-78C7-47BE-AE5E-E10140E04643}" type="slidenum">
              <a:rPr lang="en-US" smtClean="0"/>
              <a:pPr/>
              <a:t>7</a:t>
            </a:fld>
            <a:endParaRPr lang="en-US" dirty="0"/>
          </a:p>
        </p:txBody>
      </p:sp>
      <p:sp>
        <p:nvSpPr>
          <p:cNvPr id="7" name="Content Placeholder 2">
            <a:extLst>
              <a:ext uri="{FF2B5EF4-FFF2-40B4-BE49-F238E27FC236}">
                <a16:creationId xmlns:a16="http://schemas.microsoft.com/office/drawing/2014/main" xmlns="" id="{E942ECD4-A7E7-B29A-8C3C-EACCB8BCA6D3}"/>
              </a:ext>
            </a:extLst>
          </p:cNvPr>
          <p:cNvSpPr txBox="1">
            <a:spLocks/>
          </p:cNvSpPr>
          <p:nvPr/>
        </p:nvSpPr>
        <p:spPr>
          <a:xfrm>
            <a:off x="3699293" y="457200"/>
            <a:ext cx="8043672" cy="6021070"/>
          </a:xfrm>
          <a:prstGeom prst="rect">
            <a:avLst/>
          </a:prstGeom>
        </p:spPr>
        <p:txBody>
          <a:bodyPr vert="horz" lIns="91440" tIns="45720" rIns="91440" bIns="45720" rtlCol="0">
            <a:noAutofit/>
          </a:bodyPr>
          <a:lstStyle/>
          <a:p>
            <a:pPr marL="0" marR="0" lvl="0" indent="0" algn="l" defTabSz="914400" rtl="0" eaLnBrk="1" fontAlgn="auto" latinLnBrk="0" hangingPunct="1">
              <a:lnSpc>
                <a:spcPct val="115000"/>
              </a:lnSpc>
              <a:spcBef>
                <a:spcPts val="0"/>
              </a:spcBef>
              <a:spcAft>
                <a:spcPts val="1000"/>
              </a:spcAft>
              <a:buClrTx/>
              <a:buSzTx/>
              <a:buFont typeface="Arial" panose="020B0604020202020204" pitchFamily="34" charset="0"/>
              <a:buNone/>
              <a:tabLst/>
              <a:defRPr/>
            </a:pPr>
            <a:r>
              <a:rPr kumimoji="0" lang="en-US" sz="1800" b="1" i="0" u="none" strike="noStrike" kern="1200" cap="none" spc="0" normalizeH="0" baseline="0" noProof="0" dirty="0" smtClean="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rPr>
              <a:t>METHODS/ALGORITHMS: </a:t>
            </a:r>
            <a:endParaRPr kumimoji="0" lang="en-US" sz="1800" b="0" i="0" u="none" strike="noStrike" kern="1200" cap="none" spc="0" normalizeH="0" baseline="0" noProof="0" dirty="0" smtClean="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1000"/>
              </a:spcAft>
              <a:buClrTx/>
              <a:buSzTx/>
              <a:buFont typeface="Arial" panose="020B0604020202020204" pitchFamily="34" charset="0"/>
              <a:buNone/>
              <a:tabLst/>
              <a:defRPr/>
            </a:pPr>
            <a:r>
              <a:rPr kumimoji="0" 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rPr>
              <a:t>The algorithms used in ship classification in SAR images using a new hybrid CNN-MLP classifier are</a:t>
            </a:r>
            <a:endParaRPr kumimoji="0" lang="en-US" sz="1800" b="0" i="0" u="none" strike="noStrike" kern="1200" cap="none" spc="0" normalizeH="0" baseline="0" noProof="0" dirty="0" smtClean="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0"/>
              </a:spcAft>
              <a:buClrTx/>
              <a:buSzTx/>
              <a:buFont typeface="+mj-lt"/>
              <a:buAutoNum type="arabicPeriod"/>
              <a:tabLst/>
              <a:defRPr/>
            </a:pPr>
            <a:r>
              <a:rPr kumimoji="0" lang="en-US" sz="1800" b="1" i="0" u="none" strike="noStrike" kern="1200" cap="none" spc="0" normalizeH="0" baseline="0" noProof="0" dirty="0" smtClean="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rPr>
              <a:t>MULTILAYER PERCEPTRON (MLP):</a:t>
            </a:r>
            <a:endParaRPr kumimoji="0" lang="en-US" sz="1800" b="0" i="0" u="none" strike="noStrike" kern="1200" cap="none" spc="0" normalizeH="0" baseline="0" noProof="0" dirty="0" smtClean="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0" algn="l" defTabSz="914400" rtl="0" eaLnBrk="1" fontAlgn="auto" latinLnBrk="0" hangingPunct="1">
              <a:lnSpc>
                <a:spcPct val="115000"/>
              </a:lnSpc>
              <a:spcBef>
                <a:spcPts val="0"/>
              </a:spcBef>
              <a:spcAft>
                <a:spcPts val="0"/>
              </a:spcAft>
              <a:buClrTx/>
              <a:buSzTx/>
              <a:buFont typeface="Arial" panose="020B0604020202020204" pitchFamily="34" charset="0"/>
              <a:buNone/>
              <a:tabLst/>
              <a:defRPr/>
            </a:pPr>
            <a:r>
              <a:rPr kumimoji="0" 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rPr>
              <a:t>Multilayer Perceptrons (MLPs) are a type of artificial neural network commonly used in machine learning tasks, including image classification. Ship classification in Synthetic Aperture Radar (SAR) images is a significant application, as SAR provides unique advantages such as all-weather, day-and-night imaging capabilities.</a:t>
            </a:r>
            <a:br>
              <a:rPr kumimoji="0" 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rPr>
            </a:br>
            <a:endParaRPr kumimoji="0" lang="en-US" sz="1800" b="0" i="0" u="none" strike="noStrike" kern="1200" cap="none" spc="0" normalizeH="0" baseline="0" noProof="0" dirty="0" smtClean="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1000"/>
              </a:spcAft>
              <a:buClrTx/>
              <a:buSzTx/>
              <a:tabLst/>
              <a:defRPr/>
            </a:pPr>
            <a:r>
              <a:rPr kumimoji="0" lang="en-US" sz="1800" b="1" i="0" u="none" strike="noStrike" kern="1200" cap="none" spc="0" normalizeH="0" baseline="0" noProof="0" dirty="0" smtClean="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rPr>
              <a:t>2.  CONVOLUTIONAL NEURAL NETWORK (CNN):</a:t>
            </a:r>
            <a:endParaRPr kumimoji="0" lang="en-US" sz="1800" b="0" i="0" u="none" strike="noStrike" kern="1200" cap="none" spc="0" normalizeH="0" baseline="0" noProof="0" dirty="0" smtClean="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360"/>
              </a:spcBef>
              <a:spcAft>
                <a:spcPts val="0"/>
              </a:spcAft>
              <a:buClrTx/>
              <a:buSzTx/>
              <a:buFont typeface="Arial" panose="020B0604020202020204" pitchFamily="34" charset="0"/>
              <a:buNone/>
              <a:tabLst/>
              <a:defRPr/>
            </a:pPr>
            <a:r>
              <a:rPr kumimoji="0" lang="en-US" sz="1800" b="0" i="0" u="none" strike="noStrike" kern="1200" cap="none" spc="0" normalizeH="0" baseline="0" noProof="0" dirty="0" smtClean="0">
                <a:ln>
                  <a:noFill/>
                </a:ln>
                <a:solidFill>
                  <a:schemeClr val="tx1"/>
                </a:solidFill>
                <a:effectLst/>
                <a:uLnTx/>
                <a:uFillTx/>
                <a:latin typeface="Times New Roman" panose="02020603050405020304" pitchFamily="18" charset="0"/>
                <a:ea typeface="Calibri" panose="020F0502020204030204" pitchFamily="34" charset="0"/>
                <a:cs typeface="+mn-cs"/>
              </a:rPr>
              <a:t>Ship classification in synthetic aperture radar (SAR) images using Convolutional Neural Networks (CNNs) involves leveraging the power of deep learning to automatically learn hierarchical features from the input data. SAR images are particularly challenging due to their complex and noisy nature, making traditional image processing methods</a:t>
            </a:r>
            <a:endParaRPr kumimoji="0" lang="en-US" sz="15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822925946"/>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3F27A995-2AE8-E3C4-39B0-870BFD4D179F}"/>
              </a:ext>
            </a:extLst>
          </p:cNvPr>
          <p:cNvSpPr>
            <a:spLocks noGrp="1"/>
          </p:cNvSpPr>
          <p:nvPr>
            <p:ph type="ftr" sz="quarter" idx="11"/>
          </p:nvPr>
        </p:nvSpPr>
        <p:spPr>
          <a:xfrm>
            <a:off x="6096000" y="93980"/>
            <a:ext cx="5795772" cy="274320"/>
          </a:xfrm>
        </p:spPr>
        <p:txBody>
          <a:bodyPr/>
          <a:lstStyle/>
          <a:p>
            <a:r>
              <a:rPr lang="en-US" sz="1200" dirty="0">
                <a:solidFill>
                  <a:schemeClr val="tx1"/>
                </a:solidFill>
                <a:latin typeface="Times New Roman" panose="02020603050405020304" pitchFamily="18" charset="0"/>
                <a:cs typeface="Times New Roman" panose="02020603050405020304" pitchFamily="18" charset="0"/>
              </a:rPr>
              <a:t>Ship Detection Based on Faster R-CNN Using Range-Compressed Airborne Radar Data</a:t>
            </a:r>
            <a:endParaRPr lang="en-US" dirty="0"/>
          </a:p>
          <a:p>
            <a:endParaRPr lang="en-US" dirty="0"/>
          </a:p>
        </p:txBody>
      </p:sp>
      <p:sp>
        <p:nvSpPr>
          <p:cNvPr id="5" name="Slide Number Placeholder 4">
            <a:extLst>
              <a:ext uri="{FF2B5EF4-FFF2-40B4-BE49-F238E27FC236}">
                <a16:creationId xmlns:a16="http://schemas.microsoft.com/office/drawing/2014/main" xmlns="" id="{DB1A717B-9B91-55EA-3D6B-0CCE7823F06F}"/>
              </a:ext>
            </a:extLst>
          </p:cNvPr>
          <p:cNvSpPr>
            <a:spLocks noGrp="1"/>
          </p:cNvSpPr>
          <p:nvPr>
            <p:ph type="sldNum" sz="quarter" idx="12"/>
          </p:nvPr>
        </p:nvSpPr>
        <p:spPr/>
        <p:txBody>
          <a:bodyPr/>
          <a:lstStyle/>
          <a:p>
            <a:fld id="{48F63A3B-78C7-47BE-AE5E-E10140E04643}" type="slidenum">
              <a:rPr lang="en-US" smtClean="0"/>
              <a:pPr/>
              <a:t>8</a:t>
            </a:fld>
            <a:endParaRPr lang="en-US" dirty="0"/>
          </a:p>
        </p:txBody>
      </p:sp>
      <p:sp>
        <p:nvSpPr>
          <p:cNvPr id="8" name="Content Placeholder 2">
            <a:extLst>
              <a:ext uri="{FF2B5EF4-FFF2-40B4-BE49-F238E27FC236}">
                <a16:creationId xmlns:a16="http://schemas.microsoft.com/office/drawing/2014/main" xmlns="" id="{2F73CDD3-78D0-D81E-536D-E2F12F1C26F3}"/>
              </a:ext>
            </a:extLst>
          </p:cNvPr>
          <p:cNvSpPr>
            <a:spLocks noGrp="1"/>
          </p:cNvSpPr>
          <p:nvPr>
            <p:ph idx="1"/>
          </p:nvPr>
        </p:nvSpPr>
        <p:spPr>
          <a:xfrm>
            <a:off x="3557778" y="975232"/>
            <a:ext cx="8375142" cy="5425567"/>
          </a:xfrm>
        </p:spPr>
        <p:txBody>
          <a:bodyPr/>
          <a:lstStyle/>
          <a:p>
            <a:pPr marL="0" marR="0">
              <a:lnSpc>
                <a:spcPct val="115000"/>
              </a:lnSpc>
              <a:spcBef>
                <a:spcPts val="0"/>
              </a:spcBef>
              <a:spcAft>
                <a:spcPts val="1000"/>
              </a:spcAft>
            </a:pPr>
            <a:r>
              <a:rPr lang="en-US" sz="1800" b="1" dirty="0">
                <a:solidFill>
                  <a:srgbClr val="0F0F0F"/>
                </a:solidFill>
                <a:effectLst/>
                <a:latin typeface="Times New Roman" panose="02020603050405020304" pitchFamily="18" charset="0"/>
                <a:ea typeface="Calibri" panose="020F0502020204030204" pitchFamily="34" charset="0"/>
                <a:cs typeface="Times New Roman" panose="02020603050405020304" pitchFamily="18" charset="0"/>
              </a:rPr>
              <a:t>PARAMETERS: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1000"/>
              </a:spcAft>
              <a:buFont typeface="+mj-lt"/>
              <a:buAutoNum type="arabicPeriod"/>
            </a:pPr>
            <a:r>
              <a:rPr lang="en-US" sz="1800" b="1" dirty="0">
                <a:solidFill>
                  <a:srgbClr val="0F0F0F"/>
                </a:solidFill>
                <a:effectLst/>
                <a:latin typeface="Times New Roman" panose="02020603050405020304" pitchFamily="18" charset="0"/>
                <a:ea typeface="Calibri" panose="020F0502020204030204" pitchFamily="34" charset="0"/>
                <a:cs typeface="Times New Roman" panose="02020603050405020304" pitchFamily="18" charset="0"/>
              </a:rPr>
              <a:t>BETTER PERFORMANCE: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1000"/>
              </a:spcAft>
            </a:pPr>
            <a:r>
              <a:rPr lang="en-US" sz="1800" dirty="0">
                <a:solidFill>
                  <a:srgbClr val="0F0F0F"/>
                </a:solidFill>
                <a:effectLst/>
                <a:latin typeface="Times New Roman" panose="02020603050405020304" pitchFamily="18" charset="0"/>
                <a:ea typeface="Calibri" panose="020F0502020204030204" pitchFamily="34" charset="0"/>
                <a:cs typeface="Times New Roman" panose="02020603050405020304" pitchFamily="18" charset="0"/>
              </a:rPr>
              <a:t>This program analyzes the image pixel by pixel, identifying the targeted pixels by analyzing the statistical data of its neighboring pixels. Then, for picture classification, a neural network using a hybrid CNN and multilayer perceptron method (CNN–MLP) is recommended. This approach uses genuine SAR photos from Sentinel-1 and RADARSAT-2 satellites to train the algorithm, which results in a better performance compared to state-of-the-art in object classification</a:t>
            </a:r>
            <a:r>
              <a:rPr lang="en-US" sz="1800" dirty="0" smtClean="0">
                <a:solidFill>
                  <a:srgbClr val="0F0F0F"/>
                </a:solidFill>
                <a:effectLst/>
                <a:latin typeface="Times New Roman" panose="02020603050405020304" pitchFamily="18" charset="0"/>
                <a:ea typeface="Calibri" panose="020F0502020204030204" pitchFamily="34" charset="0"/>
                <a:cs typeface="Times New Roman" panose="02020603050405020304" pitchFamily="18" charset="0"/>
              </a:rPr>
              <a:t>.</a:t>
            </a:r>
          </a:p>
          <a:p>
            <a:pPr marL="342900" marR="0" lvl="0" indent="-342900">
              <a:lnSpc>
                <a:spcPct val="115000"/>
              </a:lnSpc>
              <a:spcBef>
                <a:spcPts val="0"/>
              </a:spcBef>
              <a:spcAft>
                <a:spcPts val="1000"/>
              </a:spcAft>
            </a:pPr>
            <a:endParaRPr lang="en-US" sz="1800" b="1" dirty="0">
              <a:solidFill>
                <a:srgbClr val="0F0F0F"/>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1000"/>
              </a:spcAft>
            </a:pPr>
            <a:r>
              <a:rPr lang="en-US" sz="1800" b="1" dirty="0" smtClean="0">
                <a:solidFill>
                  <a:srgbClr val="0F0F0F"/>
                </a:solidFill>
                <a:effectLst/>
                <a:latin typeface="Times New Roman" pitchFamily="18" charset="0"/>
                <a:ea typeface="Calibri" panose="020F0502020204030204" pitchFamily="34" charset="0"/>
                <a:cs typeface="Times New Roman" pitchFamily="18" charset="0"/>
              </a:rPr>
              <a:t>2</a:t>
            </a:r>
            <a:r>
              <a:rPr lang="en-US" sz="1800" b="1" dirty="0" smtClean="0">
                <a:solidFill>
                  <a:srgbClr val="0F0F0F"/>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smtClean="0">
                <a:solidFill>
                  <a:srgbClr val="0F0F0F"/>
                </a:solidFill>
                <a:effectLst/>
                <a:latin typeface="Times New Roman" panose="02020603050405020304" pitchFamily="18" charset="0"/>
                <a:ea typeface="Calibri" panose="020F0502020204030204" pitchFamily="34" charset="0"/>
                <a:cs typeface="Times New Roman" panose="02020603050405020304" pitchFamily="18" charset="0"/>
              </a:rPr>
              <a:t>ACCURACY</a:t>
            </a:r>
            <a:r>
              <a:rPr lang="en-US" sz="1800" b="1" dirty="0">
                <a:solidFill>
                  <a:srgbClr val="0F0F0F"/>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1000"/>
              </a:spcAft>
            </a:pPr>
            <a:r>
              <a:rPr lang="en-US" sz="1800" dirty="0">
                <a:solidFill>
                  <a:srgbClr val="0F0F0F"/>
                </a:solidFill>
                <a:effectLst/>
                <a:latin typeface="Times New Roman" panose="02020603050405020304" pitchFamily="18" charset="0"/>
                <a:ea typeface="Calibri" panose="020F0502020204030204" pitchFamily="34" charset="0"/>
                <a:cs typeface="Times New Roman" panose="02020603050405020304" pitchFamily="18" charset="0"/>
              </a:rPr>
              <a:t>Accuracy is a fundamental metric that measures the overall correctness of the classification model. It is the ratio of correctly predicted instances to the total instances.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xmlns="" val="3574350728"/>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A461C6-D6EA-638C-345A-AAA34B696CCE}"/>
              </a:ext>
            </a:extLst>
          </p:cNvPr>
          <p:cNvSpPr>
            <a:spLocks noGrp="1"/>
          </p:cNvSpPr>
          <p:nvPr>
            <p:ph type="title"/>
          </p:nvPr>
        </p:nvSpPr>
        <p:spPr>
          <a:xfrm>
            <a:off x="3967784" y="457200"/>
            <a:ext cx="6766560" cy="768096"/>
          </a:xfrm>
        </p:spPr>
        <p:txBody>
          <a:bodyPr/>
          <a:lstStyle/>
          <a:p>
            <a:pPr marL="0" marR="0" algn="ctr">
              <a:lnSpc>
                <a:spcPct val="107000"/>
              </a:lnSpc>
              <a:spcBef>
                <a:spcPts val="0"/>
              </a:spcBef>
              <a:spcAft>
                <a:spcPts val="800"/>
              </a:spcAft>
            </a:pPr>
            <a:r>
              <a:rPr lang="en-IN" sz="1800" b="1" kern="100" dirty="0" smtClean="0">
                <a:effectLst/>
                <a:latin typeface="Times New Roman" pitchFamily="18" charset="0"/>
                <a:ea typeface="Calibri" panose="020F0502020204030204" pitchFamily="34" charset="0"/>
                <a:cs typeface="Times New Roman" pitchFamily="18" charset="0"/>
              </a:rPr>
              <a:t>paper-2</a:t>
            </a:r>
            <a:r>
              <a:rPr lang="en-IN" sz="1800" b="1" kern="100" dirty="0">
                <a:effectLst/>
                <a:latin typeface="Times New Roman" pitchFamily="18" charset="0"/>
                <a:ea typeface="Calibri" panose="020F0502020204030204" pitchFamily="34" charset="0"/>
                <a:cs typeface="Times New Roman" pitchFamily="18" charset="0"/>
              </a:rPr>
              <a:t/>
            </a:r>
            <a:br>
              <a:rPr lang="en-IN" sz="1800" b="1" kern="100" dirty="0">
                <a:effectLst/>
                <a:latin typeface="Times New Roman" pitchFamily="18" charset="0"/>
                <a:ea typeface="Calibri" panose="020F0502020204030204" pitchFamily="34" charset="0"/>
                <a:cs typeface="Times New Roman" pitchFamily="18" charset="0"/>
              </a:rPr>
            </a:br>
            <a:r>
              <a:rPr lang="en-IN" sz="1800" b="1" kern="100" dirty="0">
                <a:latin typeface="Times New Roman" pitchFamily="18" charset="0"/>
                <a:ea typeface="Calibri" panose="020F0502020204030204" pitchFamily="34" charset="0"/>
                <a:cs typeface="Times New Roman" pitchFamily="18" charset="0"/>
              </a:rPr>
              <a:t>Research by: </a:t>
            </a:r>
            <a:r>
              <a:rPr lang="en-IN" sz="1800" kern="100" dirty="0" smtClean="0">
                <a:latin typeface="Times New Roman" pitchFamily="18" charset="0"/>
                <a:ea typeface="Calibri" panose="020F0502020204030204" pitchFamily="34" charset="0"/>
                <a:cs typeface="Times New Roman" pitchFamily="18" charset="0"/>
              </a:rPr>
              <a:t>HALEEMA SADIYA</a:t>
            </a:r>
            <a:r>
              <a:rPr lang="en-IN" sz="1800" b="1" kern="100" dirty="0" smtClean="0">
                <a:latin typeface="Times New Roman" pitchFamily="18" charset="0"/>
                <a:ea typeface="Calibri" panose="020F0502020204030204" pitchFamily="34" charset="0"/>
                <a:cs typeface="Times New Roman" pitchFamily="18" charset="0"/>
              </a:rPr>
              <a:t> </a:t>
            </a:r>
            <a:r>
              <a:rPr lang="en-IN" sz="1800" b="1" kern="100" dirty="0">
                <a:latin typeface="Times New Roman" pitchFamily="18" charset="0"/>
                <a:ea typeface="Calibri" panose="020F0502020204030204" pitchFamily="34" charset="0"/>
                <a:cs typeface="Times New Roman" pitchFamily="18" charset="0"/>
              </a:rPr>
              <a:t>[</a:t>
            </a:r>
            <a:r>
              <a:rPr lang="en-IN" sz="1800" b="1" kern="100" dirty="0" smtClean="0">
                <a:latin typeface="Times New Roman" pitchFamily="18" charset="0"/>
                <a:ea typeface="Calibri" panose="020F0502020204030204" pitchFamily="34" charset="0"/>
                <a:cs typeface="Times New Roman" pitchFamily="18" charset="0"/>
              </a:rPr>
              <a:t>20L51A1213]</a:t>
            </a:r>
            <a:r>
              <a:rPr lang="en-US" sz="1800" kern="100" dirty="0">
                <a:effectLst/>
                <a:latin typeface="Times New Roman" pitchFamily="18" charset="0"/>
                <a:ea typeface="Calibri" panose="020F0502020204030204" pitchFamily="34" charset="0"/>
                <a:cs typeface="Times New Roman" pitchFamily="18" charset="0"/>
              </a:rPr>
              <a:t/>
            </a:r>
            <a:br>
              <a:rPr lang="en-US" sz="1800" kern="100" dirty="0">
                <a:effectLst/>
                <a:latin typeface="Times New Roman" pitchFamily="18" charset="0"/>
                <a:ea typeface="Calibri" panose="020F0502020204030204" pitchFamily="34" charset="0"/>
                <a:cs typeface="Times New Roman" pitchFamily="18" charset="0"/>
              </a:rPr>
            </a:br>
            <a:endParaRPr lang="en-US" sz="18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1FC60A71-9FB2-7299-0DEF-857090828153}"/>
              </a:ext>
            </a:extLst>
          </p:cNvPr>
          <p:cNvSpPr>
            <a:spLocks noGrp="1"/>
          </p:cNvSpPr>
          <p:nvPr>
            <p:ph idx="1"/>
          </p:nvPr>
        </p:nvSpPr>
        <p:spPr>
          <a:xfrm>
            <a:off x="3543300" y="1362456"/>
            <a:ext cx="8389620" cy="5276850"/>
          </a:xfrm>
        </p:spPr>
        <p:txBody>
          <a:bodyPr/>
          <a:lstStyle/>
          <a:p>
            <a:pPr lvl="0">
              <a:lnSpc>
                <a:spcPct val="107000"/>
              </a:lnSpc>
              <a:spcBef>
                <a:spcPts val="0"/>
              </a:spcBef>
              <a:buClr>
                <a:schemeClr val="dk1"/>
              </a:buClr>
              <a:buSzPts val="1800"/>
            </a:pP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TITLE: </a:t>
            </a:r>
            <a:r>
              <a:rPr lang="en-US" sz="1800" b="1" dirty="0" smtClean="0">
                <a:solidFill>
                  <a:schemeClr val="dk1"/>
                </a:solidFill>
                <a:latin typeface="Times New Roman"/>
                <a:ea typeface="Times New Roman"/>
                <a:cs typeface="Times New Roman"/>
                <a:sym typeface="Times New Roman"/>
              </a:rPr>
              <a:t>:</a:t>
            </a:r>
            <a:r>
              <a:rPr lang="en-US" sz="1800" dirty="0" smtClean="0">
                <a:latin typeface="Times New Roman"/>
                <a:ea typeface="Times New Roman"/>
                <a:cs typeface="Times New Roman"/>
                <a:sym typeface="Times New Roman"/>
              </a:rPr>
              <a:t> </a:t>
            </a:r>
            <a:r>
              <a:rPr lang="en-US" sz="1800" b="1" dirty="0" smtClean="0">
                <a:solidFill>
                  <a:schemeClr val="dk1"/>
                </a:solidFill>
                <a:latin typeface="Times New Roman"/>
                <a:ea typeface="Times New Roman"/>
                <a:cs typeface="Times New Roman"/>
                <a:sym typeface="Times New Roman"/>
              </a:rPr>
              <a:t>The High-Resolution Digital-</a:t>
            </a:r>
            <a:r>
              <a:rPr lang="en-US" sz="1800" b="1" dirty="0" err="1" smtClean="0">
                <a:solidFill>
                  <a:schemeClr val="dk1"/>
                </a:solidFill>
                <a:latin typeface="Times New Roman"/>
                <a:ea typeface="Times New Roman"/>
                <a:cs typeface="Times New Roman"/>
                <a:sym typeface="Times New Roman"/>
              </a:rPr>
              <a:t>Beamforming</a:t>
            </a:r>
            <a:r>
              <a:rPr lang="en-US" sz="1800" b="1" dirty="0" smtClean="0">
                <a:solidFill>
                  <a:schemeClr val="dk1"/>
                </a:solidFill>
                <a:latin typeface="Times New Roman"/>
                <a:ea typeface="Times New Roman"/>
                <a:cs typeface="Times New Roman"/>
                <a:sym typeface="Times New Roman"/>
              </a:rPr>
              <a:t> Airborne SAR System DBFSAR</a:t>
            </a:r>
            <a:endParaRPr lang="en-US" sz="1800" b="1" dirty="0" smtClean="0">
              <a:solidFill>
                <a:schemeClr val="dk1"/>
              </a:solidFill>
              <a:latin typeface="Calibri"/>
              <a:ea typeface="Calibri"/>
              <a:cs typeface="Calibri"/>
              <a:sym typeface="Calibri"/>
            </a:endParaRPr>
          </a:p>
          <a:p>
            <a:pPr lvl="0">
              <a:lnSpc>
                <a:spcPct val="107000"/>
              </a:lnSpc>
              <a:spcBef>
                <a:spcPts val="1160"/>
              </a:spcBef>
              <a:buClr>
                <a:schemeClr val="dk1"/>
              </a:buClr>
              <a:buSzPts val="1800"/>
            </a:pPr>
            <a:r>
              <a:rPr lang="en-US" sz="1800" b="1" dirty="0" smtClean="0">
                <a:solidFill>
                  <a:schemeClr val="dk1"/>
                </a:solidFill>
                <a:latin typeface="Times New Roman"/>
                <a:ea typeface="Times New Roman"/>
                <a:cs typeface="Times New Roman"/>
                <a:sym typeface="Times New Roman"/>
              </a:rPr>
              <a:t>AUTHOR NAME :</a:t>
            </a:r>
            <a:r>
              <a:rPr lang="en-US" sz="1800" dirty="0" smtClean="0">
                <a:latin typeface="Times New Roman"/>
                <a:ea typeface="Times New Roman"/>
                <a:cs typeface="Times New Roman"/>
                <a:sym typeface="Times New Roman"/>
              </a:rPr>
              <a:t> </a:t>
            </a:r>
            <a:r>
              <a:rPr lang="en-US" sz="1800" dirty="0" smtClean="0">
                <a:solidFill>
                  <a:schemeClr val="dk1"/>
                </a:solidFill>
                <a:latin typeface="Times New Roman"/>
                <a:ea typeface="Times New Roman"/>
                <a:cs typeface="Times New Roman"/>
                <a:sym typeface="Times New Roman"/>
              </a:rPr>
              <a:t>Andreas </a:t>
            </a:r>
            <a:r>
              <a:rPr lang="en-US" sz="1800" dirty="0" err="1" smtClean="0">
                <a:solidFill>
                  <a:schemeClr val="dk1"/>
                </a:solidFill>
                <a:latin typeface="Times New Roman"/>
                <a:ea typeface="Times New Roman"/>
                <a:cs typeface="Times New Roman"/>
                <a:sym typeface="Times New Roman"/>
              </a:rPr>
              <a:t>Rieger</a:t>
            </a:r>
            <a:r>
              <a:rPr lang="en-US" sz="1800" dirty="0" smtClean="0">
                <a:solidFill>
                  <a:schemeClr val="dk1"/>
                </a:solidFill>
                <a:latin typeface="Calibri"/>
                <a:ea typeface="Times New Roman"/>
                <a:cs typeface="Calibri"/>
                <a:sym typeface="Calibri"/>
              </a:rPr>
              <a:t>, </a:t>
            </a:r>
            <a:r>
              <a:rPr lang="en-US" sz="1800" dirty="0" smtClean="0">
                <a:solidFill>
                  <a:schemeClr val="dk1"/>
                </a:solidFill>
                <a:latin typeface="Times New Roman"/>
                <a:ea typeface="Times New Roman"/>
                <a:cs typeface="Times New Roman"/>
                <a:sym typeface="Times New Roman"/>
              </a:rPr>
              <a:t>Eric Schreiber</a:t>
            </a:r>
            <a:r>
              <a:rPr lang="en-US" sz="1800" dirty="0" smtClean="0">
                <a:solidFill>
                  <a:schemeClr val="dk1"/>
                </a:solidFill>
                <a:latin typeface="Calibri"/>
                <a:ea typeface="Times New Roman"/>
                <a:cs typeface="Calibri"/>
                <a:sym typeface="Calibri"/>
              </a:rPr>
              <a:t>, </a:t>
            </a:r>
            <a:r>
              <a:rPr lang="en-US" sz="1800" dirty="0" smtClean="0">
                <a:solidFill>
                  <a:schemeClr val="dk1"/>
                </a:solidFill>
                <a:latin typeface="Times New Roman"/>
                <a:ea typeface="Times New Roman"/>
                <a:cs typeface="Times New Roman"/>
                <a:sym typeface="Times New Roman"/>
              </a:rPr>
              <a:t>Kurt </a:t>
            </a:r>
            <a:r>
              <a:rPr lang="en-US" sz="1800" dirty="0" smtClean="0">
                <a:solidFill>
                  <a:schemeClr val="dk1"/>
                </a:solidFill>
                <a:latin typeface="Times New Roman"/>
                <a:ea typeface="Times New Roman"/>
                <a:cs typeface="Times New Roman"/>
                <a:sym typeface="Times New Roman"/>
              </a:rPr>
              <a:t>Trapp </a:t>
            </a:r>
            <a:r>
              <a:rPr lang="en-US" sz="1800" dirty="0" err="1" smtClean="0">
                <a:solidFill>
                  <a:schemeClr val="dk1"/>
                </a:solidFill>
                <a:latin typeface="Times New Roman"/>
                <a:ea typeface="Times New Roman"/>
                <a:cs typeface="Times New Roman"/>
                <a:sym typeface="Times New Roman"/>
              </a:rPr>
              <a:t>schuh</a:t>
            </a:r>
            <a:endParaRPr lang="en-US" sz="1800" dirty="0" smtClean="0">
              <a:solidFill>
                <a:schemeClr val="dk1"/>
              </a:solidFill>
              <a:latin typeface="Times New Roman"/>
              <a:ea typeface="Times New Roman"/>
              <a:cs typeface="Times New Roman"/>
              <a:sym typeface="Times New Roman"/>
            </a:endParaRPr>
          </a:p>
          <a:p>
            <a:pPr lvl="0">
              <a:lnSpc>
                <a:spcPct val="107000"/>
              </a:lnSpc>
              <a:buClr>
                <a:schemeClr val="dk1"/>
              </a:buClr>
              <a:buSzPts val="1800"/>
            </a:pPr>
            <a:r>
              <a:rPr lang="en-US" sz="1800" b="1" dirty="0" smtClean="0">
                <a:solidFill>
                  <a:schemeClr val="dk1"/>
                </a:solidFill>
                <a:latin typeface="Times New Roman"/>
                <a:ea typeface="Times New Roman"/>
                <a:cs typeface="Times New Roman"/>
                <a:sym typeface="Times New Roman"/>
              </a:rPr>
              <a:t>YEAR </a:t>
            </a:r>
            <a:r>
              <a:rPr lang="en-US" sz="1800" b="1" dirty="0" smtClean="0">
                <a:solidFill>
                  <a:schemeClr val="dk1"/>
                </a:solidFill>
                <a:latin typeface="Times New Roman"/>
                <a:ea typeface="Times New Roman"/>
                <a:cs typeface="Times New Roman"/>
                <a:sym typeface="Times New Roman"/>
              </a:rPr>
              <a:t>: </a:t>
            </a:r>
            <a:r>
              <a:rPr lang="en-US" sz="1800" dirty="0" smtClean="0">
                <a:solidFill>
                  <a:schemeClr val="dk1"/>
                </a:solidFill>
                <a:latin typeface="Times New Roman"/>
                <a:ea typeface="Times New Roman"/>
                <a:cs typeface="Times New Roman"/>
                <a:sym typeface="Times New Roman"/>
              </a:rPr>
              <a:t>2020</a:t>
            </a:r>
          </a:p>
          <a:p>
            <a:pPr lvl="0">
              <a:lnSpc>
                <a:spcPct val="107000"/>
              </a:lnSpc>
              <a:buClr>
                <a:schemeClr val="dk1"/>
              </a:buClr>
              <a:buSzPts val="1800"/>
            </a:pPr>
            <a:endParaRPr lang="en-US" sz="1800" dirty="0" smtClean="0">
              <a:solidFill>
                <a:schemeClr val="dk1"/>
              </a:solidFill>
              <a:latin typeface="Times New Roman"/>
              <a:ea typeface="Calibri"/>
              <a:cs typeface="Times New Roman"/>
              <a:sym typeface="Times New Roman"/>
            </a:endParaRPr>
          </a:p>
          <a:p>
            <a:pPr lvl="0">
              <a:lnSpc>
                <a:spcPct val="107000"/>
              </a:lnSpc>
              <a:buClr>
                <a:schemeClr val="dk1"/>
              </a:buClr>
              <a:buSzPts val="1800"/>
            </a:pPr>
            <a:endParaRPr lang="en-US" sz="1800" dirty="0" smtClean="0">
              <a:solidFill>
                <a:schemeClr val="dk1"/>
              </a:solidFill>
              <a:latin typeface="Times New Roman"/>
              <a:ea typeface="Calibri"/>
              <a:cs typeface="Times New Roman"/>
              <a:sym typeface="Times New Roman"/>
            </a:endParaRPr>
          </a:p>
          <a:p>
            <a:pPr lvl="0">
              <a:lnSpc>
                <a:spcPct val="107000"/>
              </a:lnSpc>
              <a:buClr>
                <a:schemeClr val="dk1"/>
              </a:buClr>
              <a:buSzPts val="1800"/>
            </a:pPr>
            <a:endParaRPr lang="en-US" sz="1800" dirty="0" smtClean="0">
              <a:solidFill>
                <a:schemeClr val="dk1"/>
              </a:solidFill>
              <a:latin typeface="Times New Roman"/>
              <a:ea typeface="Calibri"/>
              <a:cs typeface="Times New Roman"/>
              <a:sym typeface="Times New Roman"/>
            </a:endParaRPr>
          </a:p>
          <a:p>
            <a:pPr lvl="0">
              <a:lnSpc>
                <a:spcPct val="107000"/>
              </a:lnSpc>
              <a:buClr>
                <a:schemeClr val="dk1"/>
              </a:buClr>
              <a:buSzPts val="1800"/>
            </a:pPr>
            <a:endParaRPr lang="en-US" sz="1800" dirty="0" smtClean="0">
              <a:solidFill>
                <a:schemeClr val="dk1"/>
              </a:solidFill>
              <a:latin typeface="Calibri"/>
              <a:ea typeface="Calibri"/>
              <a:cs typeface="Calibri"/>
              <a:sym typeface="Calibri"/>
            </a:endParaRPr>
          </a:p>
          <a:p>
            <a:pPr lvl="0">
              <a:lnSpc>
                <a:spcPct val="107000"/>
              </a:lnSpc>
              <a:spcBef>
                <a:spcPts val="1160"/>
              </a:spcBef>
              <a:buClr>
                <a:schemeClr val="dk1"/>
              </a:buClr>
              <a:buSzPts val="1800"/>
            </a:pPr>
            <a:r>
              <a:rPr lang="en-US" sz="1800" b="1" dirty="0" smtClean="0">
                <a:solidFill>
                  <a:schemeClr val="dk1"/>
                </a:solidFill>
                <a:latin typeface="Times New Roman"/>
                <a:ea typeface="Times New Roman"/>
                <a:cs typeface="Times New Roman"/>
                <a:sym typeface="Times New Roman"/>
              </a:rPr>
              <a:t>BRIEF:</a:t>
            </a:r>
            <a:endParaRPr lang="en-US" sz="1800" b="1" dirty="0" smtClean="0">
              <a:solidFill>
                <a:schemeClr val="dk1"/>
              </a:solidFill>
              <a:latin typeface="Calibri"/>
              <a:ea typeface="Calibri"/>
              <a:cs typeface="Calibri"/>
              <a:sym typeface="Calibri"/>
            </a:endParaRPr>
          </a:p>
          <a:p>
            <a:pPr lvl="0">
              <a:lnSpc>
                <a:spcPct val="107000"/>
              </a:lnSpc>
              <a:spcBef>
                <a:spcPts val="1160"/>
              </a:spcBef>
              <a:buClr>
                <a:srgbClr val="0F0F0F"/>
              </a:buClr>
              <a:buSzPts val="1800"/>
            </a:pPr>
            <a:r>
              <a:rPr lang="en-US" sz="1800" dirty="0" smtClean="0">
                <a:solidFill>
                  <a:srgbClr val="0F0F0F"/>
                </a:solidFill>
                <a:latin typeface="Times New Roman"/>
                <a:ea typeface="Times New Roman"/>
                <a:cs typeface="Times New Roman"/>
                <a:sym typeface="Times New Roman"/>
              </a:rPr>
              <a:t>Synthetic Aperture Radar (SAR) system with digital </a:t>
            </a:r>
            <a:r>
              <a:rPr lang="en-US" sz="1800" dirty="0" smtClean="0">
                <a:solidFill>
                  <a:srgbClr val="0F0F0F"/>
                </a:solidFill>
                <a:latin typeface="Times New Roman"/>
                <a:ea typeface="Times New Roman"/>
                <a:cs typeface="Times New Roman"/>
                <a:sym typeface="Times New Roman"/>
              </a:rPr>
              <a:t>beam forming </a:t>
            </a:r>
            <a:r>
              <a:rPr lang="en-US" sz="1800" dirty="0" smtClean="0">
                <a:solidFill>
                  <a:srgbClr val="0F0F0F"/>
                </a:solidFill>
                <a:latin typeface="Times New Roman"/>
                <a:ea typeface="Times New Roman"/>
                <a:cs typeface="Times New Roman"/>
                <a:sym typeface="Times New Roman"/>
              </a:rPr>
              <a:t>(DBF) capabilities, known as the DBFSAR, being developed by the Microwaves and Radar Institute of the German Aerospace Centre (DLR). SAR is a remote sensing technique used for high-resolution Earth surface imagery. The limitation of current space-borne SAR systems is their challenge in achieving both high azimuth resolution and a large swath width simultaneously. </a:t>
            </a:r>
            <a:endParaRPr lang="en-US"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xmlns="" id="{5D20A86B-018F-8FC1-7C98-F58773076A4B}"/>
              </a:ext>
            </a:extLst>
          </p:cNvPr>
          <p:cNvSpPr>
            <a:spLocks noGrp="1"/>
          </p:cNvSpPr>
          <p:nvPr>
            <p:ph type="ftr" sz="quarter" idx="11"/>
          </p:nvPr>
        </p:nvSpPr>
        <p:spPr>
          <a:xfrm>
            <a:off x="6270498" y="57150"/>
            <a:ext cx="6272022" cy="567690"/>
          </a:xfrm>
        </p:spPr>
        <p:txBody>
          <a:bodyPr/>
          <a:lstStyle/>
          <a:p>
            <a:r>
              <a:rPr lang="en-US" sz="1200" dirty="0">
                <a:solidFill>
                  <a:schemeClr val="tx1"/>
                </a:solidFill>
                <a:latin typeface="Times New Roman" panose="02020603050405020304" pitchFamily="18" charset="0"/>
                <a:cs typeface="Times New Roman" panose="02020603050405020304" pitchFamily="18" charset="0"/>
              </a:rPr>
              <a:t>Ship Detection Based on Faster R-CNN Using Range-Compressed Airborne Radar Data</a:t>
            </a:r>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xmlns="" id="{6FF93020-F594-14C3-A6C9-1F076BFBBA75}"/>
              </a:ext>
            </a:extLst>
          </p:cNvPr>
          <p:cNvSpPr>
            <a:spLocks noGrp="1"/>
          </p:cNvSpPr>
          <p:nvPr>
            <p:ph type="sldNum" sz="quarter" idx="12"/>
          </p:nvPr>
        </p:nvSpPr>
        <p:spPr/>
        <p:txBody>
          <a:bodyPr/>
          <a:lstStyle/>
          <a:p>
            <a:fld id="{48F63A3B-78C7-47BE-AE5E-E10140E04643}" type="slidenum">
              <a:rPr lang="en-US" smtClean="0"/>
              <a:pPr/>
              <a:t>9</a:t>
            </a:fld>
            <a:endParaRPr lang="en-US" dirty="0"/>
          </a:p>
        </p:txBody>
      </p:sp>
      <p:pic>
        <p:nvPicPr>
          <p:cNvPr id="9218" name="Picture 2" descr="Remotesensing 12 01710 g014 550"/>
          <p:cNvPicPr>
            <a:picLocks noChangeAspect="1" noChangeArrowheads="1"/>
          </p:cNvPicPr>
          <p:nvPr/>
        </p:nvPicPr>
        <p:blipFill>
          <a:blip r:embed="rId2"/>
          <a:srcRect/>
          <a:stretch>
            <a:fillRect/>
          </a:stretch>
        </p:blipFill>
        <p:spPr bwMode="auto">
          <a:xfrm>
            <a:off x="5630092" y="2649147"/>
            <a:ext cx="3500210" cy="2042851"/>
          </a:xfrm>
          <a:prstGeom prst="rect">
            <a:avLst/>
          </a:prstGeom>
          <a:noFill/>
        </p:spPr>
      </p:pic>
    </p:spTree>
    <p:extLst>
      <p:ext uri="{BB962C8B-B14F-4D97-AF65-F5344CB8AC3E}">
        <p14:creationId xmlns:p14="http://schemas.microsoft.com/office/powerpoint/2010/main" xmlns="" val="4063438227"/>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7D8B3CFA-5835-334A-71AF-44521160276A}"/>
              </a:ext>
            </a:extLst>
          </p:cNvPr>
          <p:cNvSpPr>
            <a:spLocks noGrp="1"/>
          </p:cNvSpPr>
          <p:nvPr>
            <p:ph type="ftr" sz="quarter" idx="11"/>
          </p:nvPr>
        </p:nvSpPr>
        <p:spPr>
          <a:xfrm>
            <a:off x="6205728" y="105410"/>
            <a:ext cx="5986272" cy="703580"/>
          </a:xfrm>
        </p:spPr>
        <p:txBody>
          <a:bodyPr/>
          <a:lstStyle/>
          <a:p>
            <a:r>
              <a:rPr lang="en-US" sz="1200" dirty="0">
                <a:solidFill>
                  <a:schemeClr val="tx1"/>
                </a:solidFill>
                <a:latin typeface="Times New Roman" panose="02020603050405020304" pitchFamily="18" charset="0"/>
                <a:cs typeface="Times New Roman" panose="02020603050405020304" pitchFamily="18" charset="0"/>
              </a:rPr>
              <a:t>Ship Detection Based on Faster R-CNN Using Range-Compressed Airborne Radar Data</a:t>
            </a:r>
            <a:endParaRPr lang="en-US" dirty="0"/>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xmlns="" id="{67DAC5E2-645A-E40B-FEBC-509190174659}"/>
              </a:ext>
            </a:extLst>
          </p:cNvPr>
          <p:cNvSpPr>
            <a:spLocks noGrp="1"/>
          </p:cNvSpPr>
          <p:nvPr>
            <p:ph type="sldNum" sz="quarter" idx="12"/>
          </p:nvPr>
        </p:nvSpPr>
        <p:spPr/>
        <p:txBody>
          <a:bodyPr/>
          <a:lstStyle/>
          <a:p>
            <a:fld id="{48F63A3B-78C7-47BE-AE5E-E10140E04643}" type="slidenum">
              <a:rPr lang="en-US" smtClean="0"/>
              <a:pPr/>
              <a:t>10</a:t>
            </a:fld>
            <a:endParaRPr lang="en-US" dirty="0"/>
          </a:p>
        </p:txBody>
      </p:sp>
      <p:sp>
        <p:nvSpPr>
          <p:cNvPr id="7" name="Google Shape;1330;p31"/>
          <p:cNvSpPr txBox="1">
            <a:spLocks/>
          </p:cNvSpPr>
          <p:nvPr/>
        </p:nvSpPr>
        <p:spPr>
          <a:xfrm>
            <a:off x="3703320" y="808990"/>
            <a:ext cx="8229600" cy="5591930"/>
          </a:xfrm>
          <a:prstGeom prst="rect">
            <a:avLst/>
          </a:prstGeom>
          <a:noFill/>
          <a:ln>
            <a:noFill/>
          </a:ln>
        </p:spPr>
        <p:txBody>
          <a:bodyPr spcFirstLastPara="1" vert="horz" wrap="square" lIns="91425" tIns="45700" rIns="91425" bIns="45700" rtlCol="0" anchor="t" anchorCtr="0">
            <a:noAutofit/>
          </a:bodyPr>
          <a:lstStyle/>
          <a:p>
            <a:pPr marL="0" marR="0" lvl="0" indent="0" algn="l" defTabSz="914400" rtl="0" eaLnBrk="1" fontAlgn="auto" latinLnBrk="0" hangingPunct="1">
              <a:lnSpc>
                <a:spcPct val="107000"/>
              </a:lnSpc>
              <a:spcBef>
                <a:spcPts val="0"/>
              </a:spcBef>
              <a:spcAft>
                <a:spcPts val="0"/>
              </a:spcAft>
              <a:buClr>
                <a:schemeClr val="dk1"/>
              </a:buClr>
              <a:buSzPts val="1800"/>
              <a:buFont typeface="Arial" panose="020B0604020202020204" pitchFamily="34" charset="0"/>
              <a:buNone/>
              <a:tabLst/>
              <a:defRPr/>
            </a:pPr>
            <a:r>
              <a:rPr kumimoji="0" lang="en-US" sz="1800" b="1"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METHODS / ALGORITHMS</a:t>
            </a:r>
            <a:r>
              <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a:t>
            </a:r>
            <a:endParaRPr kumimoji="0" lang="en-US" sz="1500" b="0" i="0" u="none" strike="noStrike" kern="1200" cap="none" spc="0" normalizeH="0" baseline="0" noProof="0" dirty="0" smtClean="0">
              <a:ln>
                <a:noFill/>
              </a:ln>
              <a:solidFill>
                <a:schemeClr val="accent6"/>
              </a:solidFill>
              <a:effectLst/>
              <a:uLnTx/>
              <a:uFillTx/>
              <a:latin typeface="+mn-lt"/>
              <a:ea typeface="+mn-ea"/>
              <a:cs typeface="+mn-cs"/>
            </a:endParaRPr>
          </a:p>
          <a:p>
            <a:pPr marL="0" marR="0" lvl="0" indent="0" algn="l" defTabSz="914400" rtl="0" eaLnBrk="1" fontAlgn="auto" latinLnBrk="0" hangingPunct="1">
              <a:lnSpc>
                <a:spcPct val="107000"/>
              </a:lnSpc>
              <a:spcBef>
                <a:spcPts val="1160"/>
              </a:spcBef>
              <a:spcAft>
                <a:spcPts val="0"/>
              </a:spcAft>
              <a:buClr>
                <a:schemeClr val="dk1"/>
              </a:buClr>
              <a:buSzPts val="1800"/>
              <a:buFont typeface="Arial" panose="020B0604020202020204" pitchFamily="34" charset="0"/>
              <a:buNone/>
              <a:tabLst/>
              <a:defRPr/>
            </a:pPr>
            <a:r>
              <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The algorithms used in high resolution digital </a:t>
            </a:r>
            <a:r>
              <a:rPr kumimoji="0" lang="en-US" sz="1800" b="0" i="0" u="none" strike="noStrike" kern="1200" cap="none" spc="0" normalizeH="0" baseline="0" noProof="0" dirty="0" err="1" smtClean="0">
                <a:ln>
                  <a:noFill/>
                </a:ln>
                <a:solidFill>
                  <a:schemeClr val="dk1"/>
                </a:solidFill>
                <a:effectLst/>
                <a:uLnTx/>
                <a:uFillTx/>
                <a:latin typeface="Times New Roman"/>
                <a:ea typeface="Times New Roman"/>
                <a:cs typeface="Times New Roman"/>
                <a:sym typeface="Times New Roman"/>
              </a:rPr>
              <a:t>beamforming</a:t>
            </a:r>
            <a:r>
              <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 airborne </a:t>
            </a:r>
            <a:r>
              <a:rPr kumimoji="0" lang="en-US" sz="1800" b="0" i="0" u="none" strike="noStrike" kern="1200" cap="none" spc="0" normalizeH="0" baseline="0" noProof="0" dirty="0" err="1" smtClean="0">
                <a:ln>
                  <a:noFill/>
                </a:ln>
                <a:solidFill>
                  <a:schemeClr val="dk1"/>
                </a:solidFill>
                <a:effectLst/>
                <a:uLnTx/>
                <a:uFillTx/>
                <a:latin typeface="Times New Roman"/>
                <a:ea typeface="Times New Roman"/>
                <a:cs typeface="Times New Roman"/>
                <a:sym typeface="Times New Roman"/>
              </a:rPr>
              <a:t>Sar</a:t>
            </a:r>
            <a:r>
              <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 system are:</a:t>
            </a:r>
            <a:endParaRPr kumimoji="0" lang="en-US" sz="1800" b="0" i="0" u="none" strike="noStrike" kern="1200" cap="none" spc="0" normalizeH="0" baseline="0" noProof="0" dirty="0" smtClean="0">
              <a:ln>
                <a:noFill/>
              </a:ln>
              <a:solidFill>
                <a:schemeClr val="dk1"/>
              </a:solidFill>
              <a:effectLst/>
              <a:uLnTx/>
              <a:uFillTx/>
              <a:latin typeface="Calibri"/>
              <a:ea typeface="Calibri"/>
              <a:cs typeface="Calibri"/>
              <a:sym typeface="Calibri"/>
            </a:endParaRPr>
          </a:p>
          <a:p>
            <a:pPr marL="0" marR="0" lvl="0" indent="0" algn="l" defTabSz="914400" rtl="0" eaLnBrk="1" fontAlgn="auto" latinLnBrk="0" hangingPunct="1">
              <a:lnSpc>
                <a:spcPct val="107000"/>
              </a:lnSpc>
              <a:spcBef>
                <a:spcPts val="1160"/>
              </a:spcBef>
              <a:spcAft>
                <a:spcPts val="0"/>
              </a:spcAft>
              <a:buClr>
                <a:schemeClr val="dk1"/>
              </a:buClr>
              <a:buSzPts val="1800"/>
              <a:buFont typeface="Arial" panose="020B0604020202020204" pitchFamily="34" charset="0"/>
              <a:buNone/>
              <a:tabLst/>
              <a:defRPr/>
            </a:pPr>
            <a:r>
              <a:rPr kumimoji="0" lang="en-US" sz="1800" b="1"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1.Synthetic Aperture Radar:</a:t>
            </a:r>
            <a:endParaRPr kumimoji="0" lang="en-US" sz="1800" b="1" i="0" u="none" strike="noStrike" kern="1200" cap="none" spc="0" normalizeH="0" baseline="0" noProof="0" dirty="0" smtClean="0">
              <a:ln>
                <a:noFill/>
              </a:ln>
              <a:solidFill>
                <a:schemeClr val="dk1"/>
              </a:solidFill>
              <a:effectLst/>
              <a:uLnTx/>
              <a:uFillTx/>
              <a:latin typeface="Calibri"/>
              <a:ea typeface="Calibri"/>
              <a:cs typeface="Calibri"/>
              <a:sym typeface="Calibri"/>
            </a:endParaRPr>
          </a:p>
          <a:p>
            <a:pPr marL="342900" marR="0" lvl="0" indent="-342900" algn="l" defTabSz="914400" rtl="0" eaLnBrk="1" fontAlgn="auto" latinLnBrk="0" hangingPunct="1">
              <a:lnSpc>
                <a:spcPct val="107000"/>
              </a:lnSpc>
              <a:spcBef>
                <a:spcPts val="1160"/>
              </a:spcBef>
              <a:spcAft>
                <a:spcPts val="0"/>
              </a:spcAft>
              <a:buClr>
                <a:schemeClr val="dk1"/>
              </a:buClr>
              <a:buSzPts val="1800"/>
              <a:buFont typeface="Noto Sans Symbols"/>
              <a:buChar char="⮚"/>
              <a:tabLst/>
              <a:defRPr/>
            </a:pPr>
            <a:r>
              <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SAR algorithms are used to process the raw radar data obtained from the antenna.</a:t>
            </a:r>
            <a:endParaRPr kumimoji="0" lang="en-US" sz="1800" b="0" i="0" u="none" strike="noStrike" kern="1200" cap="none" spc="0" normalizeH="0" baseline="0" noProof="0" dirty="0" smtClean="0">
              <a:ln>
                <a:noFill/>
              </a:ln>
              <a:solidFill>
                <a:schemeClr val="dk1"/>
              </a:solidFill>
              <a:effectLst/>
              <a:uLnTx/>
              <a:uFillTx/>
              <a:latin typeface="Calibri"/>
              <a:ea typeface="Calibri"/>
              <a:cs typeface="Calibri"/>
              <a:sym typeface="Calibri"/>
            </a:endParaRPr>
          </a:p>
          <a:p>
            <a:pPr marL="342900" marR="0" lvl="0" indent="-342900" algn="l" defTabSz="914400" rtl="0" eaLnBrk="1" fontAlgn="auto" latinLnBrk="0" hangingPunct="1">
              <a:lnSpc>
                <a:spcPct val="107000"/>
              </a:lnSpc>
              <a:spcBef>
                <a:spcPts val="360"/>
              </a:spcBef>
              <a:spcAft>
                <a:spcPts val="0"/>
              </a:spcAft>
              <a:buClr>
                <a:schemeClr val="dk1"/>
              </a:buClr>
              <a:buSzPts val="1800"/>
              <a:buFont typeface="Noto Sans Symbols"/>
              <a:buChar char="⮚"/>
              <a:tabLst/>
              <a:defRPr/>
            </a:pPr>
            <a:r>
              <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Range Doppler processing is a fundamental step, which involves range compression and Doppler processing to generate SAR images.</a:t>
            </a:r>
            <a:endParaRPr kumimoji="0" lang="en-US" sz="1800" b="0" i="0" u="none" strike="noStrike" kern="1200" cap="none" spc="0" normalizeH="0" baseline="0" noProof="0" dirty="0" smtClean="0">
              <a:ln>
                <a:noFill/>
              </a:ln>
              <a:solidFill>
                <a:schemeClr val="dk1"/>
              </a:solidFill>
              <a:effectLst/>
              <a:uLnTx/>
              <a:uFillTx/>
              <a:latin typeface="Calibri"/>
              <a:ea typeface="Calibri"/>
              <a:cs typeface="Calibri"/>
              <a:sym typeface="Calibri"/>
            </a:endParaRPr>
          </a:p>
          <a:p>
            <a:pPr marL="342900" marR="0" lvl="0" indent="-342900" algn="l" defTabSz="914400" rtl="0" eaLnBrk="1" fontAlgn="auto" latinLnBrk="0" hangingPunct="1">
              <a:lnSpc>
                <a:spcPct val="107000"/>
              </a:lnSpc>
              <a:spcBef>
                <a:spcPts val="360"/>
              </a:spcBef>
              <a:spcAft>
                <a:spcPts val="0"/>
              </a:spcAft>
              <a:buClr>
                <a:schemeClr val="dk1"/>
              </a:buClr>
              <a:buSzPts val="1800"/>
              <a:buFont typeface="Noto Sans Symbols"/>
              <a:buChar char="⮚"/>
              <a:tabLst/>
              <a:defRPr/>
            </a:pPr>
            <a:r>
              <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Motion compensation algorithms are employed to correct for the platform's movement during data acquisition.</a:t>
            </a:r>
            <a:endParaRPr kumimoji="0" lang="en-US" sz="1800" b="0" i="0" u="none" strike="noStrike" kern="1200" cap="none" spc="0" normalizeH="0" baseline="0" noProof="0" dirty="0" smtClean="0">
              <a:ln>
                <a:noFill/>
              </a:ln>
              <a:solidFill>
                <a:schemeClr val="dk1"/>
              </a:solidFill>
              <a:effectLst/>
              <a:uLnTx/>
              <a:uFillTx/>
              <a:latin typeface="Calibri"/>
              <a:ea typeface="Calibri"/>
              <a:cs typeface="Calibri"/>
              <a:sym typeface="Calibri"/>
            </a:endParaRPr>
          </a:p>
          <a:p>
            <a:pPr marL="0" marR="0" lvl="0" indent="0" algn="l" defTabSz="914400" rtl="0" eaLnBrk="1" fontAlgn="auto" latinLnBrk="0" hangingPunct="1">
              <a:lnSpc>
                <a:spcPct val="107000"/>
              </a:lnSpc>
              <a:spcBef>
                <a:spcPts val="1160"/>
              </a:spcBef>
              <a:spcAft>
                <a:spcPts val="0"/>
              </a:spcAft>
              <a:buClr>
                <a:schemeClr val="dk1"/>
              </a:buClr>
              <a:buSzPts val="1800"/>
              <a:buFont typeface="Arial" panose="020B0604020202020204" pitchFamily="34" charset="0"/>
              <a:buNone/>
              <a:tabLst/>
              <a:defRPr/>
            </a:pPr>
            <a:r>
              <a:rPr kumimoji="0" lang="en-US" sz="1800" b="1" i="0" u="none" strike="noStrike" kern="1200" cap="none" spc="0" normalizeH="0" baseline="0" noProof="0" dirty="0" smtClean="0">
                <a:ln>
                  <a:noFill/>
                </a:ln>
                <a:solidFill>
                  <a:schemeClr val="dk1"/>
                </a:solidFill>
                <a:effectLst/>
                <a:uLnTx/>
                <a:uFillTx/>
                <a:latin typeface="Times New Roman" pitchFamily="18" charset="0"/>
                <a:ea typeface="Quattrocento Sans"/>
                <a:cs typeface="Times New Roman" pitchFamily="18" charset="0"/>
                <a:sym typeface="Quattrocento Sans"/>
              </a:rPr>
              <a:t>2. Digital </a:t>
            </a:r>
            <a:r>
              <a:rPr kumimoji="0" lang="en-US" sz="1800" b="1" i="0" u="none" strike="noStrike" kern="1200" cap="none" spc="0" normalizeH="0" baseline="0" noProof="0" dirty="0" err="1" smtClean="0">
                <a:ln>
                  <a:noFill/>
                </a:ln>
                <a:solidFill>
                  <a:schemeClr val="dk1"/>
                </a:solidFill>
                <a:effectLst/>
                <a:uLnTx/>
                <a:uFillTx/>
                <a:latin typeface="Times New Roman" pitchFamily="18" charset="0"/>
                <a:ea typeface="Quattrocento Sans"/>
                <a:cs typeface="Times New Roman" pitchFamily="18" charset="0"/>
                <a:sym typeface="Quattrocento Sans"/>
              </a:rPr>
              <a:t>Beamforming</a:t>
            </a:r>
            <a:r>
              <a:rPr kumimoji="0" lang="en-US" sz="1800" b="0" i="0" u="none" strike="noStrike" kern="1200" cap="none" spc="0" normalizeH="0" baseline="0" noProof="0" dirty="0" smtClean="0">
                <a:ln>
                  <a:noFill/>
                </a:ln>
                <a:solidFill>
                  <a:schemeClr val="dk1"/>
                </a:solidFill>
                <a:effectLst/>
                <a:uLnTx/>
                <a:uFillTx/>
                <a:latin typeface="Times New Roman" pitchFamily="18" charset="0"/>
                <a:ea typeface="Quattrocento Sans"/>
                <a:cs typeface="Times New Roman" pitchFamily="18" charset="0"/>
                <a:sym typeface="Quattrocento Sans"/>
              </a:rPr>
              <a:t> : </a:t>
            </a:r>
            <a:endParaRPr kumimoji="0" lang="en-US" sz="1800" b="0" i="0" u="none" strike="noStrike" kern="1200" cap="none" spc="0" normalizeH="0" baseline="0" noProof="0" dirty="0" smtClean="0">
              <a:ln>
                <a:noFill/>
              </a:ln>
              <a:solidFill>
                <a:schemeClr val="dk1"/>
              </a:solidFill>
              <a:effectLst/>
              <a:uLnTx/>
              <a:uFillTx/>
              <a:latin typeface="Times New Roman" pitchFamily="18" charset="0"/>
              <a:ea typeface="Calibri"/>
              <a:cs typeface="Times New Roman" pitchFamily="18" charset="0"/>
              <a:sym typeface="Calibri"/>
            </a:endParaRPr>
          </a:p>
          <a:p>
            <a:pPr marL="342900" marR="0" lvl="0" indent="-342900" algn="l" defTabSz="914400" rtl="0" eaLnBrk="1" fontAlgn="auto" latinLnBrk="0" hangingPunct="1">
              <a:lnSpc>
                <a:spcPct val="107000"/>
              </a:lnSpc>
              <a:spcBef>
                <a:spcPts val="1160"/>
              </a:spcBef>
              <a:spcAft>
                <a:spcPts val="0"/>
              </a:spcAft>
              <a:buClr>
                <a:schemeClr val="dk1"/>
              </a:buClr>
              <a:buSzPts val="1800"/>
              <a:buFont typeface="Noto Sans Symbols"/>
              <a:buChar char="⮚"/>
              <a:tabLst/>
              <a:defRPr/>
            </a:pPr>
            <a:r>
              <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DBF is a technique that involves using multiple antenna elements to form and steer the radar beam digitally.</a:t>
            </a:r>
            <a:endParaRPr kumimoji="0" lang="en-US" sz="1800" b="0" i="0" u="none" strike="noStrike" kern="1200" cap="none" spc="0" normalizeH="0" baseline="0" noProof="0" dirty="0" smtClean="0">
              <a:ln>
                <a:noFill/>
              </a:ln>
              <a:solidFill>
                <a:schemeClr val="dk1"/>
              </a:solidFill>
              <a:effectLst/>
              <a:uLnTx/>
              <a:uFillTx/>
              <a:latin typeface="Calibri"/>
              <a:ea typeface="Calibri"/>
              <a:cs typeface="Calibri"/>
              <a:sym typeface="Calibri"/>
            </a:endParaRPr>
          </a:p>
          <a:p>
            <a:pPr marL="342900" marR="0" lvl="0" indent="-342900" algn="l" defTabSz="914400" rtl="0" eaLnBrk="1" fontAlgn="auto" latinLnBrk="0" hangingPunct="1">
              <a:lnSpc>
                <a:spcPct val="107000"/>
              </a:lnSpc>
              <a:spcBef>
                <a:spcPts val="360"/>
              </a:spcBef>
              <a:spcAft>
                <a:spcPts val="0"/>
              </a:spcAft>
              <a:buClr>
                <a:schemeClr val="dk1"/>
              </a:buClr>
              <a:buSzPts val="1800"/>
              <a:buFont typeface="Noto Sans Symbols"/>
              <a:buChar char="⮚"/>
              <a:tabLst/>
              <a:defRPr/>
            </a:pPr>
            <a:r>
              <a:rPr kumimoji="0" lang="en-US" sz="1800" b="0" i="0" u="none" strike="noStrike" kern="1200" cap="none" spc="0" normalizeH="0" baseline="0" noProof="0" dirty="0" err="1" smtClean="0">
                <a:ln>
                  <a:noFill/>
                </a:ln>
                <a:solidFill>
                  <a:schemeClr val="dk1"/>
                </a:solidFill>
                <a:effectLst/>
                <a:uLnTx/>
                <a:uFillTx/>
                <a:latin typeface="Times New Roman"/>
                <a:ea typeface="Times New Roman"/>
                <a:cs typeface="Times New Roman"/>
                <a:sym typeface="Times New Roman"/>
              </a:rPr>
              <a:t>Beamforming</a:t>
            </a:r>
            <a:r>
              <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 algorithms are employed to combine signals from different antennas with appropriate weights to achieve the desired beam shape and direction.</a:t>
            </a:r>
            <a:endParaRPr kumimoji="0" lang="en-US" sz="1800" b="0" i="0" u="none" strike="noStrike" kern="1200" cap="none" spc="0" normalizeH="0" baseline="0" noProof="0" dirty="0" smtClean="0">
              <a:ln>
                <a:noFill/>
              </a:ln>
              <a:solidFill>
                <a:schemeClr val="dk1"/>
              </a:solidFill>
              <a:effectLst/>
              <a:uLnTx/>
              <a:uFillTx/>
              <a:latin typeface="Calibri"/>
              <a:ea typeface="Calibri"/>
              <a:cs typeface="Calibri"/>
              <a:sym typeface="Calibri"/>
            </a:endParaRPr>
          </a:p>
          <a:p>
            <a:pPr marL="342900" marR="0" lvl="0" indent="-342900" algn="l" defTabSz="914400" rtl="0" eaLnBrk="1" fontAlgn="auto" latinLnBrk="0" hangingPunct="1">
              <a:lnSpc>
                <a:spcPct val="107000"/>
              </a:lnSpc>
              <a:spcBef>
                <a:spcPts val="360"/>
              </a:spcBef>
              <a:spcAft>
                <a:spcPts val="0"/>
              </a:spcAft>
              <a:buClr>
                <a:schemeClr val="dk1"/>
              </a:buClr>
              <a:buSzPts val="1800"/>
              <a:buFont typeface="Noto Sans Symbols"/>
              <a:buChar char="⮚"/>
              <a:tabLst/>
              <a:defRPr/>
            </a:pPr>
            <a:r>
              <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Adaptive </a:t>
            </a:r>
            <a:r>
              <a:rPr kumimoji="0" lang="en-US" sz="1800" b="0" i="0" u="none" strike="noStrike" kern="1200" cap="none" spc="0" normalizeH="0" baseline="0" noProof="0" dirty="0" err="1" smtClean="0">
                <a:ln>
                  <a:noFill/>
                </a:ln>
                <a:solidFill>
                  <a:schemeClr val="dk1"/>
                </a:solidFill>
                <a:effectLst/>
                <a:uLnTx/>
                <a:uFillTx/>
                <a:latin typeface="Times New Roman"/>
                <a:ea typeface="Times New Roman"/>
                <a:cs typeface="Times New Roman"/>
                <a:sym typeface="Times New Roman"/>
              </a:rPr>
              <a:t>beamforming</a:t>
            </a:r>
            <a:r>
              <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 techniques may be used to mitigate interference and improve the signal-to-noise ratio</a:t>
            </a:r>
            <a:r>
              <a:rPr kumimoji="0" lang="en-US" sz="1800" b="0" i="0" u="none" strike="noStrike" kern="1200" cap="none" spc="0" normalizeH="0" baseline="0" noProof="0" dirty="0" smtClean="0">
                <a:ln>
                  <a:noFill/>
                </a:ln>
                <a:solidFill>
                  <a:schemeClr val="accent6"/>
                </a:solidFill>
                <a:effectLst/>
                <a:uLnTx/>
                <a:uFillTx/>
                <a:latin typeface="Quattrocento Sans"/>
                <a:ea typeface="Quattrocento Sans"/>
                <a:cs typeface="Quattrocento Sans"/>
                <a:sym typeface="Quattrocento Sans"/>
              </a:rPr>
              <a:t>.</a:t>
            </a:r>
            <a:endParaRPr kumimoji="0" lang="en-US" sz="1800" b="0" i="0" u="none" strike="noStrike" kern="1200" cap="none" spc="0" normalizeH="0" baseline="0" noProof="0" dirty="0" smtClean="0">
              <a:ln>
                <a:noFill/>
              </a:ln>
              <a:solidFill>
                <a:schemeClr val="accent6"/>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1160"/>
              </a:spcBef>
              <a:spcAft>
                <a:spcPts val="0"/>
              </a:spcAft>
              <a:buClr>
                <a:schemeClr val="accent6"/>
              </a:buClr>
              <a:buSzPts val="1500"/>
              <a:buFont typeface="Arial" panose="020B0604020202020204" pitchFamily="34" charset="0"/>
              <a:buNone/>
              <a:tabLst/>
              <a:defRPr/>
            </a:pPr>
            <a:endParaRPr kumimoji="0" lang="en-US" sz="1500" b="0" i="0" u="none" strike="noStrike" kern="1200" cap="none" spc="0" normalizeH="0" baseline="0" noProof="0" dirty="0">
              <a:ln>
                <a:noFill/>
              </a:ln>
              <a:solidFill>
                <a:schemeClr val="accent6"/>
              </a:solidFill>
              <a:effectLst/>
              <a:uLnTx/>
              <a:uFillTx/>
              <a:latin typeface="+mn-lt"/>
              <a:ea typeface="+mn-ea"/>
              <a:cs typeface="+mn-cs"/>
            </a:endParaRPr>
          </a:p>
        </p:txBody>
      </p:sp>
    </p:spTree>
    <p:extLst>
      <p:ext uri="{BB962C8B-B14F-4D97-AF65-F5344CB8AC3E}">
        <p14:creationId xmlns:p14="http://schemas.microsoft.com/office/powerpoint/2010/main" xmlns="" val="636950076"/>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xmlns="" id="{8B6566A8-CBBC-FCA8-51A8-C49AA205AA31}"/>
              </a:ext>
            </a:extLst>
          </p:cNvPr>
          <p:cNvSpPr>
            <a:spLocks noGrp="1"/>
          </p:cNvSpPr>
          <p:nvPr>
            <p:ph type="ftr" sz="quarter" idx="11"/>
          </p:nvPr>
        </p:nvSpPr>
        <p:spPr>
          <a:xfrm>
            <a:off x="6355080" y="57912"/>
            <a:ext cx="5836920" cy="1104138"/>
          </a:xfrm>
        </p:spPr>
        <p:txBody>
          <a:bodyPr/>
          <a:lstStyle/>
          <a:p>
            <a:r>
              <a:rPr lang="en-US" sz="1200" dirty="0">
                <a:solidFill>
                  <a:schemeClr val="tx1"/>
                </a:solidFill>
                <a:latin typeface="Times New Roman" panose="02020603050405020304" pitchFamily="18" charset="0"/>
                <a:cs typeface="Times New Roman" panose="02020603050405020304" pitchFamily="18" charset="0"/>
              </a:rPr>
              <a:t>Ship Detection Based on Faster R-CNN Using Range-Compressed Airborne Radar Data</a:t>
            </a:r>
            <a:endParaRPr lang="en-US" dirty="0"/>
          </a:p>
          <a:p>
            <a:endParaRPr lang="en-US" dirty="0"/>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xmlns="" id="{3D75C454-6162-F5C6-6BAB-D9BD3F6DCBF5}"/>
              </a:ext>
            </a:extLst>
          </p:cNvPr>
          <p:cNvSpPr>
            <a:spLocks noGrp="1"/>
          </p:cNvSpPr>
          <p:nvPr>
            <p:ph type="sldNum" sz="quarter" idx="12"/>
          </p:nvPr>
        </p:nvSpPr>
        <p:spPr/>
        <p:txBody>
          <a:bodyPr/>
          <a:lstStyle/>
          <a:p>
            <a:fld id="{48F63A3B-78C7-47BE-AE5E-E10140E04643}" type="slidenum">
              <a:rPr lang="en-US" smtClean="0"/>
              <a:pPr/>
              <a:t>11</a:t>
            </a:fld>
            <a:endParaRPr lang="en-US" dirty="0"/>
          </a:p>
        </p:txBody>
      </p:sp>
      <p:sp>
        <p:nvSpPr>
          <p:cNvPr id="7" name="Google Shape;1337;p32"/>
          <p:cNvSpPr txBox="1">
            <a:spLocks/>
          </p:cNvSpPr>
          <p:nvPr/>
        </p:nvSpPr>
        <p:spPr>
          <a:xfrm>
            <a:off x="3840480" y="1173480"/>
            <a:ext cx="7879200" cy="5090100"/>
          </a:xfrm>
          <a:prstGeom prst="rect">
            <a:avLst/>
          </a:prstGeom>
          <a:noFill/>
          <a:ln>
            <a:noFill/>
          </a:ln>
        </p:spPr>
        <p:txBody>
          <a:bodyPr spcFirstLastPara="1" vert="horz" wrap="square" lIns="91425" tIns="45700" rIns="91425" bIns="45700" rtlCol="0" anchor="t" anchorCtr="0">
            <a:noAutofit/>
          </a:bodyPr>
          <a:lstStyle/>
          <a:p>
            <a:pPr marL="0" marR="0" lvl="0" indent="0" algn="l" defTabSz="914400" rtl="0" eaLnBrk="1" fontAlgn="auto" latinLnBrk="0" hangingPunct="1">
              <a:lnSpc>
                <a:spcPct val="107000"/>
              </a:lnSpc>
              <a:spcBef>
                <a:spcPts val="0"/>
              </a:spcBef>
              <a:spcAft>
                <a:spcPts val="0"/>
              </a:spcAft>
              <a:buClr>
                <a:schemeClr val="dk1"/>
              </a:buClr>
              <a:buSzPts val="1800"/>
              <a:buFont typeface="Arial" panose="020B0604020202020204" pitchFamily="34" charset="0"/>
              <a:buNone/>
              <a:tabLst/>
              <a:defRPr/>
            </a:pPr>
            <a:r>
              <a:rPr kumimoji="0" lang="en-US" sz="1800" b="1"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PARAMETERS:</a:t>
            </a:r>
          </a:p>
          <a:p>
            <a:pPr marL="0" marR="0" lvl="0" indent="0" algn="l" defTabSz="914400" rtl="0" eaLnBrk="1" fontAlgn="auto" latinLnBrk="0" hangingPunct="1">
              <a:lnSpc>
                <a:spcPct val="107000"/>
              </a:lnSpc>
              <a:spcBef>
                <a:spcPts val="0"/>
              </a:spcBef>
              <a:spcAft>
                <a:spcPts val="0"/>
              </a:spcAft>
              <a:buClr>
                <a:schemeClr val="dk1"/>
              </a:buClr>
              <a:buSzPts val="1800"/>
              <a:buFont typeface="Arial" panose="020B0604020202020204" pitchFamily="34" charset="0"/>
              <a:buNone/>
              <a:tabLst/>
              <a:defRPr/>
            </a:pPr>
            <a:endParaRPr kumimoji="0" lang="en-US" sz="1800" b="1"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7000"/>
              </a:lnSpc>
              <a:spcBef>
                <a:spcPts val="1160"/>
              </a:spcBef>
              <a:spcAft>
                <a:spcPts val="0"/>
              </a:spcAft>
              <a:buClr>
                <a:schemeClr val="dk1"/>
              </a:buClr>
              <a:buSzPts val="1800"/>
              <a:buFont typeface="Arial" panose="020B0604020202020204" pitchFamily="34" charset="0"/>
              <a:buNone/>
              <a:tabLst/>
              <a:defRPr/>
            </a:pPr>
            <a:r>
              <a:rPr kumimoji="0" lang="en-US" sz="1800" b="1"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1.Scale and robustness:</a:t>
            </a:r>
            <a:endPar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endParaRPr>
          </a:p>
          <a:p>
            <a:pPr marL="342900" marR="0" lvl="0" indent="-342900" algn="l" defTabSz="914400" rtl="0" eaLnBrk="1" fontAlgn="auto" latinLnBrk="0" hangingPunct="1">
              <a:lnSpc>
                <a:spcPct val="107000"/>
              </a:lnSpc>
              <a:spcBef>
                <a:spcPts val="1160"/>
              </a:spcBef>
              <a:spcAft>
                <a:spcPts val="0"/>
              </a:spcAft>
              <a:buClr>
                <a:schemeClr val="dk1"/>
              </a:buClr>
              <a:buSzPts val="1800"/>
              <a:buFont typeface="Noto Sans Symbols"/>
              <a:buChar char="⮚"/>
              <a:tabLst/>
              <a:defRPr/>
            </a:pPr>
            <a:r>
              <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Test the algorithms on a variety of DBFSAR images with different resolutions, lighting conditions, and environmental factors to assess their robustness.</a:t>
            </a:r>
          </a:p>
          <a:p>
            <a:pPr marL="342900" marR="0" lvl="0" indent="-342900" algn="l" defTabSz="914400" rtl="0" eaLnBrk="1" fontAlgn="auto" latinLnBrk="0" hangingPunct="1">
              <a:lnSpc>
                <a:spcPct val="107000"/>
              </a:lnSpc>
              <a:spcBef>
                <a:spcPts val="1160"/>
              </a:spcBef>
              <a:spcAft>
                <a:spcPts val="0"/>
              </a:spcAft>
              <a:buClr>
                <a:schemeClr val="dk1"/>
              </a:buClr>
              <a:buSzPts val="1800"/>
              <a:buFont typeface="Noto Sans Symbols"/>
              <a:buChar char="⮚"/>
              <a:tabLst/>
              <a:defRPr/>
            </a:pPr>
            <a:endPar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7000"/>
              </a:lnSpc>
              <a:spcBef>
                <a:spcPts val="360"/>
              </a:spcBef>
              <a:spcAft>
                <a:spcPts val="0"/>
              </a:spcAft>
              <a:buClr>
                <a:schemeClr val="dk1"/>
              </a:buClr>
              <a:buSzPts val="1800"/>
              <a:buFont typeface="Arial" panose="020B0604020202020204" pitchFamily="34" charset="0"/>
              <a:buNone/>
              <a:tabLst/>
              <a:defRPr/>
            </a:pPr>
            <a:r>
              <a:rPr kumimoji="0" lang="en-US" sz="1800" b="1"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2. Detection and accuracy:</a:t>
            </a:r>
            <a:endPar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endParaRPr>
          </a:p>
          <a:p>
            <a:pPr marL="285750" marR="0" lvl="0" indent="-285750" algn="l" defTabSz="914400" rtl="0" eaLnBrk="1" fontAlgn="auto" latinLnBrk="0" hangingPunct="1">
              <a:lnSpc>
                <a:spcPct val="107000"/>
              </a:lnSpc>
              <a:spcBef>
                <a:spcPts val="1160"/>
              </a:spcBef>
              <a:spcAft>
                <a:spcPts val="0"/>
              </a:spcAft>
              <a:buClr>
                <a:schemeClr val="dk1"/>
              </a:buClr>
              <a:buSzPts val="1000"/>
              <a:buFont typeface="Noto Sans Symbols"/>
              <a:buChar char="⮚"/>
              <a:tabLst/>
              <a:defRPr/>
            </a:pPr>
            <a:r>
              <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 The ratio of correctly detected ships to the total number of actual ships.</a:t>
            </a:r>
          </a:p>
          <a:p>
            <a:pPr marL="285750" marR="0" lvl="0" indent="-285750" algn="l" defTabSz="914400" rtl="0" eaLnBrk="1" fontAlgn="auto" latinLnBrk="0" hangingPunct="1">
              <a:lnSpc>
                <a:spcPct val="107000"/>
              </a:lnSpc>
              <a:spcBef>
                <a:spcPts val="1160"/>
              </a:spcBef>
              <a:spcAft>
                <a:spcPts val="0"/>
              </a:spcAft>
              <a:buClr>
                <a:schemeClr val="dk1"/>
              </a:buClr>
              <a:buSzPts val="1000"/>
              <a:buFont typeface="Noto Sans Symbols"/>
              <a:buChar char="⮚"/>
              <a:tabLst/>
              <a:defRPr/>
            </a:pPr>
            <a:r>
              <a:rPr kumimoji="0" lang="en-US" sz="1800" b="0" i="0" u="none" strike="noStrike" kern="1200" cap="none" spc="0" normalizeH="0" baseline="0" noProof="0" dirty="0" smtClean="0">
                <a:ln>
                  <a:noFill/>
                </a:ln>
                <a:solidFill>
                  <a:schemeClr val="dk1"/>
                </a:solidFill>
                <a:effectLst/>
                <a:uLnTx/>
                <a:uFillTx/>
                <a:latin typeface="Times New Roman"/>
                <a:ea typeface="Times New Roman"/>
                <a:cs typeface="Times New Roman"/>
                <a:sym typeface="Times New Roman"/>
              </a:rPr>
              <a:t>The ratio of incorrectly detected ships to the total number of actual non-ships.</a:t>
            </a:r>
          </a:p>
          <a:p>
            <a:pPr marL="0" marR="0" lvl="0" indent="0" algn="l" defTabSz="914400" rtl="0" eaLnBrk="1" fontAlgn="auto" latinLnBrk="0" hangingPunct="1">
              <a:lnSpc>
                <a:spcPct val="107000"/>
              </a:lnSpc>
              <a:spcBef>
                <a:spcPts val="1160"/>
              </a:spcBef>
              <a:spcAft>
                <a:spcPts val="0"/>
              </a:spcAft>
              <a:buClr>
                <a:schemeClr val="accent6"/>
              </a:buClr>
              <a:buSzPts val="1800"/>
              <a:buFont typeface="Arial" panose="020B0604020202020204" pitchFamily="34" charset="0"/>
              <a:buNone/>
              <a:tabLst/>
              <a:defRPr/>
            </a:pPr>
            <a:endParaRPr kumimoji="0" lang="en-US" sz="1800" b="0" i="0" u="none" strike="noStrike" kern="1200" cap="none" spc="0" normalizeH="0" baseline="0" noProof="0" dirty="0" smtClean="0">
              <a:ln>
                <a:noFill/>
              </a:ln>
              <a:solidFill>
                <a:schemeClr val="accent6"/>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00000"/>
              </a:lnSpc>
              <a:spcBef>
                <a:spcPts val="1160"/>
              </a:spcBef>
              <a:spcAft>
                <a:spcPts val="0"/>
              </a:spcAft>
              <a:buClr>
                <a:schemeClr val="accent6"/>
              </a:buClr>
              <a:buSzPts val="1500"/>
              <a:buFont typeface="Arial" panose="020B0604020202020204" pitchFamily="34" charset="0"/>
              <a:buNone/>
              <a:tabLst/>
              <a:defRPr/>
            </a:pPr>
            <a:endParaRPr kumimoji="0" lang="en-US" sz="1500" b="0" i="0" u="none" strike="noStrike" kern="1200" cap="none" spc="0" normalizeH="0" baseline="0" noProof="0" dirty="0">
              <a:ln>
                <a:noFill/>
              </a:ln>
              <a:solidFill>
                <a:schemeClr val="accent6"/>
              </a:solidFill>
              <a:effectLst/>
              <a:uLnTx/>
              <a:uFillTx/>
              <a:latin typeface="+mn-lt"/>
              <a:ea typeface="+mn-ea"/>
              <a:cs typeface="+mn-cs"/>
            </a:endParaRPr>
          </a:p>
        </p:txBody>
      </p:sp>
    </p:spTree>
    <p:extLst>
      <p:ext uri="{BB962C8B-B14F-4D97-AF65-F5344CB8AC3E}">
        <p14:creationId xmlns:p14="http://schemas.microsoft.com/office/powerpoint/2010/main" xmlns="" val="3337683497"/>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B3ABB14-A2BD-DDED-BE93-87D1F0D018BF}"/>
              </a:ext>
            </a:extLst>
          </p:cNvPr>
          <p:cNvSpPr>
            <a:spLocks noGrp="1"/>
          </p:cNvSpPr>
          <p:nvPr>
            <p:ph type="title"/>
          </p:nvPr>
        </p:nvSpPr>
        <p:spPr>
          <a:xfrm>
            <a:off x="4224528" y="457200"/>
            <a:ext cx="6766560" cy="768096"/>
          </a:xfrm>
        </p:spPr>
        <p:txBody>
          <a:bodyPr/>
          <a:lstStyle/>
          <a:p>
            <a:pPr algn="ctr"/>
            <a:r>
              <a:rPr lang="en-IN" sz="1800" b="1" kern="100" dirty="0">
                <a:effectLst/>
                <a:latin typeface="Times New Roman" pitchFamily="18" charset="0"/>
                <a:ea typeface="Calibri" panose="020F0502020204030204" pitchFamily="34" charset="0"/>
                <a:cs typeface="Times New Roman" pitchFamily="18" charset="0"/>
              </a:rPr>
              <a:t>paper-</a:t>
            </a:r>
            <a:r>
              <a:rPr lang="en-IN" sz="1800" kern="100" dirty="0">
                <a:latin typeface="Times New Roman" pitchFamily="18" charset="0"/>
                <a:ea typeface="Calibri" panose="020F0502020204030204" pitchFamily="34" charset="0"/>
                <a:cs typeface="Times New Roman" pitchFamily="18" charset="0"/>
              </a:rPr>
              <a:t>3</a:t>
            </a:r>
            <a:r>
              <a:rPr lang="en-IN" sz="1800" b="1" kern="100" dirty="0">
                <a:effectLst/>
                <a:latin typeface="Times New Roman" pitchFamily="18" charset="0"/>
                <a:ea typeface="Calibri" panose="020F0502020204030204" pitchFamily="34" charset="0"/>
                <a:cs typeface="Times New Roman" pitchFamily="18" charset="0"/>
              </a:rPr>
              <a:t/>
            </a:r>
            <a:br>
              <a:rPr lang="en-IN" sz="1800" b="1" kern="100" dirty="0">
                <a:effectLst/>
                <a:latin typeface="Times New Roman" pitchFamily="18" charset="0"/>
                <a:ea typeface="Calibri" panose="020F0502020204030204" pitchFamily="34" charset="0"/>
                <a:cs typeface="Times New Roman" pitchFamily="18" charset="0"/>
              </a:rPr>
            </a:br>
            <a:r>
              <a:rPr lang="en-IN" sz="1800" b="1" kern="100" dirty="0">
                <a:latin typeface="Times New Roman" pitchFamily="18" charset="0"/>
                <a:ea typeface="Calibri" panose="020F0502020204030204" pitchFamily="34" charset="0"/>
                <a:cs typeface="Times New Roman" pitchFamily="18" charset="0"/>
              </a:rPr>
              <a:t>Research by: syeda summayya firdous [20L51A1242]</a:t>
            </a:r>
            <a:r>
              <a:rPr lang="en-US" sz="1800" kern="100" dirty="0">
                <a:effectLst/>
                <a:latin typeface="Times New Roman" pitchFamily="18" charset="0"/>
                <a:ea typeface="Calibri" panose="020F0502020204030204" pitchFamily="34" charset="0"/>
                <a:cs typeface="Times New Roman" pitchFamily="18" charset="0"/>
              </a:rPr>
              <a:t/>
            </a:r>
            <a:br>
              <a:rPr lang="en-US" sz="1800" kern="100" dirty="0">
                <a:effectLst/>
                <a:latin typeface="Times New Roman" pitchFamily="18" charset="0"/>
                <a:ea typeface="Calibri" panose="020F0502020204030204" pitchFamily="34" charset="0"/>
                <a:cs typeface="Times New Roman" pitchFamily="18" charset="0"/>
              </a:rPr>
            </a:br>
            <a:endParaRPr lang="en-US" sz="1800"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xmlns="" id="{06722246-02A2-6108-8163-9DCF4B1684B9}"/>
              </a:ext>
            </a:extLst>
          </p:cNvPr>
          <p:cNvSpPr>
            <a:spLocks noGrp="1"/>
          </p:cNvSpPr>
          <p:nvPr>
            <p:ph idx="1"/>
          </p:nvPr>
        </p:nvSpPr>
        <p:spPr>
          <a:xfrm>
            <a:off x="3638550" y="1225296"/>
            <a:ext cx="8553450" cy="4832145"/>
          </a:xfrm>
        </p:spPr>
        <p:txBody>
          <a:bodyPr/>
          <a:lstStyle/>
          <a:p>
            <a:pPr marL="0" marR="0" algn="ctr">
              <a:lnSpc>
                <a:spcPct val="115000"/>
              </a:lnSpc>
              <a:spcBef>
                <a:spcPts val="0"/>
              </a:spcBef>
              <a:spcAft>
                <a:spcPts val="1000"/>
              </a:spcAft>
            </a:pP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Title: Ship Detection Based on Faster R-CNN Using Range-Compressed Airborne Radar Data</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AUTHOR:</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Tamara Loran, Sushil Kumar Joshi, Member, Stefan V. Baumgartner, and Gerhard Krieger </a:t>
            </a: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YEAR: </a:t>
            </a: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2023</a:t>
            </a:r>
          </a:p>
          <a:p>
            <a:pPr marL="0" marR="0">
              <a:lnSpc>
                <a:spcPct val="115000"/>
              </a:lnSpc>
              <a:spcBef>
                <a:spcPts val="0"/>
              </a:spcBef>
              <a:spcAft>
                <a:spcPts val="1000"/>
              </a:spcAft>
            </a:pPr>
            <a:endParaRPr lang="en-US" sz="1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endPar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BRIEF:</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Detecting ships using Faster R-CNN (Region-based Convolutional Neural Network) can be a powerful approach for robust ship detection in images. Faster R-CNN is a popular object detection algorithm that uses a region proposal network (RPN) to generate candidate object regions, which are then classified and refined.</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solidFill>
                <a:schemeClr val="tx1"/>
              </a:solidFill>
            </a:endParaRPr>
          </a:p>
        </p:txBody>
      </p:sp>
      <p:sp>
        <p:nvSpPr>
          <p:cNvPr id="4" name="Footer Placeholder 3">
            <a:extLst>
              <a:ext uri="{FF2B5EF4-FFF2-40B4-BE49-F238E27FC236}">
                <a16:creationId xmlns:a16="http://schemas.microsoft.com/office/drawing/2014/main" xmlns="" id="{A76756DD-BDDC-B9EB-36BE-D7C0BAE2CB39}"/>
              </a:ext>
            </a:extLst>
          </p:cNvPr>
          <p:cNvSpPr>
            <a:spLocks noGrp="1"/>
          </p:cNvSpPr>
          <p:nvPr>
            <p:ph type="ftr" sz="quarter" idx="11"/>
          </p:nvPr>
        </p:nvSpPr>
        <p:spPr>
          <a:xfrm>
            <a:off x="6300978" y="336550"/>
            <a:ext cx="6538722" cy="274320"/>
          </a:xfrm>
        </p:spPr>
        <p:txBody>
          <a:bodyPr/>
          <a:lstStyle/>
          <a:p>
            <a:r>
              <a:rPr lang="en-US" sz="1200" dirty="0">
                <a:solidFill>
                  <a:schemeClr val="tx1"/>
                </a:solidFill>
                <a:latin typeface="Times New Roman" panose="02020603050405020304" pitchFamily="18" charset="0"/>
                <a:cs typeface="Times New Roman" panose="02020603050405020304" pitchFamily="18" charset="0"/>
              </a:rPr>
              <a:t>Ship Detection Based on Faster R-CNN Using Range-Compressed Airborne Radar Data</a:t>
            </a:r>
            <a:endParaRPr lang="en-US" dirty="0"/>
          </a:p>
          <a:p>
            <a:endParaRPr lang="en-US" dirty="0"/>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xmlns="" id="{FB73DF78-C32F-5597-A19F-1E48918C459A}"/>
              </a:ext>
            </a:extLst>
          </p:cNvPr>
          <p:cNvSpPr>
            <a:spLocks noGrp="1"/>
          </p:cNvSpPr>
          <p:nvPr>
            <p:ph type="sldNum" sz="quarter" idx="12"/>
          </p:nvPr>
        </p:nvSpPr>
        <p:spPr/>
        <p:txBody>
          <a:bodyPr/>
          <a:lstStyle/>
          <a:p>
            <a:fld id="{48F63A3B-78C7-47BE-AE5E-E10140E04643}" type="slidenum">
              <a:rPr lang="en-US" smtClean="0"/>
              <a:pPr/>
              <a:t>12</a:t>
            </a:fld>
            <a:endParaRPr lang="en-US" dirty="0"/>
          </a:p>
        </p:txBody>
      </p:sp>
      <p:pic>
        <p:nvPicPr>
          <p:cNvPr id="1026" name="Picture 2" descr="Ship detection on video using Faster R-CNN - YouTube">
            <a:extLst>
              <a:ext uri="{FF2B5EF4-FFF2-40B4-BE49-F238E27FC236}">
                <a16:creationId xmlns:a16="http://schemas.microsoft.com/office/drawing/2014/main" xmlns="" id="{24A6F9BC-A63B-32C0-47A6-6CD40B24800F}"/>
              </a:ext>
            </a:extLst>
          </p:cNvPr>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20975" t="11830" b="10923"/>
          <a:stretch/>
        </p:blipFill>
        <p:spPr bwMode="auto">
          <a:xfrm>
            <a:off x="5961785" y="2868805"/>
            <a:ext cx="3475292" cy="2369402"/>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423837548"/>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6D04069-685D-21AD-B608-A565717EA3FA}"/>
              </a:ext>
            </a:extLst>
          </p:cNvPr>
          <p:cNvSpPr>
            <a:spLocks noGrp="1"/>
          </p:cNvSpPr>
          <p:nvPr>
            <p:ph idx="1"/>
          </p:nvPr>
        </p:nvSpPr>
        <p:spPr>
          <a:xfrm>
            <a:off x="3767328" y="934720"/>
            <a:ext cx="7891272" cy="5466080"/>
          </a:xfrm>
        </p:spPr>
        <p:txBody>
          <a:bodyPr/>
          <a:lstStyle/>
          <a:p>
            <a:pPr marL="0" marR="0">
              <a:lnSpc>
                <a:spcPct val="115000"/>
              </a:lnSpc>
              <a:spcBef>
                <a:spcPts val="0"/>
              </a:spcBef>
              <a:spcAft>
                <a:spcPts val="1000"/>
              </a:spcAft>
            </a:pPr>
            <a:r>
              <a:rPr lang="en-US" sz="1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METHODS/</a:t>
            </a: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ALGORITHMS: </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1000"/>
              </a:spcAft>
              <a:buClr>
                <a:srgbClr val="0F0F0F"/>
              </a:buClr>
              <a:buFont typeface="+mj-lt"/>
              <a:buAutoNum type="arabicPeriod"/>
            </a:pP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FASTER R-CNN WITH DIFFERENT BACKBONES:</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1000"/>
              </a:spcAft>
            </a:pPr>
            <a:r>
              <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Experimenting with different backbone architectures, such as EfficientNet, ResNeXt, or Mobile Net, can impact the trade-off between accuracy and speed. EfficientNet, for instance, is known for its efficiency in terms of parameters and computation.</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15000"/>
              </a:lnSpc>
              <a:spcBef>
                <a:spcPts val="0"/>
              </a:spcBef>
              <a:spcAft>
                <a:spcPts val="1000"/>
              </a:spcAft>
              <a:buClr>
                <a:srgbClr val="0F0F0F"/>
              </a:buClr>
            </a:pPr>
            <a:r>
              <a:rPr lang="en-US" sz="1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CFAR:</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r>
              <a:rPr lang="en-US" sz="1800" dirty="0">
                <a:solidFill>
                  <a:schemeClr val="tx1"/>
                </a:solidFill>
                <a:effectLst/>
                <a:latin typeface="Segoe UI" panose="020B0502040204020203" pitchFamily="34" charset="0"/>
                <a:ea typeface="Times New Roman" panose="02020603050405020304" pitchFamily="18" charset="0"/>
                <a:cs typeface="Times New Roman" panose="02020603050405020304" pitchFamily="18" charset="0"/>
              </a:rPr>
              <a:t>Constant False Alarm Rate (CFAR) is a technique used to detect targets in radar data by maintaining a constant false alarm rate. It distinguishes between the statistical properties of noise and potential target signals.</a:t>
            </a:r>
            <a:endParaRPr lang="en-US"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solidFill>
                <a:schemeClr val="tx1"/>
              </a:solidFill>
            </a:endParaRPr>
          </a:p>
        </p:txBody>
      </p:sp>
      <p:sp>
        <p:nvSpPr>
          <p:cNvPr id="4" name="Footer Placeholder 3">
            <a:extLst>
              <a:ext uri="{FF2B5EF4-FFF2-40B4-BE49-F238E27FC236}">
                <a16:creationId xmlns:a16="http://schemas.microsoft.com/office/drawing/2014/main" xmlns="" id="{F95D0AAD-DBC3-1005-5760-04BE2903FA61}"/>
              </a:ext>
            </a:extLst>
          </p:cNvPr>
          <p:cNvSpPr>
            <a:spLocks noGrp="1"/>
          </p:cNvSpPr>
          <p:nvPr>
            <p:ph type="ftr" sz="quarter" idx="11"/>
          </p:nvPr>
        </p:nvSpPr>
        <p:spPr>
          <a:xfrm>
            <a:off x="6406896" y="457200"/>
            <a:ext cx="6557772" cy="477520"/>
          </a:xfrm>
        </p:spPr>
        <p:txBody>
          <a:bodyPr/>
          <a:lstStyle/>
          <a:p>
            <a:r>
              <a:rPr lang="en-US" sz="1200" dirty="0">
                <a:solidFill>
                  <a:schemeClr val="tx1"/>
                </a:solidFill>
                <a:latin typeface="Times New Roman" panose="02020603050405020304" pitchFamily="18" charset="0"/>
                <a:cs typeface="Times New Roman" panose="02020603050405020304" pitchFamily="18" charset="0"/>
              </a:rPr>
              <a:t>Ship Detection Based on Faster R-CNN Using Range-Compressed Airborne Radar Data</a:t>
            </a:r>
            <a:endParaRPr lang="en-US" dirty="0"/>
          </a:p>
          <a:p>
            <a:endParaRPr lang="en-US" dirty="0"/>
          </a:p>
          <a:p>
            <a:endParaRPr lang="en-US" dirty="0"/>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xmlns="" id="{90F9F069-0F35-386B-51AE-27BB357A25FE}"/>
              </a:ext>
            </a:extLst>
          </p:cNvPr>
          <p:cNvSpPr>
            <a:spLocks noGrp="1"/>
          </p:cNvSpPr>
          <p:nvPr>
            <p:ph type="sldNum" sz="quarter" idx="12"/>
          </p:nvPr>
        </p:nvSpPr>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xmlns="" val="2997181550"/>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E9FE2CB-A7EC-34D6-0978-B7622F3DFD10}"/>
              </a:ext>
            </a:extLst>
          </p:cNvPr>
          <p:cNvSpPr>
            <a:spLocks noGrp="1"/>
          </p:cNvSpPr>
          <p:nvPr>
            <p:ph idx="1"/>
          </p:nvPr>
        </p:nvSpPr>
        <p:spPr>
          <a:xfrm>
            <a:off x="3614928" y="731520"/>
            <a:ext cx="8177022" cy="5624830"/>
          </a:xfrm>
        </p:spPr>
        <p:txBody>
          <a:bodyPr/>
          <a:lstStyle/>
          <a:p>
            <a:pPr marL="0" marR="0">
              <a:lnSpc>
                <a:spcPct val="115000"/>
              </a:lnSpc>
              <a:spcBef>
                <a:spcPts val="0"/>
              </a:spcBef>
              <a:spcAft>
                <a:spcPts val="1000"/>
              </a:spcAft>
              <a:tabLst>
                <a:tab pos="3415665" algn="l"/>
              </a:tabLst>
            </a:pPr>
            <a:r>
              <a:rPr lang="en-US" sz="1800" b="1" dirty="0">
                <a:solidFill>
                  <a:srgbClr val="0F0F0F"/>
                </a:solidFill>
                <a:effectLst/>
                <a:latin typeface="Times New Roman" panose="02020603050405020304" pitchFamily="18" charset="0"/>
                <a:ea typeface="Calibri" panose="020F0502020204030204" pitchFamily="34" charset="0"/>
                <a:cs typeface="Times New Roman" panose="02020603050405020304" pitchFamily="18" charset="0"/>
              </a:rPr>
              <a:t>PARAMETERS: </a:t>
            </a:r>
            <a:endParaRPr lang="en-US" sz="1800" b="1" dirty="0" smtClean="0">
              <a:solidFill>
                <a:srgbClr val="0F0F0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tabLst>
                <a:tab pos="3415665"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mj-lt"/>
              <a:buAutoNum type="arabicPeriod"/>
            </a:pPr>
            <a:r>
              <a:rPr lang="en-US" sz="1800" b="1" dirty="0">
                <a:solidFill>
                  <a:srgbClr val="0F0F0F"/>
                </a:solidFill>
                <a:effectLst/>
                <a:latin typeface="Times New Roman" panose="02020603050405020304" pitchFamily="18" charset="0"/>
                <a:ea typeface="Times New Roman" panose="02020603050405020304" pitchFamily="18" charset="0"/>
                <a:cs typeface="Times New Roman" panose="02020603050405020304" pitchFamily="18" charset="0"/>
              </a:rPr>
              <a:t>Robustness Metrics: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SzPts val="1000"/>
              <a:buFont typeface="Symbol" panose="05050102010706020507" pitchFamily="18" charset="2"/>
              <a:buChar char=""/>
              <a:tabLst>
                <a:tab pos="457200" algn="l"/>
              </a:tabLst>
            </a:pPr>
            <a:r>
              <a:rPr lang="en-US" sz="1800" b="1" dirty="0">
                <a:solidFill>
                  <a:srgbClr val="0F0F0F"/>
                </a:solidFill>
                <a:effectLst/>
                <a:latin typeface="Times New Roman" panose="02020603050405020304" pitchFamily="18" charset="0"/>
                <a:ea typeface="Times New Roman" panose="02020603050405020304" pitchFamily="18" charset="0"/>
                <a:cs typeface="Times New Roman" panose="02020603050405020304" pitchFamily="18" charset="0"/>
              </a:rPr>
              <a:t>Performance under Adverse Conditions:</a:t>
            </a:r>
            <a:r>
              <a:rPr lang="en-US" sz="1800" dirty="0">
                <a:solidFill>
                  <a:srgbClr val="0F0F0F"/>
                </a:solidFill>
                <a:effectLst/>
                <a:latin typeface="Times New Roman" panose="02020603050405020304" pitchFamily="18" charset="0"/>
                <a:ea typeface="Times New Roman" panose="02020603050405020304" pitchFamily="18" charset="0"/>
                <a:cs typeface="Times New Roman" panose="02020603050405020304" pitchFamily="18" charset="0"/>
              </a:rPr>
              <a:t> Evaluate how well the algorithm performs under challenging conditions, such as adverse weather, low lighting, or occlusions.</a:t>
            </a:r>
            <a:endParaRPr lang="en-US" sz="1800" dirty="0">
              <a:solidFill>
                <a:srgbClr val="0F0F0F"/>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SzPts val="1000"/>
              <a:buFont typeface="Symbol" panose="05050102010706020507" pitchFamily="18" charset="2"/>
              <a:buChar char=""/>
              <a:tabLst>
                <a:tab pos="457200" algn="l"/>
              </a:tabLst>
            </a:pPr>
            <a:r>
              <a:rPr lang="en-US" sz="1800" b="1" dirty="0">
                <a:solidFill>
                  <a:srgbClr val="0F0F0F"/>
                </a:solidFill>
                <a:effectLst/>
                <a:latin typeface="Times New Roman" panose="02020603050405020304" pitchFamily="18" charset="0"/>
                <a:ea typeface="Times New Roman" panose="02020603050405020304" pitchFamily="18" charset="0"/>
                <a:cs typeface="Times New Roman" panose="02020603050405020304" pitchFamily="18" charset="0"/>
              </a:rPr>
              <a:t>Generalization to Different Datasets:</a:t>
            </a:r>
            <a:r>
              <a:rPr lang="en-US" sz="1800" dirty="0">
                <a:solidFill>
                  <a:srgbClr val="0F0F0F"/>
                </a:solidFill>
                <a:effectLst/>
                <a:latin typeface="Times New Roman" panose="02020603050405020304" pitchFamily="18" charset="0"/>
                <a:ea typeface="Times New Roman" panose="02020603050405020304" pitchFamily="18" charset="0"/>
                <a:cs typeface="Times New Roman" panose="02020603050405020304" pitchFamily="18" charset="0"/>
              </a:rPr>
              <a:t> Test the algorithm on diverse datasets to assess its ability to generalize to different environments.</a:t>
            </a:r>
            <a:endParaRPr lang="en-US" sz="1800" dirty="0">
              <a:solidFill>
                <a:srgbClr val="0F0F0F"/>
              </a:solidFill>
              <a:effectLst/>
              <a:latin typeface="Calibri" panose="020F0502020204030204" pitchFamily="34" charset="0"/>
              <a:ea typeface="Calibri" panose="020F0502020204030204" pitchFamily="34" charset="0"/>
              <a:cs typeface="Times New Roman" panose="02020603050405020304" pitchFamily="18" charset="0"/>
            </a:endParaRPr>
          </a:p>
          <a:p>
            <a:pPr marL="228600" marR="0">
              <a:lnSpc>
                <a:spcPct val="115000"/>
              </a:lnSpc>
              <a:spcBef>
                <a:spcPts val="0"/>
              </a:spcBef>
              <a:spcAft>
                <a:spcPts val="0"/>
              </a:spcAft>
            </a:pPr>
            <a:r>
              <a:rPr lang="en-US" sz="1800" dirty="0">
                <a:solidFill>
                  <a:srgbClr val="0F0F0F"/>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15000"/>
              </a:lnSpc>
              <a:spcBef>
                <a:spcPts val="0"/>
              </a:spcBef>
              <a:spcAft>
                <a:spcPts val="0"/>
              </a:spcAft>
            </a:pPr>
            <a:r>
              <a:rPr lang="en-US" sz="1800" b="1" dirty="0">
                <a:solidFill>
                  <a:srgbClr val="0F0F0F"/>
                </a:solidFill>
                <a:effectLst/>
                <a:latin typeface="Times New Roman" panose="02020603050405020304" pitchFamily="18" charset="0"/>
                <a:ea typeface="Times New Roman" panose="02020603050405020304" pitchFamily="18" charset="0"/>
                <a:cs typeface="Times New Roman" panose="02020603050405020304" pitchFamily="18" charset="0"/>
              </a:rPr>
              <a:t>2.    Real-world Applicability: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SzPts val="1000"/>
              <a:buFont typeface="Symbol" panose="05050102010706020507" pitchFamily="18" charset="2"/>
              <a:buChar char=""/>
              <a:tabLst>
                <a:tab pos="457200" algn="l"/>
              </a:tabLst>
            </a:pPr>
            <a:r>
              <a:rPr lang="en-US" sz="1800" b="1" dirty="0">
                <a:solidFill>
                  <a:srgbClr val="0F0F0F"/>
                </a:solidFill>
                <a:effectLst/>
                <a:latin typeface="Times New Roman" panose="02020603050405020304" pitchFamily="18" charset="0"/>
                <a:ea typeface="Times New Roman" panose="02020603050405020304" pitchFamily="18" charset="0"/>
                <a:cs typeface="Times New Roman" panose="02020603050405020304" pitchFamily="18" charset="0"/>
              </a:rPr>
              <a:t>Performance in Real-world Scenarios:</a:t>
            </a:r>
            <a:r>
              <a:rPr lang="en-US" sz="1800" dirty="0">
                <a:solidFill>
                  <a:srgbClr val="0F0F0F"/>
                </a:solidFill>
                <a:effectLst/>
                <a:latin typeface="Times New Roman" panose="02020603050405020304" pitchFamily="18" charset="0"/>
                <a:ea typeface="Times New Roman" panose="02020603050405020304" pitchFamily="18" charset="0"/>
                <a:cs typeface="Times New Roman" panose="02020603050405020304" pitchFamily="18" charset="0"/>
              </a:rPr>
              <a:t> Evaluate the algorithm's performance in a realistic maritime environment, considering factors such as ship density, varying scales, and complex backgrounds.</a:t>
            </a:r>
            <a:endParaRPr lang="en-US" sz="1800" dirty="0">
              <a:solidFill>
                <a:srgbClr val="0F0F0F"/>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Footer Placeholder 3">
            <a:extLst>
              <a:ext uri="{FF2B5EF4-FFF2-40B4-BE49-F238E27FC236}">
                <a16:creationId xmlns:a16="http://schemas.microsoft.com/office/drawing/2014/main" xmlns="" id="{6F8D6E3A-F677-67A4-793C-6917BCEEA119}"/>
              </a:ext>
            </a:extLst>
          </p:cNvPr>
          <p:cNvSpPr>
            <a:spLocks noGrp="1"/>
          </p:cNvSpPr>
          <p:nvPr>
            <p:ph type="ftr" sz="quarter" idx="11"/>
          </p:nvPr>
        </p:nvSpPr>
        <p:spPr>
          <a:xfrm>
            <a:off x="6339078" y="501650"/>
            <a:ext cx="6519672" cy="407670"/>
          </a:xfrm>
        </p:spPr>
        <p:txBody>
          <a:bodyPr/>
          <a:lstStyle/>
          <a:p>
            <a:r>
              <a:rPr lang="en-US" sz="1200" dirty="0">
                <a:solidFill>
                  <a:schemeClr val="tx1"/>
                </a:solidFill>
                <a:latin typeface="Times New Roman" panose="02020603050405020304" pitchFamily="18" charset="0"/>
                <a:cs typeface="Times New Roman" panose="02020603050405020304" pitchFamily="18" charset="0"/>
              </a:rPr>
              <a:t>Ship Detection Based on Faster R-CNN Using Range-Compressed Airborne Radar Data</a:t>
            </a:r>
            <a:endParaRPr lang="en-US" dirty="0"/>
          </a:p>
          <a:p>
            <a:endParaRPr lang="en-US" dirty="0"/>
          </a:p>
          <a:p>
            <a:endParaRPr lang="en-US" dirty="0"/>
          </a:p>
          <a:p>
            <a:endParaRPr lang="en-US" dirty="0"/>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xmlns="" id="{7D929874-E1BB-6222-C7BD-DFD23D81534A}"/>
              </a:ext>
            </a:extLst>
          </p:cNvPr>
          <p:cNvSpPr>
            <a:spLocks noGrp="1"/>
          </p:cNvSpPr>
          <p:nvPr>
            <p:ph type="sldNum" sz="quarter" idx="12"/>
          </p:nvPr>
        </p:nvSpPr>
        <p:spPr/>
        <p:txBody>
          <a:bodyPr/>
          <a:lstStyle/>
          <a:p>
            <a:fld id="{48F63A3B-78C7-47BE-AE5E-E10140E04643}" type="slidenum">
              <a:rPr lang="en-US" smtClean="0"/>
              <a:pPr/>
              <a:t>14</a:t>
            </a:fld>
            <a:endParaRPr lang="en-US" dirty="0"/>
          </a:p>
        </p:txBody>
      </p:sp>
    </p:spTree>
    <p:extLst>
      <p:ext uri="{BB962C8B-B14F-4D97-AF65-F5344CB8AC3E}">
        <p14:creationId xmlns:p14="http://schemas.microsoft.com/office/powerpoint/2010/main" xmlns="" val="2250280878"/>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EA47F8-8E52-4823-7464-E30E2AEB0B61}"/>
              </a:ext>
            </a:extLst>
          </p:cNvPr>
          <p:cNvSpPr>
            <a:spLocks noGrp="1"/>
          </p:cNvSpPr>
          <p:nvPr>
            <p:ph type="title"/>
          </p:nvPr>
        </p:nvSpPr>
        <p:spPr>
          <a:xfrm>
            <a:off x="4178808" y="731520"/>
            <a:ext cx="6766560" cy="768096"/>
          </a:xfrm>
        </p:spPr>
        <p:txBody>
          <a:bodyPr/>
          <a:lstStyle/>
          <a:p>
            <a:pPr algn="ctr"/>
            <a:r>
              <a:rPr lang="en-US" sz="3600" dirty="0">
                <a:solidFill>
                  <a:schemeClr val="accent1">
                    <a:lumMod val="50000"/>
                  </a:schemeClr>
                </a:solidFill>
                <a:latin typeface="Times New Roman" pitchFamily="18" charset="0"/>
                <a:cs typeface="Times New Roman" pitchFamily="18" charset="0"/>
              </a:rPr>
              <a:t>conclusion</a:t>
            </a:r>
          </a:p>
        </p:txBody>
      </p:sp>
      <p:sp>
        <p:nvSpPr>
          <p:cNvPr id="3" name="Content Placeholder 2">
            <a:extLst>
              <a:ext uri="{FF2B5EF4-FFF2-40B4-BE49-F238E27FC236}">
                <a16:creationId xmlns:a16="http://schemas.microsoft.com/office/drawing/2014/main" xmlns="" id="{B9CF0237-6BBD-8D30-B75B-2E52AAF6DA27}"/>
              </a:ext>
            </a:extLst>
          </p:cNvPr>
          <p:cNvSpPr>
            <a:spLocks noGrp="1"/>
          </p:cNvSpPr>
          <p:nvPr>
            <p:ph idx="1"/>
          </p:nvPr>
        </p:nvSpPr>
        <p:spPr>
          <a:xfrm>
            <a:off x="3557778" y="1737106"/>
            <a:ext cx="8024622" cy="4816094"/>
          </a:xfrm>
        </p:spPr>
        <p:txBody>
          <a:bodyPr/>
          <a:lstStyle/>
          <a:p>
            <a:pPr algn="just"/>
            <a:r>
              <a:rPr lang="en-US" sz="1600" dirty="0">
                <a:solidFill>
                  <a:schemeClr val="tx1"/>
                </a:solidFill>
                <a:latin typeface="Times New Roman" pitchFamily="18" charset="0"/>
                <a:cs typeface="Times New Roman" pitchFamily="18" charset="0"/>
              </a:rPr>
              <a:t>The analyzed statement after the detailed study of these three papers is that we would like to proceed with this project by proposing the method i.e. RCNN to prove its capability in this area of research as the accuracy robustness and efficiency of this method is considered to be most efficient compared to the other methods/algorithms. </a:t>
            </a:r>
            <a:endParaRPr lang="en-US" sz="1600" dirty="0" smtClean="0">
              <a:solidFill>
                <a:schemeClr val="tx1"/>
              </a:solidFill>
              <a:latin typeface="Times New Roman" pitchFamily="18" charset="0"/>
              <a:cs typeface="Times New Roman" pitchFamily="18" charset="0"/>
            </a:endParaRPr>
          </a:p>
          <a:p>
            <a:pPr algn="just"/>
            <a:endParaRPr lang="en-US" sz="1600" dirty="0">
              <a:solidFill>
                <a:schemeClr val="tx1"/>
              </a:solidFill>
              <a:latin typeface="Times New Roman" pitchFamily="18" charset="0"/>
              <a:cs typeface="Times New Roman" pitchFamily="18" charset="0"/>
            </a:endParaRPr>
          </a:p>
          <a:p>
            <a:pPr algn="just"/>
            <a:r>
              <a:rPr lang="en-US" sz="2000" b="1" dirty="0">
                <a:solidFill>
                  <a:schemeClr val="tx1"/>
                </a:solidFill>
                <a:latin typeface="Times New Roman" pitchFamily="18" charset="0"/>
                <a:cs typeface="Times New Roman" pitchFamily="18" charset="0"/>
              </a:rPr>
              <a:t>PROPOSED METHOD:</a:t>
            </a:r>
          </a:p>
          <a:p>
            <a:pPr algn="ctr"/>
            <a:r>
              <a:rPr lang="en-US" sz="1600" b="1" dirty="0" smtClean="0">
                <a:solidFill>
                  <a:schemeClr val="tx1"/>
                </a:solidFill>
                <a:latin typeface="Times New Roman" pitchFamily="18" charset="0"/>
                <a:cs typeface="Times New Roman" pitchFamily="18" charset="0"/>
              </a:rPr>
              <a:t>R-CNN</a:t>
            </a:r>
          </a:p>
          <a:p>
            <a:pPr algn="just"/>
            <a:endParaRPr lang="en-US" sz="1600" b="1" dirty="0">
              <a:solidFill>
                <a:schemeClr val="tx1"/>
              </a:solidFill>
              <a:latin typeface="Times New Roman" pitchFamily="18" charset="0"/>
              <a:cs typeface="Times New Roman" pitchFamily="18" charset="0"/>
            </a:endParaRPr>
          </a:p>
          <a:p>
            <a:pPr algn="just"/>
            <a:r>
              <a:rPr lang="en-US" sz="2000" b="1" dirty="0">
                <a:solidFill>
                  <a:schemeClr val="tx1"/>
                </a:solidFill>
                <a:latin typeface="Times New Roman" pitchFamily="18" charset="0"/>
                <a:cs typeface="Times New Roman" pitchFamily="18" charset="0"/>
              </a:rPr>
              <a:t>MATCHED PARAMETER</a:t>
            </a:r>
            <a:r>
              <a:rPr lang="en-US" sz="2000" dirty="0">
                <a:solidFill>
                  <a:schemeClr val="tx1"/>
                </a:solidFill>
                <a:latin typeface="Times New Roman" pitchFamily="18" charset="0"/>
                <a:cs typeface="Times New Roman" pitchFamily="18" charset="0"/>
              </a:rPr>
              <a:t>:</a:t>
            </a:r>
          </a:p>
          <a:p>
            <a:pPr marL="285750" indent="-285750" algn="just">
              <a:buFont typeface="Arial" panose="020B0604020202020204" pitchFamily="34" charset="0"/>
              <a:buChar char="•"/>
            </a:pPr>
            <a:r>
              <a:rPr lang="en-US" sz="1600" dirty="0">
                <a:solidFill>
                  <a:schemeClr val="tx1"/>
                </a:solidFill>
                <a:latin typeface="Times New Roman" pitchFamily="18" charset="0"/>
                <a:cs typeface="Times New Roman" pitchFamily="18" charset="0"/>
              </a:rPr>
              <a:t>The robustness of the ship during the detection </a:t>
            </a:r>
          </a:p>
          <a:p>
            <a:pPr marL="285750" indent="-285750" algn="just">
              <a:buFont typeface="Arial" panose="020B0604020202020204" pitchFamily="34" charset="0"/>
              <a:buChar char="•"/>
            </a:pPr>
            <a:r>
              <a:rPr lang="en-US" sz="1600" dirty="0">
                <a:solidFill>
                  <a:schemeClr val="tx1"/>
                </a:solidFill>
                <a:latin typeface="Times New Roman" pitchFamily="18" charset="0"/>
                <a:cs typeface="Times New Roman" pitchFamily="18" charset="0"/>
              </a:rPr>
              <a:t>Accuracy </a:t>
            </a:r>
          </a:p>
          <a:p>
            <a:pPr marL="285750" indent="-285750" algn="just">
              <a:buFont typeface="Arial" panose="020B0604020202020204" pitchFamily="34" charset="0"/>
              <a:buChar char="•"/>
            </a:pPr>
            <a:r>
              <a:rPr lang="en-US" sz="1600" dirty="0">
                <a:solidFill>
                  <a:schemeClr val="tx1"/>
                </a:solidFill>
                <a:latin typeface="Times New Roman" pitchFamily="18" charset="0"/>
                <a:cs typeface="Times New Roman" pitchFamily="18" charset="0"/>
              </a:rPr>
              <a:t>Efficiency</a:t>
            </a:r>
          </a:p>
        </p:txBody>
      </p:sp>
      <p:sp>
        <p:nvSpPr>
          <p:cNvPr id="4" name="Footer Placeholder 3">
            <a:extLst>
              <a:ext uri="{FF2B5EF4-FFF2-40B4-BE49-F238E27FC236}">
                <a16:creationId xmlns:a16="http://schemas.microsoft.com/office/drawing/2014/main" xmlns="" id="{42D11C62-8076-4E2B-BE15-B0F9E876B91B}"/>
              </a:ext>
            </a:extLst>
          </p:cNvPr>
          <p:cNvSpPr>
            <a:spLocks noGrp="1"/>
          </p:cNvSpPr>
          <p:nvPr>
            <p:ph type="ftr" sz="quarter" idx="11"/>
          </p:nvPr>
        </p:nvSpPr>
        <p:spPr>
          <a:xfrm>
            <a:off x="6638435" y="337185"/>
            <a:ext cx="6766560" cy="788670"/>
          </a:xfrm>
        </p:spPr>
        <p:txBody>
          <a:bodyPr/>
          <a:lstStyle/>
          <a:p>
            <a:r>
              <a:rPr lang="en-US" sz="1200" dirty="0">
                <a:solidFill>
                  <a:schemeClr val="tx1"/>
                </a:solidFill>
                <a:latin typeface="Times New Roman" panose="02020603050405020304" pitchFamily="18" charset="0"/>
                <a:cs typeface="Times New Roman" panose="02020603050405020304" pitchFamily="18" charset="0"/>
              </a:rPr>
              <a:t>Ship Detection Based on Faster R-CNN Using Range-Compressed Airborne Radar Data</a:t>
            </a:r>
            <a:endParaRPr lang="en-US" dirty="0"/>
          </a:p>
          <a:p>
            <a:endParaRPr lang="en-US" dirty="0"/>
          </a:p>
          <a:p>
            <a:endParaRPr lang="en-US" dirty="0"/>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xmlns="" id="{CF9C527F-3D89-90C7-1900-5455D99988EA}"/>
              </a:ext>
            </a:extLst>
          </p:cNvPr>
          <p:cNvSpPr>
            <a:spLocks noGrp="1"/>
          </p:cNvSpPr>
          <p:nvPr>
            <p:ph type="sldNum" sz="quarter" idx="12"/>
          </p:nvPr>
        </p:nvSpPr>
        <p:spPr/>
        <p:txBody>
          <a:bodyPr/>
          <a:lstStyle/>
          <a:p>
            <a:fld id="{48F63A3B-78C7-47BE-AE5E-E10140E04643}" type="slidenum">
              <a:rPr lang="en-US" smtClean="0"/>
              <a:pPr/>
              <a:t>15</a:t>
            </a:fld>
            <a:endParaRPr lang="en-US" dirty="0"/>
          </a:p>
        </p:txBody>
      </p:sp>
    </p:spTree>
    <p:extLst>
      <p:ext uri="{BB962C8B-B14F-4D97-AF65-F5344CB8AC3E}">
        <p14:creationId xmlns:p14="http://schemas.microsoft.com/office/powerpoint/2010/main" xmlns="" val="2329243152"/>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0" end="0"/>
                                            </p:txEl>
                                          </p:spTgt>
                                        </p:tgtEl>
                                      </p:cBhvr>
                                    </p:animEffect>
                                    <p:animScale>
                                      <p:cBhvr>
                                        <p:cTn id="7" dur="250" autoRev="1" fill="hold"/>
                                        <p:tgtEl>
                                          <p:spTgt spid="3">
                                            <p:txEl>
                                              <p:pRg st="0" end="0"/>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3">
                                            <p:txEl>
                                              <p:pRg st="2" end="2"/>
                                            </p:txEl>
                                          </p:spTgt>
                                        </p:tgtEl>
                                      </p:cBhvr>
                                    </p:animEffect>
                                    <p:animScale>
                                      <p:cBhvr>
                                        <p:cTn id="12" dur="250" autoRev="1" fill="hold"/>
                                        <p:tgtEl>
                                          <p:spTgt spid="3">
                                            <p:txEl>
                                              <p:pRg st="2" end="2"/>
                                            </p:txEl>
                                          </p:spTgt>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nodeType="clickEffect">
                                  <p:stCondLst>
                                    <p:cond delay="0"/>
                                  </p:stCondLst>
                                  <p:childTnLst>
                                    <p:animEffect transition="out" filter="fade">
                                      <p:cBhvr>
                                        <p:cTn id="16" dur="500" tmFilter="0, 0; .2, .5; .8, .5; 1, 0"/>
                                        <p:tgtEl>
                                          <p:spTgt spid="3">
                                            <p:txEl>
                                              <p:pRg st="3" end="3"/>
                                            </p:txEl>
                                          </p:spTgt>
                                        </p:tgtEl>
                                      </p:cBhvr>
                                    </p:animEffect>
                                    <p:animScale>
                                      <p:cBhvr>
                                        <p:cTn id="17" dur="250" autoRev="1" fill="hold"/>
                                        <p:tgtEl>
                                          <p:spTgt spid="3">
                                            <p:txEl>
                                              <p:pRg st="3" end="3"/>
                                            </p:txEl>
                                          </p:spTgt>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nodeType="clickEffect">
                                  <p:stCondLst>
                                    <p:cond delay="0"/>
                                  </p:stCondLst>
                                  <p:childTnLst>
                                    <p:animEffect transition="out" filter="fade">
                                      <p:cBhvr>
                                        <p:cTn id="21" dur="500" tmFilter="0, 0; .2, .5; .8, .5; 1, 0"/>
                                        <p:tgtEl>
                                          <p:spTgt spid="3">
                                            <p:txEl>
                                              <p:pRg st="5" end="5"/>
                                            </p:txEl>
                                          </p:spTgt>
                                        </p:tgtEl>
                                      </p:cBhvr>
                                    </p:animEffect>
                                    <p:animScale>
                                      <p:cBhvr>
                                        <p:cTn id="22" dur="250" autoRev="1" fill="hold"/>
                                        <p:tgtEl>
                                          <p:spTgt spid="3">
                                            <p:txEl>
                                              <p:pRg st="5" end="5"/>
                                            </p:txEl>
                                          </p:spTgt>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6" presetClass="emph" presetSubtype="0" fill="hold" nodeType="clickEffect">
                                  <p:stCondLst>
                                    <p:cond delay="0"/>
                                  </p:stCondLst>
                                  <p:childTnLst>
                                    <p:animEffect transition="out" filter="fade">
                                      <p:cBhvr>
                                        <p:cTn id="26" dur="500" tmFilter="0, 0; .2, .5; .8, .5; 1, 0"/>
                                        <p:tgtEl>
                                          <p:spTgt spid="3">
                                            <p:txEl>
                                              <p:pRg st="6" end="6"/>
                                            </p:txEl>
                                          </p:spTgt>
                                        </p:tgtEl>
                                      </p:cBhvr>
                                    </p:animEffect>
                                    <p:animScale>
                                      <p:cBhvr>
                                        <p:cTn id="27" dur="250" autoRev="1" fill="hold"/>
                                        <p:tgtEl>
                                          <p:spTgt spid="3">
                                            <p:txEl>
                                              <p:pRg st="6" end="6"/>
                                            </p:txEl>
                                          </p:spTgt>
                                        </p:tgtEl>
                                      </p:cBhvr>
                                      <p:by x="105000" y="105000"/>
                                    </p:animScale>
                                  </p:childTnLst>
                                </p:cTn>
                              </p:par>
                            </p:childTnLst>
                          </p:cTn>
                        </p:par>
                      </p:childTnLst>
                    </p:cTn>
                  </p:par>
                  <p:par>
                    <p:cTn id="28" fill="hold">
                      <p:stCondLst>
                        <p:cond delay="indefinite"/>
                      </p:stCondLst>
                      <p:childTnLst>
                        <p:par>
                          <p:cTn id="29" fill="hold">
                            <p:stCondLst>
                              <p:cond delay="0"/>
                            </p:stCondLst>
                            <p:childTnLst>
                              <p:par>
                                <p:cTn id="30" presetID="26" presetClass="emph" presetSubtype="0" fill="hold" nodeType="clickEffect">
                                  <p:stCondLst>
                                    <p:cond delay="0"/>
                                  </p:stCondLst>
                                  <p:childTnLst>
                                    <p:animEffect transition="out" filter="fade">
                                      <p:cBhvr>
                                        <p:cTn id="31" dur="500" tmFilter="0, 0; .2, .5; .8, .5; 1, 0"/>
                                        <p:tgtEl>
                                          <p:spTgt spid="3">
                                            <p:txEl>
                                              <p:pRg st="7" end="7"/>
                                            </p:txEl>
                                          </p:spTgt>
                                        </p:tgtEl>
                                      </p:cBhvr>
                                    </p:animEffect>
                                    <p:animScale>
                                      <p:cBhvr>
                                        <p:cTn id="32" dur="250" autoRev="1" fill="hold"/>
                                        <p:tgtEl>
                                          <p:spTgt spid="3">
                                            <p:txEl>
                                              <p:pRg st="7" end="7"/>
                                            </p:txEl>
                                          </p:spTgt>
                                        </p:tgtEl>
                                      </p:cBhvr>
                                      <p:by x="105000" y="105000"/>
                                    </p:animScale>
                                  </p:childTnLst>
                                </p:cTn>
                              </p:par>
                            </p:childTnLst>
                          </p:cTn>
                        </p:par>
                      </p:childTnLst>
                    </p:cTn>
                  </p:par>
                  <p:par>
                    <p:cTn id="33" fill="hold">
                      <p:stCondLst>
                        <p:cond delay="indefinite"/>
                      </p:stCondLst>
                      <p:childTnLst>
                        <p:par>
                          <p:cTn id="34" fill="hold">
                            <p:stCondLst>
                              <p:cond delay="0"/>
                            </p:stCondLst>
                            <p:childTnLst>
                              <p:par>
                                <p:cTn id="35" presetID="26" presetClass="emph" presetSubtype="0" fill="hold" nodeType="clickEffect">
                                  <p:stCondLst>
                                    <p:cond delay="0"/>
                                  </p:stCondLst>
                                  <p:childTnLst>
                                    <p:animEffect transition="out" filter="fade">
                                      <p:cBhvr>
                                        <p:cTn id="36" dur="500" tmFilter="0, 0; .2, .5; .8, .5; 1, 0"/>
                                        <p:tgtEl>
                                          <p:spTgt spid="3">
                                            <p:txEl>
                                              <p:pRg st="8" end="8"/>
                                            </p:txEl>
                                          </p:spTgt>
                                        </p:tgtEl>
                                      </p:cBhvr>
                                    </p:animEffect>
                                    <p:animScale>
                                      <p:cBhvr>
                                        <p:cTn id="37" dur="250" autoRev="1" fill="hold"/>
                                        <p:tgtEl>
                                          <p:spTgt spid="3">
                                            <p:txEl>
                                              <p:pRg st="8" end="8"/>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8808" y="457200"/>
            <a:ext cx="6766560" cy="501614"/>
          </a:xfrm>
        </p:spPr>
        <p:txBody>
          <a:bodyPr/>
          <a:lstStyle/>
          <a:p>
            <a:pPr algn="ctr"/>
            <a:r>
              <a:rPr lang="en-US" sz="2800" dirty="0" smtClean="0">
                <a:solidFill>
                  <a:srgbClr val="002060"/>
                </a:solidFill>
                <a:latin typeface="Times New Roman" pitchFamily="18" charset="0"/>
                <a:cs typeface="Times New Roman" pitchFamily="18" charset="0"/>
              </a:rPr>
              <a:t>EXISTING SYSTEM OF R-CNN</a:t>
            </a:r>
            <a:endParaRPr lang="en-US" sz="2800"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a:xfrm>
            <a:off x="3762103" y="1162593"/>
            <a:ext cx="7955280" cy="5251269"/>
          </a:xfrm>
        </p:spPr>
        <p:txBody>
          <a:bodyPr/>
          <a:lstStyle/>
          <a:p>
            <a:pPr algn="just">
              <a:buFont typeface="Arial" pitchFamily="34" charset="0"/>
              <a:buChar char="•"/>
            </a:pPr>
            <a:r>
              <a:rPr lang="en-US" sz="1600" dirty="0" smtClean="0">
                <a:solidFill>
                  <a:schemeClr val="tx1">
                    <a:lumMod val="95000"/>
                    <a:lumOff val="5000"/>
                  </a:schemeClr>
                </a:solidFill>
                <a:latin typeface="Times New Roman" pitchFamily="18" charset="0"/>
                <a:cs typeface="Times New Roman" pitchFamily="18" charset="0"/>
              </a:rPr>
              <a:t> </a:t>
            </a:r>
            <a:r>
              <a:rPr lang="en-US" sz="1600" b="1" dirty="0" smtClean="0">
                <a:solidFill>
                  <a:schemeClr val="tx1">
                    <a:lumMod val="95000"/>
                    <a:lumOff val="5000"/>
                  </a:schemeClr>
                </a:solidFill>
                <a:latin typeface="Times New Roman" pitchFamily="18" charset="0"/>
                <a:cs typeface="Times New Roman" pitchFamily="18" charset="0"/>
              </a:rPr>
              <a:t>Region-based </a:t>
            </a:r>
            <a:r>
              <a:rPr lang="en-US" sz="1600" b="1" dirty="0" smtClean="0">
                <a:solidFill>
                  <a:schemeClr val="tx1">
                    <a:lumMod val="95000"/>
                    <a:lumOff val="5000"/>
                  </a:schemeClr>
                </a:solidFill>
                <a:latin typeface="Times New Roman" pitchFamily="18" charset="0"/>
                <a:cs typeface="Times New Roman" pitchFamily="18" charset="0"/>
              </a:rPr>
              <a:t>Convolutional Neural Networks (R-CNN)</a:t>
            </a:r>
            <a:r>
              <a:rPr lang="en-US" sz="1600" dirty="0" smtClean="0">
                <a:solidFill>
                  <a:schemeClr val="tx1">
                    <a:lumMod val="95000"/>
                    <a:lumOff val="5000"/>
                  </a:schemeClr>
                </a:solidFill>
                <a:latin typeface="Times New Roman" pitchFamily="18" charset="0"/>
                <a:cs typeface="Times New Roman" pitchFamily="18" charset="0"/>
              </a:rPr>
              <a:t> represent a pivotal advancement in the field of object detection. Introduced by Ross Girshick and his colleagues in 2014, R-CNN combines the power of convolutional neural networks (CNNs) with region proposal methods to accurately locate and classify objects within an </a:t>
            </a:r>
            <a:r>
              <a:rPr lang="en-US" sz="1600" dirty="0" smtClean="0">
                <a:solidFill>
                  <a:schemeClr val="tx1">
                    <a:lumMod val="95000"/>
                    <a:lumOff val="5000"/>
                  </a:schemeClr>
                </a:solidFill>
                <a:latin typeface="Times New Roman" pitchFamily="18" charset="0"/>
                <a:cs typeface="Times New Roman" pitchFamily="18" charset="0"/>
              </a:rPr>
              <a:t>image.</a:t>
            </a:r>
          </a:p>
          <a:p>
            <a:pPr algn="just"/>
            <a:endParaRPr lang="en-US" sz="1600" dirty="0" smtClean="0">
              <a:solidFill>
                <a:schemeClr val="tx1">
                  <a:lumMod val="95000"/>
                  <a:lumOff val="5000"/>
                </a:schemeClr>
              </a:solidFill>
              <a:latin typeface="Times New Roman" pitchFamily="18" charset="0"/>
              <a:cs typeface="Times New Roman" pitchFamily="18" charset="0"/>
            </a:endParaRPr>
          </a:p>
          <a:p>
            <a:pPr algn="just">
              <a:buFont typeface="Arial" pitchFamily="34" charset="0"/>
              <a:buChar char="•"/>
            </a:pPr>
            <a:r>
              <a:rPr lang="en-US" sz="1600" b="1" dirty="0" smtClean="0">
                <a:solidFill>
                  <a:schemeClr val="tx1">
                    <a:lumMod val="95000"/>
                    <a:lumOff val="5000"/>
                  </a:schemeClr>
                </a:solidFill>
                <a:latin typeface="Times New Roman" pitchFamily="18" charset="0"/>
                <a:cs typeface="Times New Roman" pitchFamily="18" charset="0"/>
              </a:rPr>
              <a:t> </a:t>
            </a:r>
            <a:r>
              <a:rPr lang="en-US" sz="1600" b="1" dirty="0" smtClean="0">
                <a:solidFill>
                  <a:schemeClr val="tx1">
                    <a:lumMod val="95000"/>
                    <a:lumOff val="5000"/>
                  </a:schemeClr>
                </a:solidFill>
                <a:latin typeface="Times New Roman" pitchFamily="18" charset="0"/>
                <a:cs typeface="Times New Roman" pitchFamily="18" charset="0"/>
              </a:rPr>
              <a:t>The </a:t>
            </a:r>
            <a:r>
              <a:rPr lang="en-US" sz="1600" b="1" dirty="0" smtClean="0">
                <a:solidFill>
                  <a:schemeClr val="tx1">
                    <a:lumMod val="95000"/>
                    <a:lumOff val="5000"/>
                  </a:schemeClr>
                </a:solidFill>
                <a:latin typeface="Times New Roman" pitchFamily="18" charset="0"/>
                <a:cs typeface="Times New Roman" pitchFamily="18" charset="0"/>
              </a:rPr>
              <a:t>system operates in two main stages:</a:t>
            </a:r>
            <a:r>
              <a:rPr lang="en-US" sz="1600" dirty="0" smtClean="0">
                <a:solidFill>
                  <a:schemeClr val="tx1">
                    <a:lumMod val="95000"/>
                    <a:lumOff val="5000"/>
                  </a:schemeClr>
                </a:solidFill>
                <a:latin typeface="Times New Roman" pitchFamily="18" charset="0"/>
                <a:cs typeface="Times New Roman" pitchFamily="18" charset="0"/>
              </a:rPr>
              <a:t> first, it generates a set of </a:t>
            </a:r>
            <a:r>
              <a:rPr lang="en-US" sz="1600" dirty="0" smtClean="0">
                <a:solidFill>
                  <a:schemeClr val="tx1">
                    <a:lumMod val="95000"/>
                    <a:lumOff val="5000"/>
                  </a:schemeClr>
                </a:solidFill>
                <a:latin typeface="Times New Roman" pitchFamily="18" charset="0"/>
                <a:cs typeface="Times New Roman" pitchFamily="18" charset="0"/>
              </a:rPr>
              <a:t>region proposals </a:t>
            </a:r>
            <a:r>
              <a:rPr lang="en-US" sz="1600" dirty="0" smtClean="0">
                <a:solidFill>
                  <a:schemeClr val="tx1">
                    <a:lumMod val="95000"/>
                    <a:lumOff val="5000"/>
                  </a:schemeClr>
                </a:solidFill>
                <a:latin typeface="Times New Roman" pitchFamily="18" charset="0"/>
                <a:cs typeface="Times New Roman" pitchFamily="18" charset="0"/>
              </a:rPr>
              <a:t>using a selective search algorithm, which identifies potential object locations. Subsequently, each proposed region is individually processed by a CNN to extract features, and a support vector machine (SVM) is </a:t>
            </a:r>
            <a:r>
              <a:rPr lang="en-US" sz="1600" dirty="0" smtClean="0">
                <a:solidFill>
                  <a:schemeClr val="tx1">
                    <a:lumMod val="95000"/>
                    <a:lumOff val="5000"/>
                  </a:schemeClr>
                </a:solidFill>
                <a:latin typeface="Times New Roman" pitchFamily="18" charset="0"/>
                <a:cs typeface="Times New Roman" pitchFamily="18" charset="0"/>
              </a:rPr>
              <a:t>employed </a:t>
            </a:r>
            <a:r>
              <a:rPr lang="en-US" sz="1600" dirty="0" smtClean="0">
                <a:solidFill>
                  <a:schemeClr val="tx1">
                    <a:lumMod val="95000"/>
                    <a:lumOff val="5000"/>
                  </a:schemeClr>
                </a:solidFill>
                <a:latin typeface="Times New Roman" pitchFamily="18" charset="0"/>
                <a:cs typeface="Times New Roman" pitchFamily="18" charset="0"/>
              </a:rPr>
              <a:t>for classification</a:t>
            </a:r>
            <a:r>
              <a:rPr lang="en-US" sz="1600" dirty="0" smtClean="0">
                <a:solidFill>
                  <a:schemeClr val="tx1">
                    <a:lumMod val="95000"/>
                    <a:lumOff val="5000"/>
                  </a:schemeClr>
                </a:solidFill>
                <a:latin typeface="Times New Roman" pitchFamily="18" charset="0"/>
                <a:cs typeface="Times New Roman" pitchFamily="18" charset="0"/>
              </a:rPr>
              <a:t>.</a:t>
            </a:r>
          </a:p>
          <a:p>
            <a:pPr algn="just">
              <a:buFont typeface="Arial" pitchFamily="34" charset="0"/>
              <a:buChar char="•"/>
            </a:pPr>
            <a:endParaRPr lang="en-US" sz="1600" dirty="0" smtClean="0">
              <a:solidFill>
                <a:schemeClr val="tx1">
                  <a:lumMod val="95000"/>
                  <a:lumOff val="5000"/>
                </a:schemeClr>
              </a:solidFill>
              <a:latin typeface="Times New Roman" pitchFamily="18" charset="0"/>
              <a:cs typeface="Times New Roman" pitchFamily="18" charset="0"/>
            </a:endParaRPr>
          </a:p>
          <a:p>
            <a:pPr algn="just">
              <a:buFont typeface="Arial" pitchFamily="34" charset="0"/>
              <a:buChar char="•"/>
            </a:pPr>
            <a:endParaRPr lang="en-US" sz="1600" dirty="0" smtClean="0">
              <a:solidFill>
                <a:schemeClr val="tx1">
                  <a:lumMod val="95000"/>
                  <a:lumOff val="5000"/>
                </a:schemeClr>
              </a:solidFill>
              <a:latin typeface="Times New Roman" pitchFamily="18" charset="0"/>
              <a:cs typeface="Times New Roman" pitchFamily="18" charset="0"/>
            </a:endParaRPr>
          </a:p>
          <a:p>
            <a:pPr algn="just">
              <a:buFont typeface="Arial" pitchFamily="34" charset="0"/>
              <a:buChar char="•"/>
            </a:pPr>
            <a:endParaRPr lang="en-US" sz="1600" dirty="0" smtClean="0">
              <a:solidFill>
                <a:schemeClr val="tx1">
                  <a:lumMod val="95000"/>
                  <a:lumOff val="5000"/>
                </a:schemeClr>
              </a:solidFill>
              <a:latin typeface="Times New Roman" pitchFamily="18" charset="0"/>
              <a:cs typeface="Times New Roman" pitchFamily="18" charset="0"/>
            </a:endParaRPr>
          </a:p>
          <a:p>
            <a:pPr algn="just">
              <a:buFont typeface="Arial" pitchFamily="34" charset="0"/>
              <a:buChar char="•"/>
            </a:pPr>
            <a:endParaRPr lang="en-US" sz="1600" dirty="0" smtClean="0">
              <a:solidFill>
                <a:schemeClr val="tx1">
                  <a:lumMod val="95000"/>
                  <a:lumOff val="5000"/>
                </a:schemeClr>
              </a:solidFill>
              <a:latin typeface="Times New Roman" pitchFamily="18" charset="0"/>
              <a:cs typeface="Times New Roman" pitchFamily="18" charset="0"/>
            </a:endParaRPr>
          </a:p>
          <a:p>
            <a:pPr algn="just">
              <a:buFont typeface="Arial" pitchFamily="34" charset="0"/>
              <a:buChar char="•"/>
            </a:pPr>
            <a:endParaRPr lang="en-US" sz="1600" dirty="0" smtClean="0">
              <a:solidFill>
                <a:schemeClr val="tx1">
                  <a:lumMod val="95000"/>
                  <a:lumOff val="5000"/>
                </a:schemeClr>
              </a:solidFill>
              <a:latin typeface="Times New Roman" pitchFamily="18" charset="0"/>
              <a:cs typeface="Times New Roman" pitchFamily="18" charset="0"/>
            </a:endParaRPr>
          </a:p>
          <a:p>
            <a:pPr algn="just"/>
            <a:endParaRPr lang="en-US" sz="1600" dirty="0" smtClean="0"/>
          </a:p>
          <a:p>
            <a:pPr algn="just">
              <a:buFont typeface="Arial" pitchFamily="34" charset="0"/>
              <a:buChar char="•"/>
            </a:pPr>
            <a:r>
              <a:rPr lang="en-US" sz="1600" dirty="0" smtClean="0">
                <a:solidFill>
                  <a:schemeClr val="tx1">
                    <a:lumMod val="95000"/>
                    <a:lumOff val="5000"/>
                  </a:schemeClr>
                </a:solidFill>
                <a:latin typeface="Times New Roman" pitchFamily="18" charset="0"/>
                <a:cs typeface="Times New Roman" pitchFamily="18" charset="0"/>
              </a:rPr>
              <a:t>Finally</a:t>
            </a:r>
            <a:r>
              <a:rPr lang="en-US" sz="1600" dirty="0" smtClean="0">
                <a:solidFill>
                  <a:schemeClr val="tx1">
                    <a:lumMod val="95000"/>
                    <a:lumOff val="5000"/>
                  </a:schemeClr>
                </a:solidFill>
                <a:latin typeface="Times New Roman" pitchFamily="18" charset="0"/>
                <a:cs typeface="Times New Roman" pitchFamily="18" charset="0"/>
              </a:rPr>
              <a:t>, bounding box regression is applied to refine the localization accuracy. Although effective, R-CNN has faced criticisms for its computational inefficiency during training due to the need to independently process each region proposal. </a:t>
            </a:r>
            <a:endParaRPr lang="en-US" sz="1600" dirty="0" smtClean="0">
              <a:solidFill>
                <a:schemeClr val="tx1">
                  <a:lumMod val="95000"/>
                  <a:lumOff val="5000"/>
                </a:schemeClr>
              </a:solidFill>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48F63A3B-78C7-47BE-AE5E-E10140E04643}" type="slidenum">
              <a:rPr lang="en-US" smtClean="0"/>
              <a:pPr/>
              <a:t>16</a:t>
            </a:fld>
            <a:endParaRPr lang="en-US" dirty="0"/>
          </a:p>
        </p:txBody>
      </p:sp>
      <p:pic>
        <p:nvPicPr>
          <p:cNvPr id="40962" name="Picture 2" descr="https://miro.medium.com/v2/resize:fit:700/1*Vc3wROtbND2gYD-pi85cPw.png"/>
          <p:cNvPicPr>
            <a:picLocks noChangeAspect="1" noChangeArrowheads="1"/>
          </p:cNvPicPr>
          <p:nvPr/>
        </p:nvPicPr>
        <p:blipFill>
          <a:blip r:embed="rId2"/>
          <a:srcRect/>
          <a:stretch>
            <a:fillRect/>
          </a:stretch>
        </p:blipFill>
        <p:spPr bwMode="auto">
          <a:xfrm>
            <a:off x="4277868" y="3696471"/>
            <a:ext cx="6667500" cy="1524001"/>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10297" y="731520"/>
            <a:ext cx="7654834" cy="5434148"/>
          </a:xfrm>
        </p:spPr>
        <p:txBody>
          <a:bodyPr/>
          <a:lstStyle/>
          <a:p>
            <a:pPr algn="just">
              <a:buFont typeface="Arial" pitchFamily="34" charset="0"/>
              <a:buChar char="•"/>
            </a:pPr>
            <a:r>
              <a:rPr lang="en-US" sz="1600" dirty="0" smtClean="0">
                <a:solidFill>
                  <a:schemeClr val="tx1">
                    <a:lumMod val="95000"/>
                    <a:lumOff val="5000"/>
                  </a:schemeClr>
                </a:solidFill>
                <a:latin typeface="Times New Roman" pitchFamily="18" charset="0"/>
                <a:cs typeface="Times New Roman" pitchFamily="18" charset="0"/>
              </a:rPr>
              <a:t> Despite </a:t>
            </a:r>
            <a:r>
              <a:rPr lang="en-US" sz="1600" dirty="0" smtClean="0">
                <a:solidFill>
                  <a:schemeClr val="tx1">
                    <a:lumMod val="95000"/>
                    <a:lumOff val="5000"/>
                  </a:schemeClr>
                </a:solidFill>
                <a:latin typeface="Times New Roman" pitchFamily="18" charset="0"/>
                <a:cs typeface="Times New Roman" pitchFamily="18" charset="0"/>
              </a:rPr>
              <a:t>these challenges, R-CNN has laid the foundation for subsequent improvements, such as Fast R-CNN and Faster R-CNN, which aim to enhance speed and efficiency in object detection tasks</a:t>
            </a:r>
            <a:r>
              <a:rPr lang="en-US" sz="1600" dirty="0" smtClean="0">
                <a:solidFill>
                  <a:schemeClr val="tx1">
                    <a:lumMod val="95000"/>
                    <a:lumOff val="5000"/>
                  </a:schemeClr>
                </a:solidFill>
                <a:latin typeface="Times New Roman" pitchFamily="18" charset="0"/>
                <a:cs typeface="Times New Roman" pitchFamily="18" charset="0"/>
              </a:rPr>
              <a:t>.</a:t>
            </a:r>
          </a:p>
          <a:p>
            <a:pPr algn="ctr"/>
            <a:endParaRPr lang="en-US" sz="1600" b="1" u="sng" dirty="0" smtClean="0">
              <a:solidFill>
                <a:schemeClr val="tx1">
                  <a:lumMod val="95000"/>
                  <a:lumOff val="5000"/>
                </a:schemeClr>
              </a:solidFill>
              <a:latin typeface="Times New Roman" pitchFamily="18" charset="0"/>
              <a:cs typeface="Times New Roman" pitchFamily="18" charset="0"/>
            </a:endParaRPr>
          </a:p>
          <a:p>
            <a:pPr algn="ctr"/>
            <a:r>
              <a:rPr lang="en-US" sz="2400" b="1" u="sng" dirty="0" smtClean="0">
                <a:solidFill>
                  <a:srgbClr val="002060"/>
                </a:solidFill>
                <a:latin typeface="Times New Roman" pitchFamily="18" charset="0"/>
                <a:cs typeface="Times New Roman" pitchFamily="18" charset="0"/>
              </a:rPr>
              <a:t>WORKING OF R-CNN:</a:t>
            </a:r>
            <a:endParaRPr lang="en-US" sz="2400" b="1" u="sng" dirty="0">
              <a:solidFill>
                <a:srgbClr val="002060"/>
              </a:solidFill>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48F63A3B-78C7-47BE-AE5E-E10140E04643}" type="slidenum">
              <a:rPr lang="en-US" smtClean="0"/>
              <a:pPr/>
              <a:t>17</a:t>
            </a:fld>
            <a:endParaRPr lang="en-US" dirty="0"/>
          </a:p>
        </p:txBody>
      </p:sp>
      <p:sp>
        <p:nvSpPr>
          <p:cNvPr id="41986" name="AutoShape 2" descr="High-level diagram of Faster R-CNN [16] for generic object detection 2) Inception-v2: The Inception model is a pre-trained deep convolutional neural network having millions of parameters that had been trained on ImageNet dataset using very powerful and expensive computers, training this model takes weeks to finish. The first version of Inception (inception-v1) was introduced in [18] as GoogleLeNet. Later the architecture of inception was improved in [19] using the batch normalization technique and different other ways and the new version (Inception-v2) came out. In which based on the factorization technique 7 × 7 convolution have been factorized into three 3 × 3 convolutions to improve computational speed. There are 3 traditional inception modules in the inception part of the network and using the grid reduction technique the 35×35 grid with 288 filters each is reduced to a 17 × 17 grid with 768 filters. Followed by 5 instances of the factorized inception modules. Using grid reduction it is reduced to an 8 × 8 × 1280 grid. There are two Inception modules a the coarsest 8 × 8 level, and for each tile an output filter bank having a size of 2048 is concatenated. remove the bottleneck filter banks in the module made wider instead of deepe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1988" name="Picture 4" descr="High-level diagram of Faster R-CNN [16] for generic object detection 2) Inception-v2: The Inception model is a pre-trained deep convolutional neural network having millions of parameters that had been trained on ImageNet dataset using very powerful and expensive computers, training this model takes weeks to finish. The first version of Inception (inception-v1) was introduced in [18] as GoogleLeNet. Later the architecture of inception was improved in [19] using the batch normalization technique and different other ways and the new version (Inception-v2) came out. In which based on the factorization technique 7 × 7 convolution have been factorized into three 3 × 3 convolutions to improve computational speed. There are 3 traditional inception modules in the inception part of the network and using the grid reduction technique the 35×35 grid with 288 filters each is reduced to a 17 × 17 grid with 768 filters. Followed by 5 instances of the factorized inception modules. Using grid reduction it is reduced to an 8 × 8 × 1280 grid. There are two Inception modules a the coarsest 8 × 8 level, and for each tile an output filter bank having a size of 2048 is concatenated. remove the bottleneck filter banks in the module made wider instead of deeper."/>
          <p:cNvPicPr>
            <a:picLocks noChangeAspect="1" noChangeArrowheads="1"/>
          </p:cNvPicPr>
          <p:nvPr/>
        </p:nvPicPr>
        <p:blipFill>
          <a:blip r:embed="rId2"/>
          <a:srcRect/>
          <a:stretch>
            <a:fillRect/>
          </a:stretch>
        </p:blipFill>
        <p:spPr bwMode="auto">
          <a:xfrm>
            <a:off x="3778431" y="2641417"/>
            <a:ext cx="7886700" cy="3524251"/>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1648" y="731520"/>
            <a:ext cx="6766560" cy="600891"/>
          </a:xfrm>
        </p:spPr>
        <p:txBody>
          <a:bodyPr/>
          <a:lstStyle/>
          <a:p>
            <a:pPr algn="ctr"/>
            <a:r>
              <a:rPr lang="en-US" sz="2400" u="sng" dirty="0" smtClean="0">
                <a:solidFill>
                  <a:srgbClr val="002060"/>
                </a:solidFill>
                <a:latin typeface="Times New Roman" pitchFamily="18" charset="0"/>
                <a:cs typeface="Times New Roman" pitchFamily="18" charset="0"/>
              </a:rPr>
              <a:t>ARCHITECHTURE OF R-CNN</a:t>
            </a:r>
            <a:endParaRPr lang="en-US" sz="2400" u="sng"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a:xfrm>
            <a:off x="4041648" y="1502229"/>
            <a:ext cx="7453666" cy="4741817"/>
          </a:xfrm>
        </p:spPr>
        <p:txBody>
          <a:bodyPr/>
          <a:lstStyle/>
          <a:p>
            <a:pPr>
              <a:buFont typeface="Arial" pitchFamily="34" charset="0"/>
              <a:buChar char="•"/>
            </a:pPr>
            <a:r>
              <a:rPr lang="en-US" sz="1600" dirty="0" smtClean="0">
                <a:solidFill>
                  <a:schemeClr val="tx1">
                    <a:lumMod val="95000"/>
                    <a:lumOff val="5000"/>
                  </a:schemeClr>
                </a:solidFill>
                <a:latin typeface="Times New Roman" pitchFamily="18" charset="0"/>
                <a:cs typeface="Times New Roman" pitchFamily="18" charset="0"/>
              </a:rPr>
              <a:t>Region-based Convolutional Neural Network (R-CNN) is a pioneering architecture in the field of object detection, designed to address the limitations of traditional methods</a:t>
            </a:r>
            <a:r>
              <a:rPr lang="en-US" sz="1600" dirty="0" smtClean="0">
                <a:solidFill>
                  <a:schemeClr val="tx1">
                    <a:lumMod val="95000"/>
                    <a:lumOff val="5000"/>
                  </a:schemeClr>
                </a:solidFill>
                <a:latin typeface="Times New Roman" pitchFamily="18" charset="0"/>
                <a:cs typeface="Times New Roman" pitchFamily="18" charset="0"/>
              </a:rPr>
              <a:t>.</a:t>
            </a:r>
          </a:p>
          <a:p>
            <a:endParaRPr lang="en-US" sz="1600" dirty="0" smtClean="0">
              <a:solidFill>
                <a:schemeClr val="tx1">
                  <a:lumMod val="95000"/>
                  <a:lumOff val="5000"/>
                </a:schemeClr>
              </a:solidFill>
              <a:latin typeface="Times New Roman" pitchFamily="18" charset="0"/>
              <a:cs typeface="Times New Roman" pitchFamily="18" charset="0"/>
            </a:endParaRPr>
          </a:p>
          <a:p>
            <a:pPr>
              <a:buFont typeface="Arial" pitchFamily="34" charset="0"/>
              <a:buChar char="•"/>
            </a:pPr>
            <a:r>
              <a:rPr lang="en-US" sz="1600" dirty="0" smtClean="0">
                <a:solidFill>
                  <a:schemeClr val="tx1">
                    <a:lumMod val="95000"/>
                    <a:lumOff val="5000"/>
                  </a:schemeClr>
                </a:solidFill>
                <a:latin typeface="Times New Roman" pitchFamily="18" charset="0"/>
                <a:cs typeface="Times New Roman" pitchFamily="18" charset="0"/>
              </a:rPr>
              <a:t>The R-CNN system consists of several key components that work cohesively to identify and localize objects within an image. The process begins with selective search, a region proposal algorithm that generates a diverse set of potential object bounding boxes. </a:t>
            </a:r>
            <a:endParaRPr lang="en-US" sz="1600" dirty="0" smtClean="0">
              <a:solidFill>
                <a:schemeClr val="tx1">
                  <a:lumMod val="95000"/>
                  <a:lumOff val="5000"/>
                </a:schemeClr>
              </a:solidFill>
              <a:latin typeface="Times New Roman" pitchFamily="18" charset="0"/>
              <a:cs typeface="Times New Roman" pitchFamily="18" charset="0"/>
            </a:endParaRPr>
          </a:p>
          <a:p>
            <a:endParaRPr lang="en-US" sz="1600" dirty="0" smtClean="0">
              <a:solidFill>
                <a:schemeClr val="tx1">
                  <a:lumMod val="95000"/>
                  <a:lumOff val="5000"/>
                </a:schemeClr>
              </a:solidFill>
              <a:latin typeface="Times New Roman" pitchFamily="18" charset="0"/>
              <a:cs typeface="Times New Roman" pitchFamily="18" charset="0"/>
            </a:endParaRPr>
          </a:p>
          <a:p>
            <a:pPr>
              <a:buFont typeface="Arial" pitchFamily="34" charset="0"/>
              <a:buChar char="•"/>
            </a:pPr>
            <a:r>
              <a:rPr lang="en-US" sz="1600" dirty="0" smtClean="0">
                <a:solidFill>
                  <a:schemeClr val="tx1">
                    <a:lumMod val="95000"/>
                    <a:lumOff val="5000"/>
                  </a:schemeClr>
                </a:solidFill>
                <a:latin typeface="Times New Roman" pitchFamily="18" charset="0"/>
                <a:cs typeface="Times New Roman" pitchFamily="18" charset="0"/>
              </a:rPr>
              <a:t>These proposals serve as input to a pre-trained convolutional neural network (CNN), typically based on architectures like AlexNet or VGG, which extracts feature maps from each region</a:t>
            </a:r>
            <a:r>
              <a:rPr lang="en-US" sz="1600" dirty="0" smtClean="0">
                <a:solidFill>
                  <a:schemeClr val="tx1">
                    <a:lumMod val="95000"/>
                    <a:lumOff val="5000"/>
                  </a:schemeClr>
                </a:solidFill>
                <a:latin typeface="Times New Roman" pitchFamily="18" charset="0"/>
                <a:cs typeface="Times New Roman" pitchFamily="18" charset="0"/>
              </a:rPr>
              <a:t>.</a:t>
            </a:r>
          </a:p>
          <a:p>
            <a:endParaRPr lang="en-US" sz="1600" dirty="0" smtClean="0">
              <a:solidFill>
                <a:schemeClr val="tx1">
                  <a:lumMod val="95000"/>
                  <a:lumOff val="5000"/>
                </a:schemeClr>
              </a:solidFill>
              <a:latin typeface="Times New Roman" pitchFamily="18" charset="0"/>
              <a:cs typeface="Times New Roman" pitchFamily="18" charset="0"/>
            </a:endParaRPr>
          </a:p>
          <a:p>
            <a:pPr>
              <a:buFont typeface="Arial" pitchFamily="34" charset="0"/>
              <a:buChar char="•"/>
            </a:pPr>
            <a:r>
              <a:rPr lang="en-US" sz="1600" dirty="0" smtClean="0">
                <a:solidFill>
                  <a:schemeClr val="tx1">
                    <a:lumMod val="95000"/>
                    <a:lumOff val="5000"/>
                  </a:schemeClr>
                </a:solidFill>
                <a:latin typeface="Times New Roman" pitchFamily="18" charset="0"/>
                <a:cs typeface="Times New Roman" pitchFamily="18" charset="0"/>
              </a:rPr>
              <a:t>The features are then fed into support vector machines (SVMs) to classify the proposed regions into different object classes. Simultaneously, bounding box </a:t>
            </a:r>
            <a:r>
              <a:rPr lang="en-US" sz="1600" dirty="0" smtClean="0">
                <a:solidFill>
                  <a:schemeClr val="tx1">
                    <a:lumMod val="95000"/>
                    <a:lumOff val="5000"/>
                  </a:schemeClr>
                </a:solidFill>
                <a:latin typeface="Times New Roman" pitchFamily="18" charset="0"/>
                <a:cs typeface="Times New Roman" pitchFamily="18" charset="0"/>
              </a:rPr>
              <a:t>regresses </a:t>
            </a:r>
            <a:r>
              <a:rPr lang="en-US" sz="1600" dirty="0" smtClean="0">
                <a:solidFill>
                  <a:schemeClr val="tx1">
                    <a:lumMod val="95000"/>
                    <a:lumOff val="5000"/>
                  </a:schemeClr>
                </a:solidFill>
                <a:latin typeface="Times New Roman" pitchFamily="18" charset="0"/>
                <a:cs typeface="Times New Roman" pitchFamily="18" charset="0"/>
              </a:rPr>
              <a:t>refine the coordinates of the bounding boxes to improve localization accuracy. </a:t>
            </a:r>
            <a:endParaRPr lang="en-US" sz="1600" dirty="0" smtClean="0">
              <a:solidFill>
                <a:schemeClr val="tx1">
                  <a:lumMod val="95000"/>
                  <a:lumOff val="5000"/>
                </a:schemeClr>
              </a:solidFill>
              <a:latin typeface="Times New Roman" pitchFamily="18" charset="0"/>
              <a:cs typeface="Times New Roman" pitchFamily="18" charset="0"/>
            </a:endParaRPr>
          </a:p>
          <a:p>
            <a:endParaRPr lang="en-US" sz="1600" dirty="0" smtClean="0">
              <a:solidFill>
                <a:schemeClr val="tx1">
                  <a:lumMod val="95000"/>
                  <a:lumOff val="5000"/>
                </a:schemeClr>
              </a:solidFill>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48F63A3B-78C7-47BE-AE5E-E10140E04643}"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8F63A3B-78C7-47BE-AE5E-E10140E04643}" type="slidenum">
              <a:rPr lang="en-US" smtClean="0"/>
              <a:pPr/>
              <a:t>19</a:t>
            </a:fld>
            <a:endParaRPr lang="en-US" dirty="0"/>
          </a:p>
        </p:txBody>
      </p:sp>
      <p:pic>
        <p:nvPicPr>
          <p:cNvPr id="6" name="Google Shape;1453;p42" descr="Lightbox"/>
          <p:cNvPicPr preferRelativeResize="0">
            <a:picLocks noGrp="1"/>
          </p:cNvPicPr>
          <p:nvPr>
            <p:ph idx="1"/>
          </p:nvPr>
        </p:nvPicPr>
        <p:blipFill rotWithShape="1">
          <a:blip r:embed="rId2">
            <a:alphaModFix/>
          </a:blip>
          <a:srcRect/>
          <a:stretch/>
        </p:blipFill>
        <p:spPr>
          <a:xfrm>
            <a:off x="4141742" y="731520"/>
            <a:ext cx="7458075" cy="3644536"/>
          </a:xfrm>
          <a:prstGeom prst="rect">
            <a:avLst/>
          </a:prstGeom>
          <a:noFill/>
          <a:ln>
            <a:noFill/>
          </a:ln>
        </p:spPr>
      </p:pic>
      <p:sp>
        <p:nvSpPr>
          <p:cNvPr id="7" name="TextBox 6"/>
          <p:cNvSpPr txBox="1"/>
          <p:nvPr/>
        </p:nvSpPr>
        <p:spPr>
          <a:xfrm>
            <a:off x="3847441" y="5159829"/>
            <a:ext cx="7752376" cy="1323439"/>
          </a:xfrm>
          <a:prstGeom prst="rect">
            <a:avLst/>
          </a:prstGeom>
          <a:noFill/>
        </p:spPr>
        <p:txBody>
          <a:bodyPr wrap="square" rtlCol="0">
            <a:spAutoFit/>
          </a:bodyPr>
          <a:lstStyle/>
          <a:p>
            <a:pPr algn="just">
              <a:buFont typeface="Arial" pitchFamily="34" charset="0"/>
              <a:buChar char="•"/>
            </a:pPr>
            <a:r>
              <a:rPr lang="en-US" sz="1600" dirty="0" smtClean="0">
                <a:solidFill>
                  <a:schemeClr val="tx1">
                    <a:lumMod val="95000"/>
                    <a:lumOff val="5000"/>
                  </a:schemeClr>
                </a:solidFill>
                <a:latin typeface="Times New Roman" pitchFamily="18" charset="0"/>
                <a:cs typeface="Times New Roman" pitchFamily="18" charset="0"/>
              </a:rPr>
              <a:t>However, R-CNN has drawbacks in terms of computational inefficiency, as it processes each region independently. To address this, subsequent variations like Fast R-CNN and Faster R-CNN have been introduced, leveraging improvements such as shared convolutional features and introducing region proposal networks (RPNs) to streamline the process and enhance overall efficiency in object detection. </a:t>
            </a:r>
            <a:endParaRPr lang="en-US" sz="1600" dirty="0" smtClean="0">
              <a:solidFill>
                <a:schemeClr val="tx1">
                  <a:lumMod val="95000"/>
                  <a:lumOff val="5000"/>
                </a:schemeClr>
              </a:solidFill>
              <a:latin typeface="Times New Roman" pitchFamily="18" charset="0"/>
              <a:cs typeface="Times New Roman" pitchFamily="18" charset="0"/>
            </a:endParaRPr>
          </a:p>
        </p:txBody>
      </p:sp>
      <p:sp>
        <p:nvSpPr>
          <p:cNvPr id="8" name="Google Shape;1454;p42"/>
          <p:cNvSpPr txBox="1"/>
          <p:nvPr/>
        </p:nvSpPr>
        <p:spPr>
          <a:xfrm flipH="1">
            <a:off x="6273074" y="4663440"/>
            <a:ext cx="3511006" cy="33851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dirty="0">
                <a:solidFill>
                  <a:schemeClr val="accent1">
                    <a:lumMod val="50000"/>
                  </a:schemeClr>
                </a:solidFill>
                <a:latin typeface="Times New Roman" pitchFamily="18" charset="0"/>
                <a:ea typeface="Nunito"/>
                <a:cs typeface="Times New Roman" pitchFamily="18" charset="0"/>
                <a:sym typeface="Nunito"/>
              </a:rPr>
              <a:t>R-CNN </a:t>
            </a:r>
            <a:r>
              <a:rPr lang="en-US" sz="1600" b="1" dirty="0" smtClean="0">
                <a:solidFill>
                  <a:schemeClr val="accent1">
                    <a:lumMod val="50000"/>
                  </a:schemeClr>
                </a:solidFill>
                <a:latin typeface="Times New Roman" pitchFamily="18" charset="0"/>
                <a:ea typeface="Nunito"/>
                <a:cs typeface="Times New Roman" pitchFamily="18" charset="0"/>
                <a:sym typeface="Nunito"/>
              </a:rPr>
              <a:t>ARCHITECTURE</a:t>
            </a:r>
            <a:endParaRPr sz="1600" b="1">
              <a:solidFill>
                <a:schemeClr val="accent1">
                  <a:lumMod val="50000"/>
                </a:schemeClr>
              </a:solidFill>
              <a:latin typeface="Times New Roman" pitchFamily="18" charset="0"/>
              <a:ea typeface="Candara"/>
              <a:cs typeface="Times New Roman" pitchFamily="18" charset="0"/>
              <a:sym typeface="Candar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0DAC0D-0ABB-9738-5AC3-FDC88CA2DC05}"/>
              </a:ext>
            </a:extLst>
          </p:cNvPr>
          <p:cNvSpPr>
            <a:spLocks noGrp="1"/>
          </p:cNvSpPr>
          <p:nvPr>
            <p:ph type="title"/>
          </p:nvPr>
        </p:nvSpPr>
        <p:spPr>
          <a:xfrm>
            <a:off x="4002459" y="347472"/>
            <a:ext cx="6766560" cy="768096"/>
          </a:xfrm>
        </p:spPr>
        <p:txBody>
          <a:bodyPr/>
          <a:lstStyle/>
          <a:p>
            <a:pPr algn="ctr"/>
            <a:r>
              <a:rPr lang="en-US" sz="2400" u="sng" dirty="0">
                <a:solidFill>
                  <a:schemeClr val="accent1">
                    <a:lumMod val="50000"/>
                  </a:schemeClr>
                </a:solidFill>
                <a:latin typeface="Times New Roman" pitchFamily="18" charset="0"/>
                <a:cs typeface="Times New Roman" pitchFamily="18" charset="0"/>
              </a:rPr>
              <a:t>The proposed method: R-cnn</a:t>
            </a:r>
          </a:p>
        </p:txBody>
      </p:sp>
      <p:sp>
        <p:nvSpPr>
          <p:cNvPr id="3" name="Content Placeholder 2">
            <a:extLst>
              <a:ext uri="{FF2B5EF4-FFF2-40B4-BE49-F238E27FC236}">
                <a16:creationId xmlns:a16="http://schemas.microsoft.com/office/drawing/2014/main" xmlns="" id="{F87F2F57-A0D5-6133-9A0F-53FA61B0E077}"/>
              </a:ext>
            </a:extLst>
          </p:cNvPr>
          <p:cNvSpPr>
            <a:spLocks noGrp="1"/>
          </p:cNvSpPr>
          <p:nvPr>
            <p:ph idx="1"/>
          </p:nvPr>
        </p:nvSpPr>
        <p:spPr>
          <a:xfrm>
            <a:off x="3767328" y="952500"/>
            <a:ext cx="7223760" cy="4970780"/>
          </a:xfrm>
        </p:spPr>
        <p:txBody>
          <a:bodyPr/>
          <a:lstStyle/>
          <a:p>
            <a:pPr algn="just"/>
            <a:r>
              <a:rPr lang="en-US" b="1" dirty="0">
                <a:solidFill>
                  <a:schemeClr val="tx1"/>
                </a:solidFill>
                <a:latin typeface="Times New Roman" pitchFamily="18" charset="0"/>
                <a:cs typeface="Times New Roman" pitchFamily="18" charset="0"/>
              </a:rPr>
              <a:t>INPUT:</a:t>
            </a:r>
          </a:p>
          <a:p>
            <a:pPr algn="just"/>
            <a:r>
              <a:rPr lang="en-US" dirty="0">
                <a:solidFill>
                  <a:schemeClr val="tx1"/>
                </a:solidFill>
                <a:latin typeface="Times New Roman" pitchFamily="18" charset="0"/>
                <a:cs typeface="Times New Roman" pitchFamily="18" charset="0"/>
              </a:rPr>
              <a:t>Image: the input to the R-CNN is an image containing objects of interest (e.g., ships in the case of ship detection</a:t>
            </a:r>
            <a:r>
              <a:rPr lang="en-US" dirty="0" smtClean="0">
                <a:solidFill>
                  <a:schemeClr val="tx1"/>
                </a:solidFill>
                <a:latin typeface="Times New Roman" pitchFamily="18" charset="0"/>
                <a:cs typeface="Times New Roman" pitchFamily="18" charset="0"/>
              </a:rPr>
              <a:t>).</a:t>
            </a:r>
          </a:p>
          <a:p>
            <a:pPr algn="just"/>
            <a:endParaRPr lang="en-US" dirty="0">
              <a:solidFill>
                <a:schemeClr val="tx1"/>
              </a:solidFill>
              <a:latin typeface="Times New Roman" pitchFamily="18" charset="0"/>
              <a:cs typeface="Times New Roman" pitchFamily="18" charset="0"/>
            </a:endParaRPr>
          </a:p>
          <a:p>
            <a:pPr algn="just"/>
            <a:r>
              <a:rPr lang="en-US" b="1" dirty="0">
                <a:solidFill>
                  <a:schemeClr val="tx1"/>
                </a:solidFill>
                <a:latin typeface="Times New Roman" pitchFamily="18" charset="0"/>
                <a:cs typeface="Times New Roman" pitchFamily="18" charset="0"/>
              </a:rPr>
              <a:t>REGION PROPOSAL:</a:t>
            </a:r>
          </a:p>
          <a:p>
            <a:pPr algn="just"/>
            <a:r>
              <a:rPr lang="en-US" dirty="0">
                <a:solidFill>
                  <a:schemeClr val="tx1"/>
                </a:solidFill>
                <a:latin typeface="Times New Roman" pitchFamily="18" charset="0"/>
                <a:cs typeface="Times New Roman" pitchFamily="18" charset="0"/>
              </a:rPr>
              <a:t>Selective search:   in the first step the algorithm generates a set of region proposals that are likely to contain objects. Selective search is a common method for this purpose.</a:t>
            </a:r>
          </a:p>
          <a:p>
            <a:endParaRPr lang="en-US" dirty="0">
              <a:solidFill>
                <a:schemeClr val="tx1"/>
              </a:solidFill>
            </a:endParaRPr>
          </a:p>
          <a:p>
            <a:endParaRPr lang="en-US" dirty="0">
              <a:solidFill>
                <a:schemeClr val="tx1"/>
              </a:solidFill>
            </a:endParaRPr>
          </a:p>
        </p:txBody>
      </p:sp>
      <p:sp>
        <p:nvSpPr>
          <p:cNvPr id="5" name="Slide Number Placeholder 4">
            <a:extLst>
              <a:ext uri="{FF2B5EF4-FFF2-40B4-BE49-F238E27FC236}">
                <a16:creationId xmlns:a16="http://schemas.microsoft.com/office/drawing/2014/main" xmlns="" id="{8FFF29A6-4985-741E-EBAB-BB06A5E4805A}"/>
              </a:ext>
            </a:extLst>
          </p:cNvPr>
          <p:cNvSpPr>
            <a:spLocks noGrp="1"/>
          </p:cNvSpPr>
          <p:nvPr>
            <p:ph type="sldNum" sz="quarter" idx="12"/>
          </p:nvPr>
        </p:nvSpPr>
        <p:spPr/>
        <p:txBody>
          <a:bodyPr/>
          <a:lstStyle/>
          <a:p>
            <a:fld id="{48F63A3B-78C7-47BE-AE5E-E10140E04643}" type="slidenum">
              <a:rPr lang="en-US" smtClean="0"/>
              <a:pPr/>
              <a:t>20</a:t>
            </a:fld>
            <a:endParaRPr lang="en-US" dirty="0"/>
          </a:p>
        </p:txBody>
      </p:sp>
      <p:pic>
        <p:nvPicPr>
          <p:cNvPr id="4" name="Picture 3" descr="2 Mask RCNN Architecture (Part1) - How Faster RCNN Works - YouTube">
            <a:extLst>
              <a:ext uri="{FF2B5EF4-FFF2-40B4-BE49-F238E27FC236}">
                <a16:creationId xmlns:a16="http://schemas.microsoft.com/office/drawing/2014/main" xmlns="" id="{489AF2FA-C84C-BFD1-B6C5-4E9CEF0AEDDA}"/>
              </a:ext>
            </a:extLst>
          </p:cNvPr>
          <p:cNvPicPr>
            <a:picLocks noChangeAspect="1"/>
          </p:cNvPicPr>
          <p:nvPr/>
        </p:nvPicPr>
        <p:blipFill>
          <a:blip r:embed="rId2">
            <a:extLst>
              <a:ext uri="{28A0092B-C50C-407E-A947-70E740481C1C}">
                <a14:useLocalDpi xmlns:a14="http://schemas.microsoft.com/office/drawing/2010/main" xmlns="" val="0"/>
              </a:ext>
            </a:extLst>
          </a:blip>
          <a:srcRect/>
          <a:stretch>
            <a:fillRect/>
          </a:stretch>
        </p:blipFill>
        <p:spPr bwMode="auto">
          <a:xfrm>
            <a:off x="4590288" y="3147102"/>
            <a:ext cx="5943600" cy="3345180"/>
          </a:xfrm>
          <a:prstGeom prst="rect">
            <a:avLst/>
          </a:prstGeom>
          <a:noFill/>
          <a:ln>
            <a:noFill/>
          </a:ln>
        </p:spPr>
      </p:pic>
    </p:spTree>
    <p:extLst>
      <p:ext uri="{BB962C8B-B14F-4D97-AF65-F5344CB8AC3E}">
        <p14:creationId xmlns:p14="http://schemas.microsoft.com/office/powerpoint/2010/main" xmlns="" val="3570882520"/>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0AB426-5B7C-607E-D413-5D2C9495CC0A}"/>
              </a:ext>
            </a:extLst>
          </p:cNvPr>
          <p:cNvSpPr>
            <a:spLocks noGrp="1"/>
          </p:cNvSpPr>
          <p:nvPr>
            <p:ph type="ctrTitle"/>
          </p:nvPr>
        </p:nvSpPr>
        <p:spPr>
          <a:xfrm>
            <a:off x="978408" y="2991394"/>
            <a:ext cx="5722838" cy="667512"/>
          </a:xfrm>
        </p:spPr>
        <p:txBody>
          <a:bodyPr>
            <a:prstTxWarp prst="textDeflateBottom">
              <a:avLst>
                <a:gd name="adj" fmla="val 100000"/>
              </a:avLst>
            </a:prstTxWarp>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THANK </a:t>
            </a:r>
            <a:r>
              <a:rPr lang="en-US"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YOU</a:t>
            </a:r>
            <a:endParaRPr lang="en-US"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Tree>
    <p:extLst>
      <p:ext uri="{BB962C8B-B14F-4D97-AF65-F5344CB8AC3E}">
        <p14:creationId xmlns:p14="http://schemas.microsoft.com/office/powerpoint/2010/main" xmlns="" val="1003962426"/>
      </p:ext>
    </p:extLst>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andara">
      <a:majorFont>
        <a:latin typeface="Candara"/>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Geometric color block" id="{8E8E6382-84E0-47AA-A2A2-8ED603AAB26E}" vid="{692203AD-8BB8-47BB-AF1A-2D7F125D9E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8FC98CF-E78A-425D-90FD-55D1C468A3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9060146-7700-4F6C-986B-89E3839BD4ED}">
  <ds:schemaRefs>
    <ds:schemaRef ds:uri="http://schemas.microsoft.com/sharepoint/v3/contenttype/forms"/>
  </ds:schemaRefs>
</ds:datastoreItem>
</file>

<file path=customXml/itemProps3.xml><?xml version="1.0" encoding="utf-8"?>
<ds:datastoreItem xmlns:ds="http://schemas.openxmlformats.org/officeDocument/2006/customXml" ds:itemID="{D235FEF8-1733-4347-95CE-3BB62B2B8DD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2192</TotalTime>
  <Words>1973</Words>
  <Application>Microsoft Office PowerPoint</Application>
  <PresentationFormat>Custom</PresentationFormat>
  <Paragraphs>250</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Ship Detection Based on Faster R-CNN Using Range-Compressed Airborne Radar Data</vt:lpstr>
      <vt:lpstr>contents</vt:lpstr>
      <vt:lpstr>Abstract</vt:lpstr>
      <vt:lpstr>Introduction</vt:lpstr>
      <vt:lpstr>Literature</vt:lpstr>
      <vt:lpstr>description</vt:lpstr>
      <vt:lpstr>Slide 7</vt:lpstr>
      <vt:lpstr>Slide 8</vt:lpstr>
      <vt:lpstr>paper-2 Research by: HALEEMA SADIYA [20L51A1213] </vt:lpstr>
      <vt:lpstr>Slide 10</vt:lpstr>
      <vt:lpstr>Slide 11</vt:lpstr>
      <vt:lpstr>paper-3 Research by: syeda summayya firdous [20L51A1242] </vt:lpstr>
      <vt:lpstr>Slide 13</vt:lpstr>
      <vt:lpstr>Slide 14</vt:lpstr>
      <vt:lpstr>conclusion</vt:lpstr>
      <vt:lpstr>EXISTING SYSTEM OF R-CNN</vt:lpstr>
      <vt:lpstr>Slide 17</vt:lpstr>
      <vt:lpstr>ARCHITECHTURE OF R-CNN</vt:lpstr>
      <vt:lpstr>Slide 19</vt:lpstr>
      <vt:lpstr>The proposed method: R-cnn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Ship Detection Based on Faster R-CNN Using Range-Compressed Airborne Radar Data</dc:title>
  <dc:creator>syeda summayya firdous</dc:creator>
  <cp:lastModifiedBy>DELL</cp:lastModifiedBy>
  <cp:revision>24</cp:revision>
  <dcterms:created xsi:type="dcterms:W3CDTF">2023-11-19T14:52:49Z</dcterms:created>
  <dcterms:modified xsi:type="dcterms:W3CDTF">2023-11-27T14:41:23Z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